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f6689b-5e35-4de4-4470-6003b242d015}">
          <p14:sldIdLst>
            <p14:sldId id="256"/>
            <p14:sldId id="257"/>
          </p14:sldIdLst>
        </p14:section>
        <p14:section name="The tool" id="{3fa2944f-0cae-159a-2991-ecde19d81920}">
          <p14:sldIdLst>
            <p14:sldId id="258"/>
            <p14:sldId id="259"/>
            <p14:sldId id="260"/>
          </p14:sldIdLst>
        </p14:section>
        <p14:section name="Demonstration" id="{2b89cf6b-1b0b-bcaf-4964-1ead65f4bd55}">
          <p14:sldIdLst>
            <p14:sldId id="261"/>
            <p14:sldId id="262"/>
            <p14:sldId id="263"/>
            <p14:sldId id="264"/>
            <p14:sldId id="265"/>
          </p14:sldIdLst>
        </p14:section>
        <p14:section name="Evaluation" id="{6304681c-a052-3f9f-d6b5-80b40b57d3bc}">
          <p14:sldIdLst>
            <p14:sldId id="266"/>
            <p14:sldId id="267"/>
            <p14:sldId id="268"/>
          </p14:sldIdLst>
        </p14:section>
        <p14:section name="Testing and conclusion" id="{5ef2d401-902e-b900-41e7-0c8104cf2519}">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7534E"/>
                </a:solidFill>
                <a:latin typeface="+mn-lt"/>
              </a:defRPr>
            </a:pPr>
            <a:r>
              <a:rPr sz="1400" b="0" i="0" u="none" strike="noStrike">
                <a:solidFill>
                  <a:srgbClr val="57534E"/>
                </a:solidFill>
                <a:latin typeface="+mn-lt"/>
              </a:rPr>
              <a:t>Seconds from injecting the fault to the first message</a:t>
            </a:r>
          </a:p>
        </c:rich>
      </c:tx>
      <c:layout/>
      <c:overlay val="0"/>
    </c:title>
    <c:autoTitleDeleted val="0"/>
    <c:plotArea>
      <c:layout/>
      <c:barChart>
        <c:barDir val="bar"/>
        <c:grouping val="clustered"/>
        <c:varyColors val="0"/>
        <c:ser>
          <c:idx val="0"/>
          <c:order val="0"/>
          <c:tx>
            <c:strRef>
              <c:f>Sheet1!$B$1</c:f>
              <c:strCache>
                <c:ptCount val="1"/>
                <c:pt idx="0">
                  <c:v>Seconds to first message</c:v>
                </c:pt>
              </c:strCache>
            </c:strRef>
          </c:tx>
          <c:spPr>
            <a:solidFill>
              <a:srgbClr val="E6522C"/>
            </a:solidFill>
            <a:effectLst/>
          </c:spPr>
          <c:invertIfNegative val="0"/>
          <c:dLbls>
            <c:numFmt formatCode="0&quot; s&quot;" sourceLinked="0"/>
            <c:txPr>
              <a:bodyPr/>
              <a:lstStyle/>
              <a:p>
                <a:pPr>
                  <a:defRPr b="0" i="0" strike="noStrike" sz="1200" u="none">
                    <a:solidFill>
                      <a:srgbClr val="57534E"/>
                    </a:solidFill>
                    <a:latin typeface="+mn-lt"/>
                  </a:defRPr>
                </a:pPr>
              </a:p>
            </c:txPr>
            <c:showLegendKey val="0"/>
            <c:showVal val="1"/>
            <c:showCatName val="0"/>
            <c:showSerName val="0"/>
            <c:showPercent val="0"/>
            <c:showBubbleSize val="0"/>
            <c:showLeaderLines val="0"/>
          </c:dLbls>
          <c:cat>
            <c:multiLvlStrRef>
              <c:f>Sheet1!$A$2:$A$10</c:f>
              <c:multiLvlStrCache>
                <c:ptCount val="9"/>
                <c:lvl>
                  <c:pt idx="0">
                    <c:v>Crash and restart</c:v>
                  </c:pt>
                  <c:pt idx="1">
                    <c:v>Out of memory (OOM kill)</c:v>
                  </c:pt>
                  <c:pt idx="2">
                    <c:v>Database outage</c:v>
                  </c:pt>
                  <c:pt idx="3">
                    <c:v>Whole service down</c:v>
                  </c:pt>
                  <c:pt idx="4">
                    <c:v>App hangs</c:v>
                  </c:pt>
                  <c:pt idx="5">
                    <c:v>Error spike (50%)</c:v>
                  </c:pt>
                  <c:pt idx="6">
                    <c:v>Memory leak</c:v>
                  </c:pt>
                  <c:pt idx="7">
                    <c:v>CPU at its limit</c:v>
                  </c:pt>
                  <c:pt idx="8">
                    <c:v>Slow responses</c:v>
                  </c:pt>
                </c:lvl>
              </c:multiLvlStrCache>
            </c:multiLvlStrRef>
          </c:cat>
          <c:val>
            <c:numRef>
              <c:f>Sheet1!$B$2:$B$10</c:f>
              <c:numCache>
                <c:formatCode>General</c:formatCode>
                <c:ptCount val="9"/>
                <c:pt idx="0">
                  <c:v>16</c:v>
                </c:pt>
                <c:pt idx="1">
                  <c:v>31</c:v>
                </c:pt>
                <c:pt idx="2">
                  <c:v>32</c:v>
                </c:pt>
                <c:pt idx="3">
                  <c:v>52</c:v>
                </c:pt>
                <c:pt idx="4">
                  <c:v>60</c:v>
                </c:pt>
                <c:pt idx="5">
                  <c:v>64</c:v>
                </c:pt>
                <c:pt idx="6">
                  <c:v>72</c:v>
                </c:pt>
                <c:pt idx="7">
                  <c:v>76</c:v>
                </c:pt>
                <c:pt idx="8">
                  <c:v>90</c:v>
                </c:pt>
              </c:numCache>
            </c:numRef>
          </c:val>
        </c:ser>
        <c:dLbls>
          <c:numFmt formatCode="0&quot; s&quot;" sourceLinked="0"/>
          <c:txPr>
            <a:bodyPr/>
            <a:lstStyle/>
            <a:p>
              <a:pPr>
                <a:defRPr b="0" i="0" strike="noStrike" sz="1200" u="none">
                  <a:solidFill>
                    <a:srgbClr val="57534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C1917"/>
                </a:solidFill>
                <a:latin typeface="+mn-lt"/>
              </a:defRPr>
            </a:pPr>
            <a:endParaRPr lang="en-US"/>
          </a:p>
        </c:txPr>
        <c:crossAx val="2094734552"/>
        <c:crosses val="autoZero"/>
        <c:auto val="1"/>
        <c:lblAlgn val="ctr"/>
        <c:noMultiLvlLbl val="1"/>
      </c:catAx>
      <c:valAx>
        <c:axId val="2094734552"/>
        <c:scaling>
          <c:orientation val="minMax"/>
          <c:max val="10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Yashasvi, Shweta and Aditi. Our IA-2 case study explores Prometheus and Alertmanager: how they detect failures in containerized applications automatically and notify the right people. We will explain why we chose the tool, how it works, show it catching real failures live, and evaluate it with numbers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Containers make it easy to run services, but they also make failure quiet. A container can show as Up while the app inside has hung, lost its database, is leaking memory, is starved of CPU, or has crashed and been restarted. Our goal was to detect all of these automatically, notify the right person within about a minute, send one message per incident instead of a flood, say when it is fixed, and measure how well the tool does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needed something that works with short-lived containers, can express conditions like more than ten percent of requests failing for thirty seconds, can route and de-duplicate notifications, keeps its configuration in Git, and is free. Prometheus is a CNCF graduated project built for containers, PromQL handles rates and percentiles, Alertmanager adds grouping, routing, inhibition and silences, everything is YAML we can unit-test, and it is light. We also looked at Nagios, Zabbix, Datadog, Grafana Alerting and CloudWatch, which we compare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pulls. Every five seconds it requests the /metrics page of each target and stores the numbers, with labels, in its own time-series database. If a target does not answer, Prometheus records up equals zero, so a failed pull is itself a signal. Every five seconds it also evaluates rules. When a rule's condition is true the alert becomes pending, and once it has stayed true for the rule's for duration it fires. We use three metric types: counters such as total requests, which we read through rate; gauges such as memory; and histograms for latency, which give us the 95th percentile.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decides that something is wrong; Alertmanager decides who hears about it. Each alert passes through a pipeline: inhibition drops alerts that a firing cause already explains, silences mute known alerts during maintenance, grouping bundles related alerts into one message, routing picks the receivers, and notification sends the message, repeats it if needed, and sends a resolved message at the end. Our routes: critical alerts go by email to on-call and to the team chat, warnings only to the chat, and an always-firing Watchdog alert goes to a heartbeat endpoint so we know the alerting itself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built. OrderFlow is a small order-taking web service in a container, limited to 256 MB of memory and half a CPU, backed by Redis, with a traffic generator acting as users. Prometheus scrapes seven targets every five seconds: the app's own metrics, a blackbox exporter that probes the app from outside, cAdvisor for container CPU and memory, and a Redis exporter. Alertmanager sends critical alerts to an email inbox, Mailpit, and everything to our ops chat channel. The whole stack starts with one docker compose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monitor from three angles. White-box: the app exposes its own request counts, latency and Redis status on /metrics, which catches error spikes and slowness. Black-box: the blackbox exporter calls /health and /ready the way a user would. This matters for a hang, because the metrics page still answers, so up stays one, but users time out, and only the probe notices. Container-level: cAdvisor reads each container's statistics from the kernel, so it sees memory against the limit, CPU throttling, out-of-memory kills and restarts, even for containers with no metrics of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eleven alert rules. Five are critical and page on-call by email: the service is down, the health check fails from outside, the Redis database is down, more than ten percent of requests fail, or a process is killed for running out of memory. Five are warnings that go to the chat: not ready, slow, memory near the limit, CPU throttled, or a container restarted. The Watchdog always fires on purpose. Each rule waits for a for duration before firing, so short blips do not wake anyone up, and every rule has a unit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makes alerting usable. When we stopped Redis, four alerts fired in Prometheus: the database being down, plus three symptoms in the web service. On-call received exactly one email, about the database. Alertmanager's inhibition rule says that when DependencyDown is firing, the error rate, latency and readiness alerts for the same app are only symptoms, so it holds them back. For that to work, the cause must fire first, so the cause rule waits fifteen seconds and the symptoms thirty.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people actually receive. On the left, the on-call email for the database outage. The subject line and the HTML body come from our own notification template, with a summary, details, a what-to-do line and the labels. On the right, the team chat, where every warning and critical alert appears, followed by a resolved message when it clears. The chat page also shows a heartbeat badge: if it ever turns red, the alerting pipeline itself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wrote a script that injects each failure and times the notification. All nine failures were detected. The first message arrived between sixteen and ninety seconds after the fault, with a median of sixty seconds, and critical emails arrived in twenty-six to fifty-nine seconds. The time is the scrape interval, plus the time for the query to cross its threshold, plus the for duration, plus Alertmanager's group wait, and it is deliberate. A ten-second outage sent no page at all, and during the database outage four alerts became one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with the alternatives: Nagios comes from a world of fixed servers and fits short-lived containers poorly. Zabbix is powerful but configured mostly through its web interface. Datadog and CloudWatch are paid services; Datadog is the easiest to start and covers logs and traces, but costs money per host and ties you to a vendor. Prometheus with Alertmanager is free, built for containers, has the best noise control of the group, and keeps its configuration in Git with unit tests. Its gap is that it handles metrics only, so logs and traces need tools like Loki and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Strengths: one query language for graphs and alerts, alerts that are code and tested in CI, grouping and inhibition that cut the noise, and a small footprint. Limitations: metrics only, a single server is a single point of failure unless you run two, local storage is not long-term, and PromQL takes time to learn. Our own measurement run also found two real bugs. The first CPU alert never fired, because the usage ratio jumped up and down, so we switched to the throttling ratio. And the database alert flapped, because the Redis exporter took longer than Prometheus's scrape timeout, so we gave it a one-second timeout and made the rule fire when the exporter itself cannot be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treated alerting like code. On every push, GitHub Actions runs the app and receiver tests, then promtool unit tests for every alert rule and amtool checks for the routing, then starts all ten containers, waits for every target and the heartbeat, injects fifty percent errors, and only passes if the alert actually reaches both the chat and the email inbox. A broken alert rule is as dangerous as broken code, because nobody hears about the next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Prometheus and Alertmanager detected all nine kinds of failure we injected, within sixteen to ninety seconds. They turned each incident into one clear message on the right channel, ignored a harmless ten-second blip, and followed every alert with a resolved message. The heartbeat and the CI tests make sure the alerting itself keeps working. Thank you. We will now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7589520" cy="21945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640080" y="3474720"/>
            <a:ext cx="7589520" cy="54864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
        <p:nvSpPr>
          <p:cNvPr id="4" name="Text 0"/>
          <p:cNvSpPr/>
          <p:nvPr>
            <p:ph idx="102" type="body" hasCustomPrompt="1"/>
          </p:nvPr>
        </p:nvSpPr>
        <p:spPr>
          <a:xfrm>
            <a:off x="640080" y="4297680"/>
            <a:ext cx="7589520" cy="182880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IA-2 case study · Prometheus and Alertmanager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7589520" cy="2194560"/>
          </a:xfrm>
          <a:prstGeom prst="rect">
            <a:avLst/>
          </a:prstGeom>
          <a:noFill/>
          <a:ln/>
        </p:spPr>
        <p:txBody>
          <a:bodyPr wrap="square" lIns="0" tIns="0" rIns="0" bIns="0" rtlCol="0" anchor="b"/>
          <a:lstStyle/>
          <a:p>
            <a:pPr algn="l" indent="0" marL="0">
              <a:buNone/>
            </a:pPr>
            <a:r>
              <a:rPr lang="en-US" sz="3600" b="1" dirty="0">
                <a:solidFill>
                  <a:schemeClr val="bg1"/>
                </a:solidFill>
              </a:rPr>
              <a:t>Automated Failure Detection &amp; Alert Notification for Containerized Applications</a:t>
            </a:r>
            <a:endParaRPr lang="en-US" sz="3600" dirty="0"/>
          </a:p>
        </p:txBody>
      </p:sp>
      <p:sp>
        <p:nvSpPr>
          <p:cNvPr id="3" name="Text 0"/>
          <p:cNvSpPr/>
          <p:nvPr>
            <p:ph idx="101" type="body" hasCustomPrompt="1"/>
          </p:nvPr>
        </p:nvSpPr>
        <p:spPr>
          <a:xfrm>
            <a:off x="640080" y="3474720"/>
            <a:ext cx="7589520" cy="548640"/>
          </a:xfrm>
          <a:prstGeom prst="rect">
            <a:avLst/>
          </a:prstGeom>
          <a:noFill/>
          <a:ln/>
        </p:spPr>
        <p:txBody>
          <a:bodyPr wrap="square" lIns="0" tIns="0" rIns="0" bIns="0" rtlCol="0"/>
          <a:lstStyle/>
          <a:p>
            <a:pPr indent="0" marL="0">
              <a:buNone/>
            </a:pPr>
            <a:r>
              <a:rPr lang="en-US" sz="2000" dirty="0">
                <a:solidFill>
                  <a:schemeClr val="accent1"/>
                </a:solidFill>
              </a:rPr>
              <a:t>DevOps IA-2 case study · Tool: Prometheus and Alertmanager</a:t>
            </a:r>
            <a:endParaRPr lang="en-US" sz="2000" dirty="0"/>
          </a:p>
        </p:txBody>
      </p:sp>
      <p:sp>
        <p:nvSpPr>
          <p:cNvPr id="4" name="Text 0"/>
          <p:cNvSpPr/>
          <p:nvPr>
            <p:ph idx="102" type="body" hasCustomPrompt="1"/>
          </p:nvPr>
        </p:nvSpPr>
        <p:spPr>
          <a:xfrm>
            <a:off x="640080" y="4297680"/>
            <a:ext cx="7589520" cy="1828800"/>
          </a:xfrm>
          <a:prstGeom prst="rect">
            <a:avLst/>
          </a:prstGeom>
          <a:noFill/>
          <a:ln/>
        </p:spPr>
        <p:txBody>
          <a:bodyPr wrap="square" lIns="0" tIns="0" rIns="0" bIns="0" rtlCol="0" anchor="t"/>
          <a:lstStyle/>
          <a:p>
            <a:pPr indent="0" marL="0">
              <a:buNone/>
            </a:pPr>
            <a:r>
              <a:rPr lang="en-US" sz="1600" dirty="0">
                <a:solidFill>
                  <a:schemeClr val="bg2"/>
                </a:solidFill>
              </a:rPr>
              <a:t>Yashasvi Gupta  ·  16010123341</a:t>
            </a:r>
            <a:endParaRPr lang="en-US" sz="1600" dirty="0"/>
          </a:p>
          <a:p>
            <a:pPr indent="0" marL="0">
              <a:buNone/>
            </a:pPr>
            <a:r>
              <a:rPr lang="en-US" sz="1600" dirty="0">
                <a:solidFill>
                  <a:schemeClr val="bg2"/>
                </a:solidFill>
              </a:rPr>
              <a:t>Shweta Karandikar  ·  16010123329</a:t>
            </a:r>
            <a:endParaRPr lang="en-US" sz="1600" dirty="0"/>
          </a:p>
          <a:p>
            <a:pPr indent="0" marL="0">
              <a:buNone/>
            </a:pPr>
            <a:r>
              <a:rPr lang="en-US" sz="1600" dirty="0">
                <a:solidFill>
                  <a:schemeClr val="bg2"/>
                </a:solidFill>
              </a:rPr>
              <a:t>Aditi Agrawal  ·  16010123018</a:t>
            </a:r>
            <a:endParaRPr lang="en-US" sz="1600" dirty="0"/>
          </a:p>
          <a:p>
            <a:pPr indent="0" marL="0">
              <a:buNone/>
            </a:pPr>
            <a:r>
              <a:rPr lang="en-US" sz="800" dirty="0">
                <a:solidFill>
                  <a:schemeClr val="bg2"/>
                </a:solidFill>
              </a:rPr>
              <a:t> </a:t>
            </a:r>
            <a:endParaRPr lang="en-US" sz="1600" dirty="0"/>
          </a:p>
          <a:p>
            <a:pPr indent="0" marL="0">
              <a:buNone/>
            </a:pPr>
            <a:r>
              <a:rPr lang="en-US" sz="1600" i="1" dirty="0">
                <a:solidFill>
                  <a:schemeClr val="bg2"/>
                </a:solidFill>
              </a:rPr>
              <a:t>Division faculty: SCP  ·  October 2026</a:t>
            </a:r>
            <a:endParaRPr lang="en-US" sz="1600" dirty="0"/>
          </a:p>
        </p:txBody>
      </p:sp>
      <p:sp>
        <p:nvSpPr>
          <p:cNvPr id="5" name="title bell circle"/>
          <p:cNvSpPr/>
          <p:nvPr/>
        </p:nvSpPr>
        <p:spPr>
          <a:xfrm>
            <a:off x="9052560" y="1737360"/>
            <a:ext cx="2468880" cy="2468880"/>
          </a:xfrm>
          <a:prstGeom prst="ellipse">
            <a:avLst/>
          </a:prstGeom>
          <a:solidFill>
            <a:schemeClr val="accent1"/>
          </a:solidFill>
          <a:ln/>
        </p:spPr>
      </p:sp>
      <p:pic>
        <p:nvPicPr>
          <p:cNvPr id="6" name="title bell icon" descr="preencoded.png">    </p:cNvPr>
          <p:cNvPicPr>
            <a:picLocks noChangeAspect="1"/>
          </p:cNvPicPr>
          <p:nvPr/>
        </p:nvPicPr>
        <p:blipFill>
          <a:blip r:embed="rId1"/>
          <a:stretch>
            <a:fillRect/>
          </a:stretch>
        </p:blipFill>
        <p:spPr>
          <a:xfrm>
            <a:off x="9646920" y="2331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Containers fail quietly</a:t>
            </a:r>
            <a:endParaRPr lang="en-US" sz="3200" dirty="0"/>
          </a:p>
        </p:txBody>
      </p:sp>
      <p:sp>
        <p:nvSpPr>
          <p:cNvPr id="3" name="failure 1 circle"/>
          <p:cNvSpPr/>
          <p:nvPr/>
        </p:nvSpPr>
        <p:spPr>
          <a:xfrm>
            <a:off x="548640" y="1325880"/>
            <a:ext cx="685800" cy="685800"/>
          </a:xfrm>
          <a:prstGeom prst="ellipse">
            <a:avLst/>
          </a:prstGeom>
          <a:solidFill>
            <a:schemeClr val="accent1"/>
          </a:solidFill>
          <a:ln/>
        </p:spPr>
      </p:sp>
      <p:pic>
        <p:nvPicPr>
          <p:cNvPr id="4" name="failure 1 icon" descr="preencoded.png">    </p:cNvPr>
          <p:cNvPicPr>
            <a:picLocks noChangeAspect="1"/>
          </p:cNvPicPr>
          <p:nvPr/>
        </p:nvPicPr>
        <p:blipFill>
          <a:blip r:embed="rId1"/>
          <a:stretch>
            <a:fillRect/>
          </a:stretch>
        </p:blipFill>
        <p:spPr>
          <a:xfrm>
            <a:off x="713232" y="1490472"/>
            <a:ext cx="356616" cy="356616"/>
          </a:xfrm>
          <a:prstGeom prst="rect">
            <a:avLst/>
          </a:prstGeom>
        </p:spPr>
      </p:pic>
      <p:sp>
        <p:nvSpPr>
          <p:cNvPr id="5" name="Text 2"/>
          <p:cNvSpPr txBox="1"/>
          <p:nvPr/>
        </p:nvSpPr>
        <p:spPr>
          <a:xfrm>
            <a:off x="1417320" y="1307592"/>
            <a:ext cx="5120640" cy="384048"/>
          </a:xfrm>
          <a:prstGeom prst="rect">
            <a:avLst/>
          </a:prstGeom>
          <a:noFill/>
          <a:ln/>
        </p:spPr>
        <p:txBody>
          <a:bodyPr wrap="square" lIns="0" tIns="0" rIns="0" bIns="0" rtlCol="0" anchor="ctr"/>
          <a:lstStyle/>
          <a:p>
            <a:pPr indent="0" marL="0">
              <a:buNone/>
            </a:pPr>
            <a:r>
              <a:rPr lang="en-US" sz="1800" b="1" dirty="0">
                <a:solidFill>
                  <a:schemeClr val="tx1"/>
                </a:solidFill>
              </a:rPr>
              <a:t>A process hangs</a:t>
            </a:r>
            <a:endParaRPr lang="en-US" sz="1800" dirty="0"/>
          </a:p>
        </p:txBody>
      </p:sp>
      <p:sp>
        <p:nvSpPr>
          <p:cNvPr id="6" name="Text 3"/>
          <p:cNvSpPr txBox="1"/>
          <p:nvPr/>
        </p:nvSpPr>
        <p:spPr>
          <a:xfrm>
            <a:off x="1417320" y="1673352"/>
            <a:ext cx="5120640" cy="347472"/>
          </a:xfrm>
          <a:prstGeom prst="rect">
            <a:avLst/>
          </a:prstGeom>
          <a:noFill/>
          <a:ln/>
        </p:spPr>
        <p:txBody>
          <a:bodyPr wrap="square" lIns="0" tIns="0" rIns="0" bIns="0" rtlCol="0" anchor="ctr"/>
          <a:lstStyle/>
          <a:p>
            <a:pPr indent="0" marL="0">
              <a:buNone/>
            </a:pPr>
            <a:r>
              <a:rPr lang="en-US" sz="1500" dirty="0">
                <a:solidFill>
                  <a:schemeClr val="accent5"/>
                </a:solidFill>
              </a:rPr>
              <a:t>docker ps still says Up, but users time out</a:t>
            </a:r>
            <a:endParaRPr lang="en-US" sz="1500" dirty="0"/>
          </a:p>
        </p:txBody>
      </p:sp>
      <p:sp>
        <p:nvSpPr>
          <p:cNvPr id="7" name="failure 2 circle"/>
          <p:cNvSpPr/>
          <p:nvPr/>
        </p:nvSpPr>
        <p:spPr>
          <a:xfrm>
            <a:off x="548640" y="2286000"/>
            <a:ext cx="685800" cy="685800"/>
          </a:xfrm>
          <a:prstGeom prst="ellipse">
            <a:avLst/>
          </a:prstGeom>
          <a:solidFill>
            <a:schemeClr val="accent1"/>
          </a:solidFill>
          <a:ln/>
        </p:spPr>
      </p:sp>
      <p:pic>
        <p:nvPicPr>
          <p:cNvPr id="8" name="failure 2 icon" descr="preencoded.png">    </p:cNvPr>
          <p:cNvPicPr>
            <a:picLocks noChangeAspect="1"/>
          </p:cNvPicPr>
          <p:nvPr/>
        </p:nvPicPr>
        <p:blipFill>
          <a:blip r:embed="rId2"/>
          <a:stretch>
            <a:fillRect/>
          </a:stretch>
        </p:blipFill>
        <p:spPr>
          <a:xfrm>
            <a:off x="713232" y="2450592"/>
            <a:ext cx="356616" cy="356616"/>
          </a:xfrm>
          <a:prstGeom prst="rect">
            <a:avLst/>
          </a:prstGeom>
        </p:spPr>
      </p:pic>
      <p:sp>
        <p:nvSpPr>
          <p:cNvPr id="9" name="Text 5"/>
          <p:cNvSpPr txBox="1"/>
          <p:nvPr/>
        </p:nvSpPr>
        <p:spPr>
          <a:xfrm>
            <a:off x="1417320" y="2267712"/>
            <a:ext cx="5120640" cy="384048"/>
          </a:xfrm>
          <a:prstGeom prst="rect">
            <a:avLst/>
          </a:prstGeom>
          <a:noFill/>
          <a:ln/>
        </p:spPr>
        <p:txBody>
          <a:bodyPr wrap="square" lIns="0" tIns="0" rIns="0" bIns="0" rtlCol="0" anchor="ctr"/>
          <a:lstStyle/>
          <a:p>
            <a:pPr indent="0" marL="0">
              <a:buNone/>
            </a:pPr>
            <a:r>
              <a:rPr lang="en-US" sz="1800" b="1" dirty="0">
                <a:solidFill>
                  <a:schemeClr val="tx1"/>
                </a:solidFill>
              </a:rPr>
              <a:t>A dependency dies</a:t>
            </a:r>
            <a:endParaRPr lang="en-US" sz="1800" dirty="0"/>
          </a:p>
        </p:txBody>
      </p:sp>
      <p:sp>
        <p:nvSpPr>
          <p:cNvPr id="10" name="Text 6"/>
          <p:cNvSpPr txBox="1"/>
          <p:nvPr/>
        </p:nvSpPr>
        <p:spPr>
          <a:xfrm>
            <a:off x="1417320" y="2633472"/>
            <a:ext cx="5120640" cy="347472"/>
          </a:xfrm>
          <a:prstGeom prst="rect">
            <a:avLst/>
          </a:prstGeom>
          <a:noFill/>
          <a:ln/>
        </p:spPr>
        <p:txBody>
          <a:bodyPr wrap="square" lIns="0" tIns="0" rIns="0" bIns="0" rtlCol="0" anchor="ctr"/>
          <a:lstStyle/>
          <a:p>
            <a:pPr indent="0" marL="0">
              <a:buNone/>
            </a:pPr>
            <a:r>
              <a:rPr lang="en-US" sz="1500" dirty="0">
                <a:solidFill>
                  <a:schemeClr val="accent5"/>
                </a:solidFill>
              </a:rPr>
              <a:t>the web service keeps answering, with errors</a:t>
            </a:r>
            <a:endParaRPr lang="en-US" sz="1500" dirty="0"/>
          </a:p>
        </p:txBody>
      </p:sp>
      <p:sp>
        <p:nvSpPr>
          <p:cNvPr id="11" name="failure 3 circle"/>
          <p:cNvSpPr/>
          <p:nvPr/>
        </p:nvSpPr>
        <p:spPr>
          <a:xfrm>
            <a:off x="548640" y="3246120"/>
            <a:ext cx="685800" cy="685800"/>
          </a:xfrm>
          <a:prstGeom prst="ellipse">
            <a:avLst/>
          </a:prstGeom>
          <a:solidFill>
            <a:schemeClr val="accent1"/>
          </a:solidFill>
          <a:ln/>
        </p:spPr>
      </p:sp>
      <p:pic>
        <p:nvPicPr>
          <p:cNvPr id="12" name="failure 3 icon" descr="preencoded.png">    </p:cNvPr>
          <p:cNvPicPr>
            <a:picLocks noChangeAspect="1"/>
          </p:cNvPicPr>
          <p:nvPr/>
        </p:nvPicPr>
        <p:blipFill>
          <a:blip r:embed="rId3"/>
          <a:stretch>
            <a:fillRect/>
          </a:stretch>
        </p:blipFill>
        <p:spPr>
          <a:xfrm>
            <a:off x="713232" y="3410712"/>
            <a:ext cx="356616" cy="356616"/>
          </a:xfrm>
          <a:prstGeom prst="rect">
            <a:avLst/>
          </a:prstGeom>
        </p:spPr>
      </p:pic>
      <p:sp>
        <p:nvSpPr>
          <p:cNvPr id="13" name="Text 8"/>
          <p:cNvSpPr txBox="1"/>
          <p:nvPr/>
        </p:nvSpPr>
        <p:spPr>
          <a:xfrm>
            <a:off x="1417320" y="3227832"/>
            <a:ext cx="5120640" cy="384048"/>
          </a:xfrm>
          <a:prstGeom prst="rect">
            <a:avLst/>
          </a:prstGeom>
          <a:noFill/>
          <a:ln/>
        </p:spPr>
        <p:txBody>
          <a:bodyPr wrap="square" lIns="0" tIns="0" rIns="0" bIns="0" rtlCol="0" anchor="ctr"/>
          <a:lstStyle/>
          <a:p>
            <a:pPr indent="0" marL="0">
              <a:buNone/>
            </a:pPr>
            <a:r>
              <a:rPr lang="en-US" sz="1800" b="1" dirty="0">
                <a:solidFill>
                  <a:schemeClr val="tx1"/>
                </a:solidFill>
              </a:rPr>
              <a:t>Memory leaks</a:t>
            </a:r>
            <a:endParaRPr lang="en-US" sz="1800" dirty="0"/>
          </a:p>
        </p:txBody>
      </p:sp>
      <p:sp>
        <p:nvSpPr>
          <p:cNvPr id="14" name="Text 9"/>
          <p:cNvSpPr txBox="1"/>
          <p:nvPr/>
        </p:nvSpPr>
        <p:spPr>
          <a:xfrm>
            <a:off x="1417320" y="3593592"/>
            <a:ext cx="5120640" cy="347472"/>
          </a:xfrm>
          <a:prstGeom prst="rect">
            <a:avLst/>
          </a:prstGeom>
          <a:noFill/>
          <a:ln/>
        </p:spPr>
        <p:txBody>
          <a:bodyPr wrap="square" lIns="0" tIns="0" rIns="0" bIns="0" rtlCol="0" anchor="ctr"/>
          <a:lstStyle/>
          <a:p>
            <a:pPr indent="0" marL="0">
              <a:buNone/>
            </a:pPr>
            <a:r>
              <a:rPr lang="en-US" sz="1500" dirty="0">
                <a:solidFill>
                  <a:schemeClr val="accent5"/>
                </a:solidFill>
              </a:rPr>
              <a:t>until the kernel's OOM killer stops the process</a:t>
            </a:r>
            <a:endParaRPr lang="en-US" sz="1500" dirty="0"/>
          </a:p>
        </p:txBody>
      </p:sp>
      <p:sp>
        <p:nvSpPr>
          <p:cNvPr id="15" name="failure 4 circle"/>
          <p:cNvSpPr/>
          <p:nvPr/>
        </p:nvSpPr>
        <p:spPr>
          <a:xfrm>
            <a:off x="548640" y="4206240"/>
            <a:ext cx="685800" cy="685800"/>
          </a:xfrm>
          <a:prstGeom prst="ellipse">
            <a:avLst/>
          </a:prstGeom>
          <a:solidFill>
            <a:schemeClr val="accent1"/>
          </a:solidFill>
          <a:ln/>
        </p:spPr>
      </p:sp>
      <p:pic>
        <p:nvPicPr>
          <p:cNvPr id="16" name="failure 4 icon" descr="preencoded.png">    </p:cNvPr>
          <p:cNvPicPr>
            <a:picLocks noChangeAspect="1"/>
          </p:cNvPicPr>
          <p:nvPr/>
        </p:nvPicPr>
        <p:blipFill>
          <a:blip r:embed="rId4"/>
          <a:stretch>
            <a:fillRect/>
          </a:stretch>
        </p:blipFill>
        <p:spPr>
          <a:xfrm>
            <a:off x="713232" y="4370832"/>
            <a:ext cx="356616" cy="356616"/>
          </a:xfrm>
          <a:prstGeom prst="rect">
            <a:avLst/>
          </a:prstGeom>
        </p:spPr>
      </p:pic>
      <p:sp>
        <p:nvSpPr>
          <p:cNvPr id="17" name="Text 11"/>
          <p:cNvSpPr txBox="1"/>
          <p:nvPr/>
        </p:nvSpPr>
        <p:spPr>
          <a:xfrm>
            <a:off x="1417320" y="4187952"/>
            <a:ext cx="5120640" cy="384048"/>
          </a:xfrm>
          <a:prstGeom prst="rect">
            <a:avLst/>
          </a:prstGeom>
          <a:noFill/>
          <a:ln/>
        </p:spPr>
        <p:txBody>
          <a:bodyPr wrap="square" lIns="0" tIns="0" rIns="0" bIns="0" rtlCol="0" anchor="ctr"/>
          <a:lstStyle/>
          <a:p>
            <a:pPr indent="0" marL="0">
              <a:buNone/>
            </a:pPr>
            <a:r>
              <a:rPr lang="en-US" sz="1800" b="1" dirty="0">
                <a:solidFill>
                  <a:schemeClr val="tx1"/>
                </a:solidFill>
              </a:rPr>
              <a:t>CPU hits its limit</a:t>
            </a:r>
            <a:endParaRPr lang="en-US" sz="1800" dirty="0"/>
          </a:p>
        </p:txBody>
      </p:sp>
      <p:sp>
        <p:nvSpPr>
          <p:cNvPr id="18" name="Text 12"/>
          <p:cNvSpPr txBox="1"/>
          <p:nvPr/>
        </p:nvSpPr>
        <p:spPr>
          <a:xfrm>
            <a:off x="1417320" y="4553712"/>
            <a:ext cx="5120640" cy="347472"/>
          </a:xfrm>
          <a:prstGeom prst="rect">
            <a:avLst/>
          </a:prstGeom>
          <a:noFill/>
          <a:ln/>
        </p:spPr>
        <p:txBody>
          <a:bodyPr wrap="square" lIns="0" tIns="0" rIns="0" bIns="0" rtlCol="0" anchor="ctr"/>
          <a:lstStyle/>
          <a:p>
            <a:pPr indent="0" marL="0">
              <a:buNone/>
            </a:pPr>
            <a:r>
              <a:rPr lang="en-US" sz="1500" dirty="0">
                <a:solidFill>
                  <a:schemeClr val="accent5"/>
                </a:solidFill>
              </a:rPr>
              <a:t>the container is throttled and everything slows</a:t>
            </a:r>
            <a:endParaRPr lang="en-US" sz="1500" dirty="0"/>
          </a:p>
        </p:txBody>
      </p:sp>
      <p:sp>
        <p:nvSpPr>
          <p:cNvPr id="19" name="failure 5 circle"/>
          <p:cNvSpPr/>
          <p:nvPr/>
        </p:nvSpPr>
        <p:spPr>
          <a:xfrm>
            <a:off x="548640" y="5166360"/>
            <a:ext cx="685800" cy="685800"/>
          </a:xfrm>
          <a:prstGeom prst="ellipse">
            <a:avLst/>
          </a:prstGeom>
          <a:solidFill>
            <a:schemeClr val="accent1"/>
          </a:solidFill>
          <a:ln/>
        </p:spPr>
      </p:sp>
      <p:pic>
        <p:nvPicPr>
          <p:cNvPr id="20" name="failure 5 icon" descr="preencoded.png">    </p:cNvPr>
          <p:cNvPicPr>
            <a:picLocks noChangeAspect="1"/>
          </p:cNvPicPr>
          <p:nvPr/>
        </p:nvPicPr>
        <p:blipFill>
          <a:blip r:embed="rId5"/>
          <a:stretch>
            <a:fillRect/>
          </a:stretch>
        </p:blipFill>
        <p:spPr>
          <a:xfrm>
            <a:off x="713232" y="5330952"/>
            <a:ext cx="356616" cy="356616"/>
          </a:xfrm>
          <a:prstGeom prst="rect">
            <a:avLst/>
          </a:prstGeom>
        </p:spPr>
      </p:pic>
      <p:sp>
        <p:nvSpPr>
          <p:cNvPr id="21" name="Text 14"/>
          <p:cNvSpPr txBox="1"/>
          <p:nvPr/>
        </p:nvSpPr>
        <p:spPr>
          <a:xfrm>
            <a:off x="1417320" y="5148072"/>
            <a:ext cx="5120640" cy="384048"/>
          </a:xfrm>
          <a:prstGeom prst="rect">
            <a:avLst/>
          </a:prstGeom>
          <a:noFill/>
          <a:ln/>
        </p:spPr>
        <p:txBody>
          <a:bodyPr wrap="square" lIns="0" tIns="0" rIns="0" bIns="0" rtlCol="0" anchor="ctr"/>
          <a:lstStyle/>
          <a:p>
            <a:pPr indent="0" marL="0">
              <a:buNone/>
            </a:pPr>
            <a:r>
              <a:rPr lang="en-US" sz="1800" b="1" dirty="0">
                <a:solidFill>
                  <a:schemeClr val="tx1"/>
                </a:solidFill>
              </a:rPr>
              <a:t>It crashes and restarts</a:t>
            </a:r>
            <a:endParaRPr lang="en-US" sz="1800" dirty="0"/>
          </a:p>
        </p:txBody>
      </p:sp>
      <p:sp>
        <p:nvSpPr>
          <p:cNvPr id="22" name="Text 15"/>
          <p:cNvSpPr txBox="1"/>
          <p:nvPr/>
        </p:nvSpPr>
        <p:spPr>
          <a:xfrm>
            <a:off x="1417320" y="5513832"/>
            <a:ext cx="5120640" cy="347472"/>
          </a:xfrm>
          <a:prstGeom prst="rect">
            <a:avLst/>
          </a:prstGeom>
          <a:noFill/>
          <a:ln/>
        </p:spPr>
        <p:txBody>
          <a:bodyPr wrap="square" lIns="0" tIns="0" rIns="0" bIns="0" rtlCol="0" anchor="ctr"/>
          <a:lstStyle/>
          <a:p>
            <a:pPr indent="0" marL="0">
              <a:buNone/>
            </a:pPr>
            <a:r>
              <a:rPr lang="en-US" sz="1500" dirty="0">
                <a:solidFill>
                  <a:schemeClr val="accent5"/>
                </a:solidFill>
              </a:rPr>
              <a:t>the restart hides the problem</a:t>
            </a:r>
            <a:endParaRPr lang="en-US" sz="1500" dirty="0"/>
          </a:p>
        </p:txBody>
      </p:sp>
      <p:sp>
        <p:nvSpPr>
          <p:cNvPr id="23" name="goal card"/>
          <p:cNvSpPr/>
          <p:nvPr/>
        </p:nvSpPr>
        <p:spPr>
          <a:xfrm>
            <a:off x="7040880" y="1325880"/>
            <a:ext cx="4572000" cy="4663440"/>
          </a:xfrm>
          <a:prstGeom prst="roundRect">
            <a:avLst>
              <a:gd name="adj" fmla="val 2400"/>
            </a:avLst>
          </a:prstGeom>
          <a:solidFill>
            <a:schemeClr val="bg2"/>
          </a:solidFill>
          <a:ln/>
        </p:spPr>
      </p:sp>
      <p:sp>
        <p:nvSpPr>
          <p:cNvPr id="24" name="Text 17"/>
          <p:cNvSpPr txBox="1"/>
          <p:nvPr/>
        </p:nvSpPr>
        <p:spPr>
          <a:xfrm>
            <a:off x="7360920" y="1554480"/>
            <a:ext cx="3931920" cy="457200"/>
          </a:xfrm>
          <a:prstGeom prst="rect">
            <a:avLst/>
          </a:prstGeom>
          <a:noFill/>
          <a:ln/>
        </p:spPr>
        <p:txBody>
          <a:bodyPr wrap="square" lIns="0" tIns="0" rIns="0" bIns="0" rtlCol="0" anchor="ctr"/>
          <a:lstStyle/>
          <a:p>
            <a:pPr indent="0" marL="0">
              <a:buNone/>
            </a:pPr>
            <a:r>
              <a:rPr lang="en-US" sz="2200" b="1" dirty="0">
                <a:solidFill>
                  <a:schemeClr val="accent1"/>
                </a:solidFill>
              </a:rPr>
              <a:t>Our goal</a:t>
            </a:r>
            <a:endParaRPr lang="en-US" sz="2200" dirty="0"/>
          </a:p>
        </p:txBody>
      </p:sp>
      <p:sp>
        <p:nvSpPr>
          <p:cNvPr id="25" name="Text 18"/>
          <p:cNvSpPr txBox="1"/>
          <p:nvPr/>
        </p:nvSpPr>
        <p:spPr>
          <a:xfrm>
            <a:off x="7360920" y="2148840"/>
            <a:ext cx="4023360" cy="356616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700" dirty="0">
                <a:solidFill>
                  <a:schemeClr val="tx1"/>
                </a:solidFill>
              </a:rPr>
              <a:t>Detect each of these automatically</a:t>
            </a:r>
            <a:endParaRPr lang="en-US" sz="1700" dirty="0"/>
          </a:p>
          <a:p>
            <a:pPr marL="342900" indent="-342900">
              <a:spcAft>
                <a:spcPts val="1200"/>
              </a:spcAft>
              <a:buSzPct val="100000"/>
              <a:buFont typeface="+mj-lt"/>
              <a:buAutoNum type="arabicPeriod" startAt="1"/>
            </a:pPr>
            <a:r>
              <a:rPr lang="en-US" sz="1700" dirty="0">
                <a:solidFill>
                  <a:schemeClr val="tx1"/>
                </a:solidFill>
              </a:rPr>
              <a:t>Notify the right person within about a minute</a:t>
            </a:r>
            <a:endParaRPr lang="en-US" sz="1700" dirty="0"/>
          </a:p>
          <a:p>
            <a:pPr marL="342900" indent="-342900">
              <a:spcAft>
                <a:spcPts val="1200"/>
              </a:spcAft>
              <a:buSzPct val="100000"/>
              <a:buFont typeface="+mj-lt"/>
              <a:buAutoNum type="arabicPeriod" startAt="1"/>
            </a:pPr>
            <a:r>
              <a:rPr lang="en-US" sz="1700" dirty="0">
                <a:solidFill>
                  <a:schemeClr val="tx1"/>
                </a:solidFill>
              </a:rPr>
              <a:t>One message per incident, not a flood</a:t>
            </a:r>
            <a:endParaRPr lang="en-US" sz="1700" dirty="0"/>
          </a:p>
          <a:p>
            <a:pPr marL="342900" indent="-342900">
              <a:spcAft>
                <a:spcPts val="1200"/>
              </a:spcAft>
              <a:buSzPct val="100000"/>
              <a:buFont typeface="+mj-lt"/>
              <a:buAutoNum type="arabicPeriod" startAt="1"/>
            </a:pPr>
            <a:r>
              <a:rPr lang="en-US" sz="1700" dirty="0">
                <a:solidFill>
                  <a:schemeClr val="tx1"/>
                </a:solidFill>
              </a:rPr>
              <a:t>Say when it is fixed</a:t>
            </a:r>
            <a:endParaRPr lang="en-US" sz="1700" dirty="0"/>
          </a:p>
          <a:p>
            <a:pPr marL="342900" indent="-342900">
              <a:spcAft>
                <a:spcPts val="1200"/>
              </a:spcAft>
              <a:buSzPct val="100000"/>
              <a:buFont typeface="+mj-lt"/>
              <a:buAutoNum type="arabicPeriod" startAt="1"/>
            </a:pPr>
            <a:r>
              <a:rPr lang="en-US" sz="1700" dirty="0">
                <a:solidFill>
                  <a:schemeClr val="tx1"/>
                </a:solidFill>
              </a:rPr>
              <a:t>Measure how well the tool does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Why Prometheus and Alertmanager</a:t>
            </a:r>
            <a:endParaRPr lang="en-US" sz="3200" dirty="0"/>
          </a:p>
        </p:txBody>
      </p:sp>
      <p:sp>
        <p:nvSpPr>
          <p:cNvPr id="3" name="reason 1"/>
          <p:cNvSpPr/>
          <p:nvPr/>
        </p:nvSpPr>
        <p:spPr>
          <a:xfrm>
            <a:off x="548640" y="1371600"/>
            <a:ext cx="3520440" cy="2011680"/>
          </a:xfrm>
          <a:prstGeom prst="roundRect">
            <a:avLst>
              <a:gd name="adj" fmla="val 5455"/>
            </a:avLst>
          </a:prstGeom>
          <a:solidFill>
            <a:schemeClr val="bg2"/>
          </a:solidFill>
          <a:ln/>
        </p:spPr>
      </p:sp>
      <p:sp>
        <p:nvSpPr>
          <p:cNvPr id="4" name="reason 1 circle"/>
          <p:cNvSpPr/>
          <p:nvPr/>
        </p:nvSpPr>
        <p:spPr>
          <a:xfrm>
            <a:off x="822960" y="1645920"/>
            <a:ext cx="640080" cy="640080"/>
          </a:xfrm>
          <a:prstGeom prst="ellipse">
            <a:avLst/>
          </a:prstGeom>
          <a:solidFill>
            <a:schemeClr val="accent1"/>
          </a:solidFill>
          <a:ln/>
        </p:spPr>
      </p:sp>
      <p:pic>
        <p:nvPicPr>
          <p:cNvPr id="5" name="reason 1 icon" descr="preencoded.png">    </p:cNvPr>
          <p:cNvPicPr>
            <a:picLocks noChangeAspect="1"/>
          </p:cNvPicPr>
          <p:nvPr/>
        </p:nvPicPr>
        <p:blipFill>
          <a:blip r:embed="rId1"/>
          <a:stretch>
            <a:fillRect/>
          </a:stretch>
        </p:blipFill>
        <p:spPr>
          <a:xfrm>
            <a:off x="976579" y="1799539"/>
            <a:ext cx="332842" cy="332842"/>
          </a:xfrm>
          <a:prstGeom prst="rect">
            <a:avLst/>
          </a:prstGeom>
        </p:spPr>
      </p:pic>
      <p:sp>
        <p:nvSpPr>
          <p:cNvPr id="6" name="Text 3"/>
          <p:cNvSpPr txBox="1"/>
          <p:nvPr/>
        </p:nvSpPr>
        <p:spPr>
          <a:xfrm>
            <a:off x="1600200" y="1664208"/>
            <a:ext cx="2331720" cy="603504"/>
          </a:xfrm>
          <a:prstGeom prst="rect">
            <a:avLst/>
          </a:prstGeom>
          <a:noFill/>
          <a:ln/>
        </p:spPr>
        <p:txBody>
          <a:bodyPr wrap="square" lIns="0" tIns="0" rIns="0" bIns="0" rtlCol="0" anchor="ctr"/>
          <a:lstStyle/>
          <a:p>
            <a:pPr indent="0" marL="0">
              <a:buNone/>
            </a:pPr>
            <a:r>
              <a:rPr lang="en-US" sz="1800" b="1" dirty="0">
                <a:solidFill>
                  <a:schemeClr val="tx1"/>
                </a:solidFill>
              </a:rPr>
              <a:t>Built for containers</a:t>
            </a:r>
            <a:endParaRPr lang="en-US" sz="1800" dirty="0"/>
          </a:p>
        </p:txBody>
      </p:sp>
      <p:sp>
        <p:nvSpPr>
          <p:cNvPr id="7" name="Text 4"/>
          <p:cNvSpPr txBox="1"/>
          <p:nvPr/>
        </p:nvSpPr>
        <p:spPr>
          <a:xfrm>
            <a:off x="822960" y="2423160"/>
            <a:ext cx="3017520" cy="822960"/>
          </a:xfrm>
          <a:prstGeom prst="rect">
            <a:avLst/>
          </a:prstGeom>
          <a:noFill/>
          <a:ln/>
        </p:spPr>
        <p:txBody>
          <a:bodyPr wrap="square" lIns="0" tIns="0" rIns="0" bIns="0" rtlCol="0" anchor="t"/>
          <a:lstStyle/>
          <a:p>
            <a:pPr indent="0" marL="0">
              <a:buNone/>
            </a:pPr>
            <a:r>
              <a:rPr lang="en-US" sz="1500" dirty="0">
                <a:solidFill>
                  <a:schemeClr val="accent5"/>
                </a:solidFill>
              </a:rPr>
              <a:t>CNCF graduated; discovers Docker and Kubernetes targets</a:t>
            </a:r>
            <a:endParaRPr lang="en-US" sz="1500" dirty="0"/>
          </a:p>
        </p:txBody>
      </p:sp>
      <p:sp>
        <p:nvSpPr>
          <p:cNvPr id="8" name="reason 2"/>
          <p:cNvSpPr/>
          <p:nvPr/>
        </p:nvSpPr>
        <p:spPr>
          <a:xfrm>
            <a:off x="4297680" y="1371600"/>
            <a:ext cx="3520440" cy="2011680"/>
          </a:xfrm>
          <a:prstGeom prst="roundRect">
            <a:avLst>
              <a:gd name="adj" fmla="val 5455"/>
            </a:avLst>
          </a:prstGeom>
          <a:solidFill>
            <a:schemeClr val="bg2"/>
          </a:solidFill>
          <a:ln/>
        </p:spPr>
      </p:sp>
      <p:sp>
        <p:nvSpPr>
          <p:cNvPr id="9" name="reason 2 circle"/>
          <p:cNvSpPr/>
          <p:nvPr/>
        </p:nvSpPr>
        <p:spPr>
          <a:xfrm>
            <a:off x="4572000" y="1645920"/>
            <a:ext cx="640080" cy="640080"/>
          </a:xfrm>
          <a:prstGeom prst="ellipse">
            <a:avLst/>
          </a:prstGeom>
          <a:solidFill>
            <a:schemeClr val="accent1"/>
          </a:solidFill>
          <a:ln/>
        </p:spPr>
      </p:sp>
      <p:pic>
        <p:nvPicPr>
          <p:cNvPr id="10" name="reason 2 icon" descr="preencoded.png">    </p:cNvPr>
          <p:cNvPicPr>
            <a:picLocks noChangeAspect="1"/>
          </p:cNvPicPr>
          <p:nvPr/>
        </p:nvPicPr>
        <p:blipFill>
          <a:blip r:embed="rId2"/>
          <a:stretch>
            <a:fillRect/>
          </a:stretch>
        </p:blipFill>
        <p:spPr>
          <a:xfrm>
            <a:off x="4725619" y="1799539"/>
            <a:ext cx="332842" cy="332842"/>
          </a:xfrm>
          <a:prstGeom prst="rect">
            <a:avLst/>
          </a:prstGeom>
        </p:spPr>
      </p:pic>
      <p:sp>
        <p:nvSpPr>
          <p:cNvPr id="11" name="Text 7"/>
          <p:cNvSpPr txBox="1"/>
          <p:nvPr/>
        </p:nvSpPr>
        <p:spPr>
          <a:xfrm>
            <a:off x="5349240" y="1664208"/>
            <a:ext cx="2331720" cy="603504"/>
          </a:xfrm>
          <a:prstGeom prst="rect">
            <a:avLst/>
          </a:prstGeom>
          <a:noFill/>
          <a:ln/>
        </p:spPr>
        <p:txBody>
          <a:bodyPr wrap="square" lIns="0" tIns="0" rIns="0" bIns="0" rtlCol="0" anchor="ctr"/>
          <a:lstStyle/>
          <a:p>
            <a:pPr indent="0" marL="0">
              <a:buNone/>
            </a:pPr>
            <a:r>
              <a:rPr lang="en-US" sz="1800" b="1" dirty="0">
                <a:solidFill>
                  <a:schemeClr val="tx1"/>
                </a:solidFill>
              </a:rPr>
              <a:t>PromQL</a:t>
            </a:r>
            <a:endParaRPr lang="en-US" sz="1800" dirty="0"/>
          </a:p>
        </p:txBody>
      </p:sp>
      <p:sp>
        <p:nvSpPr>
          <p:cNvPr id="12" name="Text 8"/>
          <p:cNvSpPr txBox="1"/>
          <p:nvPr/>
        </p:nvSpPr>
        <p:spPr>
          <a:xfrm>
            <a:off x="4572000" y="2423160"/>
            <a:ext cx="3017520" cy="822960"/>
          </a:xfrm>
          <a:prstGeom prst="rect">
            <a:avLst/>
          </a:prstGeom>
          <a:noFill/>
          <a:ln/>
        </p:spPr>
        <p:txBody>
          <a:bodyPr wrap="square" lIns="0" tIns="0" rIns="0" bIns="0" rtlCol="0" anchor="t"/>
          <a:lstStyle/>
          <a:p>
            <a:pPr indent="0" marL="0">
              <a:buNone/>
            </a:pPr>
            <a:r>
              <a:rPr lang="en-US" sz="1500" dirty="0">
                <a:solidFill>
                  <a:schemeClr val="accent5"/>
                </a:solidFill>
              </a:rPr>
              <a:t>rates, ratios and percentiles in one query language</a:t>
            </a:r>
            <a:endParaRPr lang="en-US" sz="1500" dirty="0"/>
          </a:p>
        </p:txBody>
      </p:sp>
      <p:sp>
        <p:nvSpPr>
          <p:cNvPr id="13" name="reason 3"/>
          <p:cNvSpPr/>
          <p:nvPr/>
        </p:nvSpPr>
        <p:spPr>
          <a:xfrm>
            <a:off x="8046720" y="1371600"/>
            <a:ext cx="3520440" cy="2011680"/>
          </a:xfrm>
          <a:prstGeom prst="roundRect">
            <a:avLst>
              <a:gd name="adj" fmla="val 5455"/>
            </a:avLst>
          </a:prstGeom>
          <a:solidFill>
            <a:schemeClr val="bg2"/>
          </a:solidFill>
          <a:ln/>
        </p:spPr>
      </p:sp>
      <p:sp>
        <p:nvSpPr>
          <p:cNvPr id="14" name="reason 3 circle"/>
          <p:cNvSpPr/>
          <p:nvPr/>
        </p:nvSpPr>
        <p:spPr>
          <a:xfrm>
            <a:off x="8321040" y="1645920"/>
            <a:ext cx="640080" cy="640080"/>
          </a:xfrm>
          <a:prstGeom prst="ellipse">
            <a:avLst/>
          </a:prstGeom>
          <a:solidFill>
            <a:schemeClr val="accent1"/>
          </a:solidFill>
          <a:ln/>
        </p:spPr>
      </p:sp>
      <p:pic>
        <p:nvPicPr>
          <p:cNvPr id="15" name="reason 3 icon" descr="preencoded.png">    </p:cNvPr>
          <p:cNvPicPr>
            <a:picLocks noChangeAspect="1"/>
          </p:cNvPicPr>
          <p:nvPr/>
        </p:nvPicPr>
        <p:blipFill>
          <a:blip r:embed="rId3"/>
          <a:stretch>
            <a:fillRect/>
          </a:stretch>
        </p:blipFill>
        <p:spPr>
          <a:xfrm>
            <a:off x="8474659" y="1799539"/>
            <a:ext cx="332842" cy="332842"/>
          </a:xfrm>
          <a:prstGeom prst="rect">
            <a:avLst/>
          </a:prstGeom>
        </p:spPr>
      </p:pic>
      <p:sp>
        <p:nvSpPr>
          <p:cNvPr id="16" name="Text 11"/>
          <p:cNvSpPr txBox="1"/>
          <p:nvPr/>
        </p:nvSpPr>
        <p:spPr>
          <a:xfrm>
            <a:off x="9098280" y="1664208"/>
            <a:ext cx="2331720" cy="603504"/>
          </a:xfrm>
          <a:prstGeom prst="rect">
            <a:avLst/>
          </a:prstGeom>
          <a:noFill/>
          <a:ln/>
        </p:spPr>
        <p:txBody>
          <a:bodyPr wrap="square" lIns="0" tIns="0" rIns="0" bIns="0" rtlCol="0" anchor="ctr"/>
          <a:lstStyle/>
          <a:p>
            <a:pPr indent="0" marL="0">
              <a:buNone/>
            </a:pPr>
            <a:r>
              <a:rPr lang="en-US" sz="1800" b="1" dirty="0">
                <a:solidFill>
                  <a:schemeClr val="tx1"/>
                </a:solidFill>
              </a:rPr>
              <a:t>Noise control</a:t>
            </a:r>
            <a:endParaRPr lang="en-US" sz="1800" dirty="0"/>
          </a:p>
        </p:txBody>
      </p:sp>
      <p:sp>
        <p:nvSpPr>
          <p:cNvPr id="17" name="Text 12"/>
          <p:cNvSpPr txBox="1"/>
          <p:nvPr/>
        </p:nvSpPr>
        <p:spPr>
          <a:xfrm>
            <a:off x="8321040" y="2423160"/>
            <a:ext cx="3017520" cy="822960"/>
          </a:xfrm>
          <a:prstGeom prst="rect">
            <a:avLst/>
          </a:prstGeom>
          <a:noFill/>
          <a:ln/>
        </p:spPr>
        <p:txBody>
          <a:bodyPr wrap="square" lIns="0" tIns="0" rIns="0" bIns="0" rtlCol="0" anchor="t"/>
          <a:lstStyle/>
          <a:p>
            <a:pPr indent="0" marL="0">
              <a:buNone/>
            </a:pPr>
            <a:r>
              <a:rPr lang="en-US" sz="1500" dirty="0">
                <a:solidFill>
                  <a:schemeClr val="accent5"/>
                </a:solidFill>
              </a:rPr>
              <a:t>grouping, routing, inhibition and silences</a:t>
            </a:r>
            <a:endParaRPr lang="en-US" sz="1500" dirty="0"/>
          </a:p>
        </p:txBody>
      </p:sp>
      <p:sp>
        <p:nvSpPr>
          <p:cNvPr id="18" name="reason 4"/>
          <p:cNvSpPr/>
          <p:nvPr/>
        </p:nvSpPr>
        <p:spPr>
          <a:xfrm>
            <a:off x="548640" y="3611880"/>
            <a:ext cx="3520440" cy="2011680"/>
          </a:xfrm>
          <a:prstGeom prst="roundRect">
            <a:avLst>
              <a:gd name="adj" fmla="val 5455"/>
            </a:avLst>
          </a:prstGeom>
          <a:solidFill>
            <a:schemeClr val="bg2"/>
          </a:solidFill>
          <a:ln/>
        </p:spPr>
      </p:sp>
      <p:sp>
        <p:nvSpPr>
          <p:cNvPr id="19" name="reason 4 circle"/>
          <p:cNvSpPr/>
          <p:nvPr/>
        </p:nvSpPr>
        <p:spPr>
          <a:xfrm>
            <a:off x="822960" y="3886200"/>
            <a:ext cx="640080" cy="640080"/>
          </a:xfrm>
          <a:prstGeom prst="ellipse">
            <a:avLst/>
          </a:prstGeom>
          <a:solidFill>
            <a:schemeClr val="accent1"/>
          </a:solidFill>
          <a:ln/>
        </p:spPr>
      </p:sp>
      <p:pic>
        <p:nvPicPr>
          <p:cNvPr id="20" name="reason 4 icon" descr="preencoded.png">    </p:cNvPr>
          <p:cNvPicPr>
            <a:picLocks noChangeAspect="1"/>
          </p:cNvPicPr>
          <p:nvPr/>
        </p:nvPicPr>
        <p:blipFill>
          <a:blip r:embed="rId4"/>
          <a:stretch>
            <a:fillRect/>
          </a:stretch>
        </p:blipFill>
        <p:spPr>
          <a:xfrm>
            <a:off x="976579" y="4039819"/>
            <a:ext cx="332842" cy="332842"/>
          </a:xfrm>
          <a:prstGeom prst="rect">
            <a:avLst/>
          </a:prstGeom>
        </p:spPr>
      </p:pic>
      <p:sp>
        <p:nvSpPr>
          <p:cNvPr id="21" name="Text 15"/>
          <p:cNvSpPr txBox="1"/>
          <p:nvPr/>
        </p:nvSpPr>
        <p:spPr>
          <a:xfrm>
            <a:off x="1600200" y="3904488"/>
            <a:ext cx="2331720" cy="603504"/>
          </a:xfrm>
          <a:prstGeom prst="rect">
            <a:avLst/>
          </a:prstGeom>
          <a:noFill/>
          <a:ln/>
        </p:spPr>
        <p:txBody>
          <a:bodyPr wrap="square" lIns="0" tIns="0" rIns="0" bIns="0" rtlCol="0" anchor="ctr"/>
          <a:lstStyle/>
          <a:p>
            <a:pPr indent="0" marL="0">
              <a:buNone/>
            </a:pPr>
            <a:r>
              <a:rPr lang="en-US" sz="1800" b="1" dirty="0">
                <a:solidFill>
                  <a:schemeClr val="tx1"/>
                </a:solidFill>
              </a:rPr>
              <a:t>Configuration as code</a:t>
            </a:r>
            <a:endParaRPr lang="en-US" sz="1800" dirty="0"/>
          </a:p>
        </p:txBody>
      </p:sp>
      <p:sp>
        <p:nvSpPr>
          <p:cNvPr id="22" name="Text 16"/>
          <p:cNvSpPr txBox="1"/>
          <p:nvPr/>
        </p:nvSpPr>
        <p:spPr>
          <a:xfrm>
            <a:off x="822960" y="4663440"/>
            <a:ext cx="3017520" cy="822960"/>
          </a:xfrm>
          <a:prstGeom prst="rect">
            <a:avLst/>
          </a:prstGeom>
          <a:noFill/>
          <a:ln/>
        </p:spPr>
        <p:txBody>
          <a:bodyPr wrap="square" lIns="0" tIns="0" rIns="0" bIns="0" rtlCol="0" anchor="t"/>
          <a:lstStyle/>
          <a:p>
            <a:pPr indent="0" marL="0">
              <a:buNone/>
            </a:pPr>
            <a:r>
              <a:rPr lang="en-US" sz="1500" dirty="0">
                <a:solidFill>
                  <a:schemeClr val="accent5"/>
                </a:solidFill>
              </a:rPr>
              <a:t>YAML in Git, unit-tested with promtool and amtool</a:t>
            </a:r>
            <a:endParaRPr lang="en-US" sz="1500" dirty="0"/>
          </a:p>
        </p:txBody>
      </p:sp>
      <p:sp>
        <p:nvSpPr>
          <p:cNvPr id="23" name="reason 5"/>
          <p:cNvSpPr/>
          <p:nvPr/>
        </p:nvSpPr>
        <p:spPr>
          <a:xfrm>
            <a:off x="4297680" y="3611880"/>
            <a:ext cx="3520440" cy="2011680"/>
          </a:xfrm>
          <a:prstGeom prst="roundRect">
            <a:avLst>
              <a:gd name="adj" fmla="val 5455"/>
            </a:avLst>
          </a:prstGeom>
          <a:solidFill>
            <a:schemeClr val="bg2"/>
          </a:solidFill>
          <a:ln/>
        </p:spPr>
      </p:sp>
      <p:sp>
        <p:nvSpPr>
          <p:cNvPr id="24" name="reason 5 circle"/>
          <p:cNvSpPr/>
          <p:nvPr/>
        </p:nvSpPr>
        <p:spPr>
          <a:xfrm>
            <a:off x="4572000" y="3886200"/>
            <a:ext cx="640080" cy="640080"/>
          </a:xfrm>
          <a:prstGeom prst="ellipse">
            <a:avLst/>
          </a:prstGeom>
          <a:solidFill>
            <a:schemeClr val="accent1"/>
          </a:solidFill>
          <a:ln/>
        </p:spPr>
      </p:sp>
      <p:pic>
        <p:nvPicPr>
          <p:cNvPr id="25" name="reason 5 icon" descr="preencoded.png">    </p:cNvPr>
          <p:cNvPicPr>
            <a:picLocks noChangeAspect="1"/>
          </p:cNvPicPr>
          <p:nvPr/>
        </p:nvPicPr>
        <p:blipFill>
          <a:blip r:embed="rId5"/>
          <a:stretch>
            <a:fillRect/>
          </a:stretch>
        </p:blipFill>
        <p:spPr>
          <a:xfrm>
            <a:off x="4725619" y="4039819"/>
            <a:ext cx="332842" cy="332842"/>
          </a:xfrm>
          <a:prstGeom prst="rect">
            <a:avLst/>
          </a:prstGeom>
        </p:spPr>
      </p:pic>
      <p:sp>
        <p:nvSpPr>
          <p:cNvPr id="26" name="Text 19"/>
          <p:cNvSpPr txBox="1"/>
          <p:nvPr/>
        </p:nvSpPr>
        <p:spPr>
          <a:xfrm>
            <a:off x="5349240" y="3904488"/>
            <a:ext cx="2331720" cy="603504"/>
          </a:xfrm>
          <a:prstGeom prst="rect">
            <a:avLst/>
          </a:prstGeom>
          <a:noFill/>
          <a:ln/>
        </p:spPr>
        <p:txBody>
          <a:bodyPr wrap="square" lIns="0" tIns="0" rIns="0" bIns="0" rtlCol="0" anchor="ctr"/>
          <a:lstStyle/>
          <a:p>
            <a:pPr indent="0" marL="0">
              <a:buNone/>
            </a:pPr>
            <a:r>
              <a:rPr lang="en-US" sz="1800" b="1" dirty="0">
                <a:solidFill>
                  <a:schemeClr val="tx1"/>
                </a:solidFill>
              </a:rPr>
              <a:t>Free and open source</a:t>
            </a:r>
            <a:endParaRPr lang="en-US" sz="1800" dirty="0"/>
          </a:p>
        </p:txBody>
      </p:sp>
      <p:sp>
        <p:nvSpPr>
          <p:cNvPr id="27" name="Text 20"/>
          <p:cNvSpPr txBox="1"/>
          <p:nvPr/>
        </p:nvSpPr>
        <p:spPr>
          <a:xfrm>
            <a:off x="4572000" y="4663440"/>
            <a:ext cx="3017520" cy="822960"/>
          </a:xfrm>
          <a:prstGeom prst="rect">
            <a:avLst/>
          </a:prstGeom>
          <a:noFill/>
          <a:ln/>
        </p:spPr>
        <p:txBody>
          <a:bodyPr wrap="square" lIns="0" tIns="0" rIns="0" bIns="0" rtlCol="0" anchor="t"/>
          <a:lstStyle/>
          <a:p>
            <a:pPr indent="0" marL="0">
              <a:buNone/>
            </a:pPr>
            <a:r>
              <a:rPr lang="en-US" sz="1500" dirty="0">
                <a:solidFill>
                  <a:schemeClr val="accent5"/>
                </a:solidFill>
              </a:rPr>
              <a:t>Apache 2.0, self-hosted, no per-host pricing</a:t>
            </a:r>
            <a:endParaRPr lang="en-US" sz="1500" dirty="0"/>
          </a:p>
        </p:txBody>
      </p:sp>
      <p:sp>
        <p:nvSpPr>
          <p:cNvPr id="28" name="reason 6"/>
          <p:cNvSpPr/>
          <p:nvPr/>
        </p:nvSpPr>
        <p:spPr>
          <a:xfrm>
            <a:off x="8046720" y="3611880"/>
            <a:ext cx="3520440" cy="2011680"/>
          </a:xfrm>
          <a:prstGeom prst="roundRect">
            <a:avLst>
              <a:gd name="adj" fmla="val 5455"/>
            </a:avLst>
          </a:prstGeom>
          <a:solidFill>
            <a:schemeClr val="bg2"/>
          </a:solidFill>
          <a:ln/>
        </p:spPr>
      </p:sp>
      <p:sp>
        <p:nvSpPr>
          <p:cNvPr id="29" name="reason 6 circle"/>
          <p:cNvSpPr/>
          <p:nvPr/>
        </p:nvSpPr>
        <p:spPr>
          <a:xfrm>
            <a:off x="8321040" y="3886200"/>
            <a:ext cx="640080" cy="640080"/>
          </a:xfrm>
          <a:prstGeom prst="ellipse">
            <a:avLst/>
          </a:prstGeom>
          <a:solidFill>
            <a:schemeClr val="accent1"/>
          </a:solidFill>
          <a:ln/>
        </p:spPr>
      </p:sp>
      <p:pic>
        <p:nvPicPr>
          <p:cNvPr id="30" name="reason 6 icon" descr="preencoded.png">    </p:cNvPr>
          <p:cNvPicPr>
            <a:picLocks noChangeAspect="1"/>
          </p:cNvPicPr>
          <p:nvPr/>
        </p:nvPicPr>
        <p:blipFill>
          <a:blip r:embed="rId6"/>
          <a:stretch>
            <a:fillRect/>
          </a:stretch>
        </p:blipFill>
        <p:spPr>
          <a:xfrm>
            <a:off x="8474659" y="4039819"/>
            <a:ext cx="332842" cy="332842"/>
          </a:xfrm>
          <a:prstGeom prst="rect">
            <a:avLst/>
          </a:prstGeom>
        </p:spPr>
      </p:pic>
      <p:sp>
        <p:nvSpPr>
          <p:cNvPr id="31" name="Text 23"/>
          <p:cNvSpPr txBox="1"/>
          <p:nvPr/>
        </p:nvSpPr>
        <p:spPr>
          <a:xfrm>
            <a:off x="9098280" y="3904488"/>
            <a:ext cx="2331720" cy="603504"/>
          </a:xfrm>
          <a:prstGeom prst="rect">
            <a:avLst/>
          </a:prstGeom>
          <a:noFill/>
          <a:ln/>
        </p:spPr>
        <p:txBody>
          <a:bodyPr wrap="square" lIns="0" tIns="0" rIns="0" bIns="0" rtlCol="0" anchor="ctr"/>
          <a:lstStyle/>
          <a:p>
            <a:pPr indent="0" marL="0">
              <a:buNone/>
            </a:pPr>
            <a:r>
              <a:rPr lang="en-US" sz="1800" b="1" dirty="0">
                <a:solidFill>
                  <a:schemeClr val="tx1"/>
                </a:solidFill>
              </a:rPr>
              <a:t>Light</a:t>
            </a:r>
            <a:endParaRPr lang="en-US" sz="1800" dirty="0"/>
          </a:p>
        </p:txBody>
      </p:sp>
      <p:sp>
        <p:nvSpPr>
          <p:cNvPr id="32" name="Text 24"/>
          <p:cNvSpPr txBox="1"/>
          <p:nvPr/>
        </p:nvSpPr>
        <p:spPr>
          <a:xfrm>
            <a:off x="8321040" y="4663440"/>
            <a:ext cx="3017520" cy="822960"/>
          </a:xfrm>
          <a:prstGeom prst="rect">
            <a:avLst/>
          </a:prstGeom>
          <a:noFill/>
          <a:ln/>
        </p:spPr>
        <p:txBody>
          <a:bodyPr wrap="square" lIns="0" tIns="0" rIns="0" bIns="0" rtlCol="0" anchor="t"/>
          <a:lstStyle/>
          <a:p>
            <a:pPr indent="0" marL="0">
              <a:buNone/>
            </a:pPr>
            <a:r>
              <a:rPr lang="en-US" sz="1500" dirty="0">
                <a:solidFill>
                  <a:schemeClr val="accent5"/>
                </a:solidFill>
              </a:rPr>
              <a:t>the whole monitoring side used about 180 MiB</a:t>
            </a:r>
            <a:endParaRPr lang="en-US" sz="1500" dirty="0"/>
          </a:p>
        </p:txBody>
      </p:sp>
      <p:sp>
        <p:nvSpPr>
          <p:cNvPr id="33" name="Text 25"/>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300" i="1" dirty="0">
                <a:solidFill>
                  <a:schemeClr val="accent5"/>
                </a:solidFill>
              </a:rPr>
              <a:t>Also considered: Nagios, Zabbix, Datadog, Grafana Alerting, AWS CloudWatch (compared later)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How Prometheus works: pull, store, evaluate</a:t>
            </a:r>
            <a:endParaRPr lang="en-US" sz="3200" dirty="0"/>
          </a:p>
        </p:txBody>
      </p:sp>
      <p:sp>
        <p:nvSpPr>
          <p:cNvPr id="3" name="flow Targets"/>
          <p:cNvSpPr/>
          <p:nvPr/>
        </p:nvSpPr>
        <p:spPr>
          <a:xfrm>
            <a:off x="548640" y="1371600"/>
            <a:ext cx="2514600" cy="1920240"/>
          </a:xfrm>
          <a:prstGeom prst="roundRect">
            <a:avLst>
              <a:gd name="adj" fmla="val 5714"/>
            </a:avLst>
          </a:prstGeom>
          <a:solidFill>
            <a:schemeClr val="bg2"/>
          </a:solidFill>
          <a:ln/>
        </p:spPr>
      </p:sp>
      <p:sp>
        <p:nvSpPr>
          <p:cNvPr id="4" name="Text 2"/>
          <p:cNvSpPr txBox="1"/>
          <p:nvPr/>
        </p:nvSpPr>
        <p:spPr>
          <a:xfrm>
            <a:off x="777240" y="1508760"/>
            <a:ext cx="2103120" cy="457200"/>
          </a:xfrm>
          <a:prstGeom prst="rect">
            <a:avLst/>
          </a:prstGeom>
          <a:noFill/>
          <a:ln/>
        </p:spPr>
        <p:txBody>
          <a:bodyPr wrap="square" lIns="0" tIns="0" rIns="0" bIns="0" rtlCol="0" anchor="ctr"/>
          <a:lstStyle/>
          <a:p>
            <a:pPr indent="0" marL="0">
              <a:buNone/>
            </a:pPr>
            <a:r>
              <a:rPr lang="en-US" sz="2000" b="1" dirty="0">
                <a:solidFill>
                  <a:schemeClr val="tx1"/>
                </a:solidFill>
              </a:rPr>
              <a:t>Targets</a:t>
            </a:r>
            <a:endParaRPr lang="en-US" sz="2000" dirty="0"/>
          </a:p>
        </p:txBody>
      </p:sp>
      <p:sp>
        <p:nvSpPr>
          <p:cNvPr id="5" name="Text 3"/>
          <p:cNvSpPr txBox="1"/>
          <p:nvPr/>
        </p:nvSpPr>
        <p:spPr>
          <a:xfrm>
            <a:off x="777240" y="2011680"/>
            <a:ext cx="2103120" cy="1143000"/>
          </a:xfrm>
          <a:prstGeom prst="rect">
            <a:avLst/>
          </a:prstGeom>
          <a:noFill/>
          <a:ln/>
        </p:spPr>
        <p:txBody>
          <a:bodyPr wrap="square" lIns="0" tIns="0" rIns="0" bIns="0" rtlCol="0" anchor="t"/>
          <a:lstStyle/>
          <a:p>
            <a:pPr indent="0" marL="0">
              <a:buNone/>
            </a:pPr>
            <a:r>
              <a:rPr lang="en-US" sz="1500" dirty="0">
                <a:solidFill>
                  <a:schemeClr val="tx1"/>
                </a:solidFill>
              </a:rPr>
              <a:t>apps and exporters expose /metrics</a:t>
            </a:r>
            <a:endParaRPr lang="en-US" sz="1500" dirty="0"/>
          </a:p>
        </p:txBody>
      </p:sp>
      <p:sp>
        <p:nvSpPr>
          <p:cNvPr id="6" name="flow arrow 1"/>
          <p:cNvSpPr/>
          <p:nvPr/>
        </p:nvSpPr>
        <p:spPr>
          <a:xfrm>
            <a:off x="3108960" y="2148840"/>
            <a:ext cx="256032" cy="365760"/>
          </a:xfrm>
          <a:prstGeom prst="rightArrow">
            <a:avLst/>
          </a:prstGeom>
          <a:solidFill>
            <a:schemeClr val="accent5"/>
          </a:solidFill>
          <a:ln/>
        </p:spPr>
      </p:sp>
      <p:sp>
        <p:nvSpPr>
          <p:cNvPr id="7" name="flow Scrape"/>
          <p:cNvSpPr/>
          <p:nvPr/>
        </p:nvSpPr>
        <p:spPr>
          <a:xfrm>
            <a:off x="3383280" y="1371600"/>
            <a:ext cx="2514600" cy="1920240"/>
          </a:xfrm>
          <a:prstGeom prst="roundRect">
            <a:avLst>
              <a:gd name="adj" fmla="val 5714"/>
            </a:avLst>
          </a:prstGeom>
          <a:solidFill>
            <a:schemeClr val="bg2"/>
          </a:solidFill>
          <a:ln/>
        </p:spPr>
      </p:sp>
      <p:sp>
        <p:nvSpPr>
          <p:cNvPr id="8" name="Text 6"/>
          <p:cNvSpPr txBox="1"/>
          <p:nvPr/>
        </p:nvSpPr>
        <p:spPr>
          <a:xfrm>
            <a:off x="3611880" y="1508760"/>
            <a:ext cx="2103120" cy="457200"/>
          </a:xfrm>
          <a:prstGeom prst="rect">
            <a:avLst/>
          </a:prstGeom>
          <a:noFill/>
          <a:ln/>
        </p:spPr>
        <p:txBody>
          <a:bodyPr wrap="square" lIns="0" tIns="0" rIns="0" bIns="0" rtlCol="0" anchor="ctr"/>
          <a:lstStyle/>
          <a:p>
            <a:pPr indent="0" marL="0">
              <a:buNone/>
            </a:pPr>
            <a:r>
              <a:rPr lang="en-US" sz="2000" b="1" dirty="0">
                <a:solidFill>
                  <a:schemeClr val="tx1"/>
                </a:solidFill>
              </a:rPr>
              <a:t>Scrape</a:t>
            </a:r>
            <a:endParaRPr lang="en-US" sz="2000" dirty="0"/>
          </a:p>
        </p:txBody>
      </p:sp>
      <p:sp>
        <p:nvSpPr>
          <p:cNvPr id="9" name="Text 7"/>
          <p:cNvSpPr txBox="1"/>
          <p:nvPr/>
        </p:nvSpPr>
        <p:spPr>
          <a:xfrm>
            <a:off x="3611880" y="2011680"/>
            <a:ext cx="2103120" cy="1143000"/>
          </a:xfrm>
          <a:prstGeom prst="rect">
            <a:avLst/>
          </a:prstGeom>
          <a:noFill/>
          <a:ln/>
        </p:spPr>
        <p:txBody>
          <a:bodyPr wrap="square" lIns="0" tIns="0" rIns="0" bIns="0" rtlCol="0" anchor="t"/>
          <a:lstStyle/>
          <a:p>
            <a:pPr indent="0" marL="0">
              <a:buNone/>
            </a:pPr>
            <a:r>
              <a:rPr lang="en-US" sz="1500" dirty="0">
                <a:solidFill>
                  <a:schemeClr val="tx1"/>
                </a:solidFill>
              </a:rPr>
              <a:t>Prometheus pulls every 5 s; a failed pull sets up = 0</a:t>
            </a:r>
            <a:endParaRPr lang="en-US" sz="1500" dirty="0"/>
          </a:p>
        </p:txBody>
      </p:sp>
      <p:sp>
        <p:nvSpPr>
          <p:cNvPr id="10" name="flow arrow 2"/>
          <p:cNvSpPr/>
          <p:nvPr/>
        </p:nvSpPr>
        <p:spPr>
          <a:xfrm>
            <a:off x="5943600" y="2148840"/>
            <a:ext cx="256032" cy="365760"/>
          </a:xfrm>
          <a:prstGeom prst="rightArrow">
            <a:avLst/>
          </a:prstGeom>
          <a:solidFill>
            <a:schemeClr val="accent5"/>
          </a:solidFill>
          <a:ln/>
        </p:spPr>
      </p:sp>
      <p:sp>
        <p:nvSpPr>
          <p:cNvPr id="11" name="flow Store"/>
          <p:cNvSpPr/>
          <p:nvPr/>
        </p:nvSpPr>
        <p:spPr>
          <a:xfrm>
            <a:off x="6217920" y="1371600"/>
            <a:ext cx="2514600" cy="1920240"/>
          </a:xfrm>
          <a:prstGeom prst="roundRect">
            <a:avLst>
              <a:gd name="adj" fmla="val 5714"/>
            </a:avLst>
          </a:prstGeom>
          <a:solidFill>
            <a:schemeClr val="bg2"/>
          </a:solidFill>
          <a:ln/>
        </p:spPr>
      </p:sp>
      <p:sp>
        <p:nvSpPr>
          <p:cNvPr id="12" name="Text 10"/>
          <p:cNvSpPr txBox="1"/>
          <p:nvPr/>
        </p:nvSpPr>
        <p:spPr>
          <a:xfrm>
            <a:off x="6446520" y="1508760"/>
            <a:ext cx="2103120" cy="457200"/>
          </a:xfrm>
          <a:prstGeom prst="rect">
            <a:avLst/>
          </a:prstGeom>
          <a:noFill/>
          <a:ln/>
        </p:spPr>
        <p:txBody>
          <a:bodyPr wrap="square" lIns="0" tIns="0" rIns="0" bIns="0" rtlCol="0" anchor="ctr"/>
          <a:lstStyle/>
          <a:p>
            <a:pPr indent="0" marL="0">
              <a:buNone/>
            </a:pPr>
            <a:r>
              <a:rPr lang="en-US" sz="2000" b="1" dirty="0">
                <a:solidFill>
                  <a:schemeClr val="tx1"/>
                </a:solidFill>
              </a:rPr>
              <a:t>Store</a:t>
            </a:r>
            <a:endParaRPr lang="en-US" sz="2000" dirty="0"/>
          </a:p>
        </p:txBody>
      </p:sp>
      <p:sp>
        <p:nvSpPr>
          <p:cNvPr id="13" name="Text 11"/>
          <p:cNvSpPr txBox="1"/>
          <p:nvPr/>
        </p:nvSpPr>
        <p:spPr>
          <a:xfrm>
            <a:off x="6446520" y="2011680"/>
            <a:ext cx="2103120" cy="1143000"/>
          </a:xfrm>
          <a:prstGeom prst="rect">
            <a:avLst/>
          </a:prstGeom>
          <a:noFill/>
          <a:ln/>
        </p:spPr>
        <p:txBody>
          <a:bodyPr wrap="square" lIns="0" tIns="0" rIns="0" bIns="0" rtlCol="0" anchor="t"/>
          <a:lstStyle/>
          <a:p>
            <a:pPr indent="0" marL="0">
              <a:buNone/>
            </a:pPr>
            <a:r>
              <a:rPr lang="en-US" sz="1500" dirty="0">
                <a:solidFill>
                  <a:schemeClr val="tx1"/>
                </a:solidFill>
              </a:rPr>
              <a:t>time series with labels in its own database (TSDB)</a:t>
            </a:r>
            <a:endParaRPr lang="en-US" sz="1500" dirty="0"/>
          </a:p>
        </p:txBody>
      </p:sp>
      <p:sp>
        <p:nvSpPr>
          <p:cNvPr id="14" name="flow arrow 3"/>
          <p:cNvSpPr/>
          <p:nvPr/>
        </p:nvSpPr>
        <p:spPr>
          <a:xfrm>
            <a:off x="8778240" y="2148840"/>
            <a:ext cx="256032" cy="365760"/>
          </a:xfrm>
          <a:prstGeom prst="rightArrow">
            <a:avLst/>
          </a:prstGeom>
          <a:solidFill>
            <a:schemeClr val="accent5"/>
          </a:solidFill>
          <a:ln/>
        </p:spPr>
      </p:sp>
      <p:sp>
        <p:nvSpPr>
          <p:cNvPr id="15" name="flow Evaluate"/>
          <p:cNvSpPr/>
          <p:nvPr/>
        </p:nvSpPr>
        <p:spPr>
          <a:xfrm>
            <a:off x="9052560" y="1371600"/>
            <a:ext cx="2514600" cy="1920240"/>
          </a:xfrm>
          <a:prstGeom prst="roundRect">
            <a:avLst>
              <a:gd name="adj" fmla="val 5714"/>
            </a:avLst>
          </a:prstGeom>
          <a:solidFill>
            <a:schemeClr val="accent1"/>
          </a:solidFill>
          <a:ln/>
        </p:spPr>
      </p:sp>
      <p:sp>
        <p:nvSpPr>
          <p:cNvPr id="16" name="Text 14"/>
          <p:cNvSpPr txBox="1"/>
          <p:nvPr/>
        </p:nvSpPr>
        <p:spPr>
          <a:xfrm>
            <a:off x="9281160" y="1508760"/>
            <a:ext cx="2103120" cy="457200"/>
          </a:xfrm>
          <a:prstGeom prst="rect">
            <a:avLst/>
          </a:prstGeom>
          <a:noFill/>
          <a:ln/>
        </p:spPr>
        <p:txBody>
          <a:bodyPr wrap="square" lIns="0" tIns="0" rIns="0" bIns="0" rtlCol="0" anchor="ctr"/>
          <a:lstStyle/>
          <a:p>
            <a:pPr indent="0" marL="0">
              <a:buNone/>
            </a:pPr>
            <a:r>
              <a:rPr lang="en-US" sz="2000" b="1" dirty="0">
                <a:solidFill>
                  <a:schemeClr val="bg1"/>
                </a:solidFill>
              </a:rPr>
              <a:t>Evaluate</a:t>
            </a:r>
            <a:endParaRPr lang="en-US" sz="2000" dirty="0"/>
          </a:p>
        </p:txBody>
      </p:sp>
      <p:sp>
        <p:nvSpPr>
          <p:cNvPr id="17" name="Text 15"/>
          <p:cNvSpPr txBox="1"/>
          <p:nvPr/>
        </p:nvSpPr>
        <p:spPr>
          <a:xfrm>
            <a:off x="9281160" y="2011680"/>
            <a:ext cx="2103120" cy="1143000"/>
          </a:xfrm>
          <a:prstGeom prst="rect">
            <a:avLst/>
          </a:prstGeom>
          <a:noFill/>
          <a:ln/>
        </p:spPr>
        <p:txBody>
          <a:bodyPr wrap="square" lIns="0" tIns="0" rIns="0" bIns="0" rtlCol="0" anchor="t"/>
          <a:lstStyle/>
          <a:p>
            <a:pPr indent="0" marL="0">
              <a:buNone/>
            </a:pPr>
            <a:r>
              <a:rPr lang="en-US" sz="1500" dirty="0">
                <a:solidFill>
                  <a:schemeClr val="bg1"/>
                </a:solidFill>
              </a:rPr>
              <a:t>rules run every 5 s: pending, then firing</a:t>
            </a:r>
            <a:endParaRPr lang="en-US" sz="1500" dirty="0"/>
          </a:p>
        </p:txBody>
      </p:sp>
      <p:sp>
        <p:nvSpPr>
          <p:cNvPr id="18" name="Text 16"/>
          <p:cNvSpPr txBox="1"/>
          <p:nvPr/>
        </p:nvSpPr>
        <p:spPr>
          <a:xfrm>
            <a:off x="548640" y="3611880"/>
            <a:ext cx="5486400" cy="411480"/>
          </a:xfrm>
          <a:prstGeom prst="rect">
            <a:avLst/>
          </a:prstGeom>
          <a:noFill/>
          <a:ln/>
        </p:spPr>
        <p:txBody>
          <a:bodyPr wrap="square" lIns="0" tIns="0" rIns="0" bIns="0" rtlCol="0" anchor="ctr"/>
          <a:lstStyle/>
          <a:p>
            <a:pPr indent="0" marL="0">
              <a:buNone/>
            </a:pPr>
            <a:r>
              <a:rPr lang="en-US" sz="2000" b="1" dirty="0">
                <a:solidFill>
                  <a:schemeClr val="tx1"/>
                </a:solidFill>
              </a:rPr>
              <a:t>Metric types we use</a:t>
            </a:r>
            <a:endParaRPr lang="en-US" sz="2000" dirty="0"/>
          </a:p>
        </p:txBody>
      </p:sp>
      <p:sp>
        <p:nvSpPr>
          <p:cNvPr id="19" name="type Counter"/>
          <p:cNvSpPr/>
          <p:nvPr/>
        </p:nvSpPr>
        <p:spPr>
          <a:xfrm>
            <a:off x="548640" y="4114800"/>
            <a:ext cx="3520440" cy="1783080"/>
          </a:xfrm>
          <a:prstGeom prst="roundRect">
            <a:avLst>
              <a:gd name="adj" fmla="val 6154"/>
            </a:avLst>
          </a:prstGeom>
          <a:solidFill>
            <a:schemeClr val="bg2"/>
          </a:solidFill>
          <a:ln/>
        </p:spPr>
      </p:sp>
      <p:sp>
        <p:nvSpPr>
          <p:cNvPr id="20" name="Text 18"/>
          <p:cNvSpPr txBox="1"/>
          <p:nvPr/>
        </p:nvSpPr>
        <p:spPr>
          <a:xfrm>
            <a:off x="777240" y="4251960"/>
            <a:ext cx="3108960" cy="411480"/>
          </a:xfrm>
          <a:prstGeom prst="rect">
            <a:avLst/>
          </a:prstGeom>
          <a:noFill/>
          <a:ln/>
        </p:spPr>
        <p:txBody>
          <a:bodyPr wrap="square" lIns="0" tIns="0" rIns="0" bIns="0" rtlCol="0" anchor="ctr"/>
          <a:lstStyle/>
          <a:p>
            <a:pPr indent="0" marL="0">
              <a:buNone/>
            </a:pPr>
            <a:r>
              <a:rPr lang="en-US" sz="1800" b="1" dirty="0">
                <a:solidFill>
                  <a:schemeClr val="accent1"/>
                </a:solidFill>
              </a:rPr>
              <a:t>Counter</a:t>
            </a:r>
            <a:endParaRPr lang="en-US" sz="1800" dirty="0"/>
          </a:p>
        </p:txBody>
      </p:sp>
      <p:sp>
        <p:nvSpPr>
          <p:cNvPr id="21" name="Text 19"/>
          <p:cNvSpPr txBox="1"/>
          <p:nvPr/>
        </p:nvSpPr>
        <p:spPr>
          <a:xfrm>
            <a:off x="777240" y="4663440"/>
            <a:ext cx="3108960" cy="411480"/>
          </a:xfrm>
          <a:prstGeom prst="rect">
            <a:avLst/>
          </a:prstGeom>
          <a:noFill/>
          <a:ln/>
        </p:spPr>
        <p:txBody>
          <a:bodyPr wrap="square" lIns="0" tIns="0" rIns="0" bIns="0" rtlCol="0" anchor="ctr"/>
          <a:lstStyle/>
          <a:p>
            <a:pPr indent="0" marL="0">
              <a:buNone/>
            </a:pPr>
            <a:r>
              <a:rPr lang="en-US" sz="1500" dirty="0">
                <a:solidFill>
                  <a:schemeClr val="tx1"/>
                </a:solidFill>
              </a:rPr>
              <a:t>only goes up; read with rate()</a:t>
            </a:r>
            <a:endParaRPr lang="en-US" sz="1500" dirty="0"/>
          </a:p>
        </p:txBody>
      </p:sp>
      <p:sp>
        <p:nvSpPr>
          <p:cNvPr id="22" name="Text 20"/>
          <p:cNvSpPr txBox="1"/>
          <p:nvPr/>
        </p:nvSpPr>
        <p:spPr>
          <a:xfrm>
            <a:off x="777240" y="5120640"/>
            <a:ext cx="3108960" cy="548640"/>
          </a:xfrm>
          <a:prstGeom prst="rect">
            <a:avLst/>
          </a:prstGeom>
          <a:noFill/>
          <a:ln/>
        </p:spPr>
        <p:txBody>
          <a:bodyPr wrap="square" lIns="0" tIns="0" rIns="0" bIns="0" rtlCol="0" anchor="ctr"/>
          <a:lstStyle/>
          <a:p>
            <a:pPr indent="0" marL="0">
              <a:buNone/>
            </a:pPr>
            <a:r>
              <a:rPr lang="en-US" sz="1300" dirty="0">
                <a:solidFill>
                  <a:schemeClr val="accent5"/>
                </a:solidFill>
                <a:latin typeface="Courier New" pitchFamily="34" charset="0"/>
                <a:ea typeface="Courier New" pitchFamily="34" charset="-122"/>
                <a:cs typeface="Courier New" pitchFamily="34" charset="-120"/>
              </a:rPr>
              <a:t>http_requests_total</a:t>
            </a:r>
            <a:endParaRPr lang="en-US" sz="1300" dirty="0"/>
          </a:p>
        </p:txBody>
      </p:sp>
      <p:sp>
        <p:nvSpPr>
          <p:cNvPr id="23" name="type Gauge"/>
          <p:cNvSpPr/>
          <p:nvPr/>
        </p:nvSpPr>
        <p:spPr>
          <a:xfrm>
            <a:off x="4297680" y="4114800"/>
            <a:ext cx="3520440" cy="1783080"/>
          </a:xfrm>
          <a:prstGeom prst="roundRect">
            <a:avLst>
              <a:gd name="adj" fmla="val 6154"/>
            </a:avLst>
          </a:prstGeom>
          <a:solidFill>
            <a:schemeClr val="bg2"/>
          </a:solidFill>
          <a:ln/>
        </p:spPr>
      </p:sp>
      <p:sp>
        <p:nvSpPr>
          <p:cNvPr id="24" name="Text 22"/>
          <p:cNvSpPr txBox="1"/>
          <p:nvPr/>
        </p:nvSpPr>
        <p:spPr>
          <a:xfrm>
            <a:off x="4526280" y="4251960"/>
            <a:ext cx="3108960" cy="411480"/>
          </a:xfrm>
          <a:prstGeom prst="rect">
            <a:avLst/>
          </a:prstGeom>
          <a:noFill/>
          <a:ln/>
        </p:spPr>
        <p:txBody>
          <a:bodyPr wrap="square" lIns="0" tIns="0" rIns="0" bIns="0" rtlCol="0" anchor="ctr"/>
          <a:lstStyle/>
          <a:p>
            <a:pPr indent="0" marL="0">
              <a:buNone/>
            </a:pPr>
            <a:r>
              <a:rPr lang="en-US" sz="1800" b="1" dirty="0">
                <a:solidFill>
                  <a:schemeClr val="accent1"/>
                </a:solidFill>
              </a:rPr>
              <a:t>Gauge</a:t>
            </a:r>
            <a:endParaRPr lang="en-US" sz="1800" dirty="0"/>
          </a:p>
        </p:txBody>
      </p:sp>
      <p:sp>
        <p:nvSpPr>
          <p:cNvPr id="25" name="Text 23"/>
          <p:cNvSpPr txBox="1"/>
          <p:nvPr/>
        </p:nvSpPr>
        <p:spPr>
          <a:xfrm>
            <a:off x="4526280" y="4663440"/>
            <a:ext cx="3108960" cy="411480"/>
          </a:xfrm>
          <a:prstGeom prst="rect">
            <a:avLst/>
          </a:prstGeom>
          <a:noFill/>
          <a:ln/>
        </p:spPr>
        <p:txBody>
          <a:bodyPr wrap="square" lIns="0" tIns="0" rIns="0" bIns="0" rtlCol="0" anchor="ctr"/>
          <a:lstStyle/>
          <a:p>
            <a:pPr indent="0" marL="0">
              <a:buNone/>
            </a:pPr>
            <a:r>
              <a:rPr lang="en-US" sz="1500" dirty="0">
                <a:solidFill>
                  <a:schemeClr val="tx1"/>
                </a:solidFill>
              </a:rPr>
              <a:t>goes up and down</a:t>
            </a:r>
            <a:endParaRPr lang="en-US" sz="1500" dirty="0"/>
          </a:p>
        </p:txBody>
      </p:sp>
      <p:sp>
        <p:nvSpPr>
          <p:cNvPr id="26" name="Text 24"/>
          <p:cNvSpPr txBox="1"/>
          <p:nvPr/>
        </p:nvSpPr>
        <p:spPr>
          <a:xfrm>
            <a:off x="4526280" y="5120640"/>
            <a:ext cx="3108960" cy="548640"/>
          </a:xfrm>
          <a:prstGeom prst="rect">
            <a:avLst/>
          </a:prstGeom>
          <a:noFill/>
          <a:ln/>
        </p:spPr>
        <p:txBody>
          <a:bodyPr wrap="square" lIns="0" tIns="0" rIns="0" bIns="0" rtlCol="0" anchor="ctr"/>
          <a:lstStyle/>
          <a:p>
            <a:pPr indent="0" marL="0">
              <a:buNone/>
            </a:pPr>
            <a:r>
              <a:rPr lang="en-US" sz="1300" dirty="0">
                <a:solidFill>
                  <a:schemeClr val="accent5"/>
                </a:solidFill>
                <a:latin typeface="Courier New" pitchFamily="34" charset="0"/>
                <a:ea typeface="Courier New" pitchFamily="34" charset="-122"/>
                <a:cs typeface="Courier New" pitchFamily="34" charset="-120"/>
              </a:rPr>
              <a:t>app_dependency_up</a:t>
            </a:r>
            <a:endParaRPr lang="en-US" sz="1300" dirty="0"/>
          </a:p>
        </p:txBody>
      </p:sp>
      <p:sp>
        <p:nvSpPr>
          <p:cNvPr id="27" name="type Histogram"/>
          <p:cNvSpPr/>
          <p:nvPr/>
        </p:nvSpPr>
        <p:spPr>
          <a:xfrm>
            <a:off x="8046720" y="4114800"/>
            <a:ext cx="3520440" cy="1783080"/>
          </a:xfrm>
          <a:prstGeom prst="roundRect">
            <a:avLst>
              <a:gd name="adj" fmla="val 6154"/>
            </a:avLst>
          </a:prstGeom>
          <a:solidFill>
            <a:schemeClr val="bg2"/>
          </a:solidFill>
          <a:ln/>
        </p:spPr>
      </p:sp>
      <p:sp>
        <p:nvSpPr>
          <p:cNvPr id="28" name="Text 26"/>
          <p:cNvSpPr txBox="1"/>
          <p:nvPr/>
        </p:nvSpPr>
        <p:spPr>
          <a:xfrm>
            <a:off x="8275320" y="4251960"/>
            <a:ext cx="3108960" cy="411480"/>
          </a:xfrm>
          <a:prstGeom prst="rect">
            <a:avLst/>
          </a:prstGeom>
          <a:noFill/>
          <a:ln/>
        </p:spPr>
        <p:txBody>
          <a:bodyPr wrap="square" lIns="0" tIns="0" rIns="0" bIns="0" rtlCol="0" anchor="ctr"/>
          <a:lstStyle/>
          <a:p>
            <a:pPr indent="0" marL="0">
              <a:buNone/>
            </a:pPr>
            <a:r>
              <a:rPr lang="en-US" sz="1800" b="1" dirty="0">
                <a:solidFill>
                  <a:schemeClr val="accent1"/>
                </a:solidFill>
              </a:rPr>
              <a:t>Histogram</a:t>
            </a:r>
            <a:endParaRPr lang="en-US" sz="1800" dirty="0"/>
          </a:p>
        </p:txBody>
      </p:sp>
      <p:sp>
        <p:nvSpPr>
          <p:cNvPr id="29" name="Text 27"/>
          <p:cNvSpPr txBox="1"/>
          <p:nvPr/>
        </p:nvSpPr>
        <p:spPr>
          <a:xfrm>
            <a:off x="8275320" y="4663440"/>
            <a:ext cx="3108960" cy="411480"/>
          </a:xfrm>
          <a:prstGeom prst="rect">
            <a:avLst/>
          </a:prstGeom>
          <a:noFill/>
          <a:ln/>
        </p:spPr>
        <p:txBody>
          <a:bodyPr wrap="square" lIns="0" tIns="0" rIns="0" bIns="0" rtlCol="0" anchor="ctr"/>
          <a:lstStyle/>
          <a:p>
            <a:pPr indent="0" marL="0">
              <a:buNone/>
            </a:pPr>
            <a:r>
              <a:rPr lang="en-US" sz="1500" dirty="0">
                <a:solidFill>
                  <a:schemeClr val="tx1"/>
                </a:solidFill>
              </a:rPr>
              <a:t>counts values in buckets; gives p95</a:t>
            </a:r>
            <a:endParaRPr lang="en-US" sz="1500" dirty="0"/>
          </a:p>
        </p:txBody>
      </p:sp>
      <p:sp>
        <p:nvSpPr>
          <p:cNvPr id="30" name="Text 28"/>
          <p:cNvSpPr txBox="1"/>
          <p:nvPr/>
        </p:nvSpPr>
        <p:spPr>
          <a:xfrm>
            <a:off x="8275320" y="5120640"/>
            <a:ext cx="3108960" cy="548640"/>
          </a:xfrm>
          <a:prstGeom prst="rect">
            <a:avLst/>
          </a:prstGeom>
          <a:noFill/>
          <a:ln/>
        </p:spPr>
        <p:txBody>
          <a:bodyPr wrap="square" lIns="0" tIns="0" rIns="0" bIns="0" rtlCol="0" anchor="ctr"/>
          <a:lstStyle/>
          <a:p>
            <a:pPr indent="0" marL="0">
              <a:buNone/>
            </a:pPr>
            <a:r>
              <a:rPr lang="en-US" sz="1300" dirty="0">
                <a:solidFill>
                  <a:schemeClr val="accent5"/>
                </a:solidFill>
                <a:latin typeface="Courier New" pitchFamily="34" charset="0"/>
                <a:ea typeface="Courier New" pitchFamily="34" charset="-122"/>
                <a:cs typeface="Courier New" pitchFamily="34" charset="-120"/>
              </a:rPr>
              <a:t>http_request_duration_seconds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How Alertmanager turns alerts into messages</a:t>
            </a:r>
            <a:endParaRPr lang="en-US" sz="3200" dirty="0"/>
          </a:p>
        </p:txBody>
      </p:sp>
      <p:sp>
        <p:nvSpPr>
          <p:cNvPr id="3" name="step Inhibit"/>
          <p:cNvSpPr/>
          <p:nvPr/>
        </p:nvSpPr>
        <p:spPr>
          <a:xfrm>
            <a:off x="548640" y="1417320"/>
            <a:ext cx="2121408" cy="914400"/>
          </a:xfrm>
          <a:prstGeom prst="chevron">
            <a:avLst/>
          </a:prstGeom>
          <a:solidFill>
            <a:schemeClr val="accent5"/>
          </a:solidFill>
          <a:ln/>
        </p:spPr>
      </p:sp>
      <p:sp>
        <p:nvSpPr>
          <p:cNvPr id="4" name="Text 2"/>
          <p:cNvSpPr txBox="1"/>
          <p:nvPr/>
        </p:nvSpPr>
        <p:spPr>
          <a:xfrm>
            <a:off x="850392" y="1417320"/>
            <a:ext cx="1517904" cy="914400"/>
          </a:xfrm>
          <a:prstGeom prst="rect">
            <a:avLst/>
          </a:prstGeom>
          <a:noFill/>
          <a:ln/>
        </p:spPr>
        <p:txBody>
          <a:bodyPr wrap="square" lIns="0" tIns="0" rIns="0" bIns="0" rtlCol="0" anchor="ctr"/>
          <a:lstStyle/>
          <a:p>
            <a:pPr algn="ctr" indent="0" marL="0">
              <a:buNone/>
            </a:pPr>
            <a:r>
              <a:rPr lang="en-US" sz="1900" b="1" dirty="0">
                <a:solidFill>
                  <a:schemeClr val="bg1"/>
                </a:solidFill>
              </a:rPr>
              <a:t>Inhibit</a:t>
            </a:r>
            <a:endParaRPr lang="en-US" sz="1900" dirty="0"/>
          </a:p>
        </p:txBody>
      </p:sp>
      <p:sp>
        <p:nvSpPr>
          <p:cNvPr id="5" name="Text 3"/>
          <p:cNvSpPr txBox="1"/>
          <p:nvPr/>
        </p:nvSpPr>
        <p:spPr>
          <a:xfrm>
            <a:off x="603504" y="2468880"/>
            <a:ext cx="2011680" cy="822960"/>
          </a:xfrm>
          <a:prstGeom prst="rect">
            <a:avLst/>
          </a:prstGeom>
          <a:noFill/>
          <a:ln/>
        </p:spPr>
        <p:txBody>
          <a:bodyPr wrap="square" lIns="0" tIns="0" rIns="0" bIns="0" rtlCol="0" anchor="t"/>
          <a:lstStyle/>
          <a:p>
            <a:pPr algn="ctr" indent="0" marL="0">
              <a:buNone/>
            </a:pPr>
            <a:r>
              <a:rPr lang="en-US" sz="1500" dirty="0">
                <a:solidFill>
                  <a:schemeClr val="tx1"/>
                </a:solidFill>
              </a:rPr>
              <a:t>drop symptoms of a firing cause</a:t>
            </a:r>
            <a:endParaRPr lang="en-US" sz="1500" dirty="0"/>
          </a:p>
        </p:txBody>
      </p:sp>
      <p:sp>
        <p:nvSpPr>
          <p:cNvPr id="6" name="step Silence"/>
          <p:cNvSpPr/>
          <p:nvPr/>
        </p:nvSpPr>
        <p:spPr>
          <a:xfrm>
            <a:off x="2761488" y="1417320"/>
            <a:ext cx="2121408" cy="914400"/>
          </a:xfrm>
          <a:prstGeom prst="chevron">
            <a:avLst/>
          </a:prstGeom>
          <a:solidFill>
            <a:schemeClr val="accent5"/>
          </a:solidFill>
          <a:ln/>
        </p:spPr>
      </p:sp>
      <p:sp>
        <p:nvSpPr>
          <p:cNvPr id="7" name="Text 5"/>
          <p:cNvSpPr txBox="1"/>
          <p:nvPr/>
        </p:nvSpPr>
        <p:spPr>
          <a:xfrm>
            <a:off x="3063240" y="1417320"/>
            <a:ext cx="1517904" cy="914400"/>
          </a:xfrm>
          <a:prstGeom prst="rect">
            <a:avLst/>
          </a:prstGeom>
          <a:noFill/>
          <a:ln/>
        </p:spPr>
        <p:txBody>
          <a:bodyPr wrap="square" lIns="0" tIns="0" rIns="0" bIns="0" rtlCol="0" anchor="ctr"/>
          <a:lstStyle/>
          <a:p>
            <a:pPr algn="ctr" indent="0" marL="0">
              <a:buNone/>
            </a:pPr>
            <a:r>
              <a:rPr lang="en-US" sz="1900" b="1" dirty="0">
                <a:solidFill>
                  <a:schemeClr val="bg1"/>
                </a:solidFill>
              </a:rPr>
              <a:t>Silence</a:t>
            </a:r>
            <a:endParaRPr lang="en-US" sz="1900" dirty="0"/>
          </a:p>
        </p:txBody>
      </p:sp>
      <p:sp>
        <p:nvSpPr>
          <p:cNvPr id="8" name="Text 6"/>
          <p:cNvSpPr txBox="1"/>
          <p:nvPr/>
        </p:nvSpPr>
        <p:spPr>
          <a:xfrm>
            <a:off x="2816352" y="2468880"/>
            <a:ext cx="2011680" cy="822960"/>
          </a:xfrm>
          <a:prstGeom prst="rect">
            <a:avLst/>
          </a:prstGeom>
          <a:noFill/>
          <a:ln/>
        </p:spPr>
        <p:txBody>
          <a:bodyPr wrap="square" lIns="0" tIns="0" rIns="0" bIns="0" rtlCol="0" anchor="t"/>
          <a:lstStyle/>
          <a:p>
            <a:pPr algn="ctr" indent="0" marL="0">
              <a:buNone/>
            </a:pPr>
            <a:r>
              <a:rPr lang="en-US" sz="1500" dirty="0">
                <a:solidFill>
                  <a:schemeClr val="tx1"/>
                </a:solidFill>
              </a:rPr>
              <a:t>mute known alerts during maintenance</a:t>
            </a:r>
            <a:endParaRPr lang="en-US" sz="1500" dirty="0"/>
          </a:p>
        </p:txBody>
      </p:sp>
      <p:sp>
        <p:nvSpPr>
          <p:cNvPr id="9" name="step Group"/>
          <p:cNvSpPr/>
          <p:nvPr/>
        </p:nvSpPr>
        <p:spPr>
          <a:xfrm>
            <a:off x="4974336" y="1417320"/>
            <a:ext cx="2121408" cy="914400"/>
          </a:xfrm>
          <a:prstGeom prst="chevron">
            <a:avLst/>
          </a:prstGeom>
          <a:solidFill>
            <a:schemeClr val="accent5"/>
          </a:solidFill>
          <a:ln/>
        </p:spPr>
      </p:sp>
      <p:sp>
        <p:nvSpPr>
          <p:cNvPr id="10" name="Text 8"/>
          <p:cNvSpPr txBox="1"/>
          <p:nvPr/>
        </p:nvSpPr>
        <p:spPr>
          <a:xfrm>
            <a:off x="5276088" y="1417320"/>
            <a:ext cx="1517904" cy="914400"/>
          </a:xfrm>
          <a:prstGeom prst="rect">
            <a:avLst/>
          </a:prstGeom>
          <a:noFill/>
          <a:ln/>
        </p:spPr>
        <p:txBody>
          <a:bodyPr wrap="square" lIns="0" tIns="0" rIns="0" bIns="0" rtlCol="0" anchor="ctr"/>
          <a:lstStyle/>
          <a:p>
            <a:pPr algn="ctr" indent="0" marL="0">
              <a:buNone/>
            </a:pPr>
            <a:r>
              <a:rPr lang="en-US" sz="1900" b="1" dirty="0">
                <a:solidFill>
                  <a:schemeClr val="bg1"/>
                </a:solidFill>
              </a:rPr>
              <a:t>Group</a:t>
            </a:r>
            <a:endParaRPr lang="en-US" sz="1900" dirty="0"/>
          </a:p>
        </p:txBody>
      </p:sp>
      <p:sp>
        <p:nvSpPr>
          <p:cNvPr id="11" name="Text 9"/>
          <p:cNvSpPr txBox="1"/>
          <p:nvPr/>
        </p:nvSpPr>
        <p:spPr>
          <a:xfrm>
            <a:off x="5029200" y="2468880"/>
            <a:ext cx="2011680" cy="822960"/>
          </a:xfrm>
          <a:prstGeom prst="rect">
            <a:avLst/>
          </a:prstGeom>
          <a:noFill/>
          <a:ln/>
        </p:spPr>
        <p:txBody>
          <a:bodyPr wrap="square" lIns="0" tIns="0" rIns="0" bIns="0" rtlCol="0" anchor="t"/>
          <a:lstStyle/>
          <a:p>
            <a:pPr algn="ctr" indent="0" marL="0">
              <a:buNone/>
            </a:pPr>
            <a:r>
              <a:rPr lang="en-US" sz="1500" dirty="0">
                <a:solidFill>
                  <a:schemeClr val="tx1"/>
                </a:solidFill>
              </a:rPr>
              <a:t>bundle related alerts into one message</a:t>
            </a:r>
            <a:endParaRPr lang="en-US" sz="1500" dirty="0"/>
          </a:p>
        </p:txBody>
      </p:sp>
      <p:sp>
        <p:nvSpPr>
          <p:cNvPr id="12" name="step Route"/>
          <p:cNvSpPr/>
          <p:nvPr/>
        </p:nvSpPr>
        <p:spPr>
          <a:xfrm>
            <a:off x="7187184" y="1417320"/>
            <a:ext cx="2121408" cy="914400"/>
          </a:xfrm>
          <a:prstGeom prst="chevron">
            <a:avLst/>
          </a:prstGeom>
          <a:solidFill>
            <a:schemeClr val="accent5"/>
          </a:solidFill>
          <a:ln/>
        </p:spPr>
      </p:sp>
      <p:sp>
        <p:nvSpPr>
          <p:cNvPr id="13" name="Text 11"/>
          <p:cNvSpPr txBox="1"/>
          <p:nvPr/>
        </p:nvSpPr>
        <p:spPr>
          <a:xfrm>
            <a:off x="7488936" y="1417320"/>
            <a:ext cx="1517904" cy="914400"/>
          </a:xfrm>
          <a:prstGeom prst="rect">
            <a:avLst/>
          </a:prstGeom>
          <a:noFill/>
          <a:ln/>
        </p:spPr>
        <p:txBody>
          <a:bodyPr wrap="square" lIns="0" tIns="0" rIns="0" bIns="0" rtlCol="0" anchor="ctr"/>
          <a:lstStyle/>
          <a:p>
            <a:pPr algn="ctr" indent="0" marL="0">
              <a:buNone/>
            </a:pPr>
            <a:r>
              <a:rPr lang="en-US" sz="1900" b="1" dirty="0">
                <a:solidFill>
                  <a:schemeClr val="bg1"/>
                </a:solidFill>
              </a:rPr>
              <a:t>Route</a:t>
            </a:r>
            <a:endParaRPr lang="en-US" sz="1900" dirty="0"/>
          </a:p>
        </p:txBody>
      </p:sp>
      <p:sp>
        <p:nvSpPr>
          <p:cNvPr id="14" name="Text 12"/>
          <p:cNvSpPr txBox="1"/>
          <p:nvPr/>
        </p:nvSpPr>
        <p:spPr>
          <a:xfrm>
            <a:off x="7242048" y="2468880"/>
            <a:ext cx="2011680" cy="822960"/>
          </a:xfrm>
          <a:prstGeom prst="rect">
            <a:avLst/>
          </a:prstGeom>
          <a:noFill/>
          <a:ln/>
        </p:spPr>
        <p:txBody>
          <a:bodyPr wrap="square" lIns="0" tIns="0" rIns="0" bIns="0" rtlCol="0" anchor="t"/>
          <a:lstStyle/>
          <a:p>
            <a:pPr algn="ctr" indent="0" marL="0">
              <a:buNone/>
            </a:pPr>
            <a:r>
              <a:rPr lang="en-US" sz="1500" dirty="0">
                <a:solidFill>
                  <a:schemeClr val="tx1"/>
                </a:solidFill>
              </a:rPr>
              <a:t>pick receivers by severity</a:t>
            </a:r>
            <a:endParaRPr lang="en-US" sz="1500" dirty="0"/>
          </a:p>
        </p:txBody>
      </p:sp>
      <p:sp>
        <p:nvSpPr>
          <p:cNvPr id="15" name="step Notify"/>
          <p:cNvSpPr/>
          <p:nvPr/>
        </p:nvSpPr>
        <p:spPr>
          <a:xfrm>
            <a:off x="9400032" y="1417320"/>
            <a:ext cx="2121408" cy="914400"/>
          </a:xfrm>
          <a:prstGeom prst="chevron">
            <a:avLst/>
          </a:prstGeom>
          <a:solidFill>
            <a:schemeClr val="accent1"/>
          </a:solidFill>
          <a:ln/>
        </p:spPr>
      </p:sp>
      <p:sp>
        <p:nvSpPr>
          <p:cNvPr id="16" name="Text 14"/>
          <p:cNvSpPr txBox="1"/>
          <p:nvPr/>
        </p:nvSpPr>
        <p:spPr>
          <a:xfrm>
            <a:off x="9701784" y="1417320"/>
            <a:ext cx="1517904" cy="914400"/>
          </a:xfrm>
          <a:prstGeom prst="rect">
            <a:avLst/>
          </a:prstGeom>
          <a:noFill/>
          <a:ln/>
        </p:spPr>
        <p:txBody>
          <a:bodyPr wrap="square" lIns="0" tIns="0" rIns="0" bIns="0" rtlCol="0" anchor="ctr"/>
          <a:lstStyle/>
          <a:p>
            <a:pPr algn="ctr" indent="0" marL="0">
              <a:buNone/>
            </a:pPr>
            <a:r>
              <a:rPr lang="en-US" sz="1900" b="1" dirty="0">
                <a:solidFill>
                  <a:schemeClr val="bg1"/>
                </a:solidFill>
              </a:rPr>
              <a:t>Notify</a:t>
            </a:r>
            <a:endParaRPr lang="en-US" sz="1900" dirty="0"/>
          </a:p>
        </p:txBody>
      </p:sp>
      <p:sp>
        <p:nvSpPr>
          <p:cNvPr id="17" name="Text 15"/>
          <p:cNvSpPr txBox="1"/>
          <p:nvPr/>
        </p:nvSpPr>
        <p:spPr>
          <a:xfrm>
            <a:off x="9454896" y="2468880"/>
            <a:ext cx="2011680" cy="822960"/>
          </a:xfrm>
          <a:prstGeom prst="rect">
            <a:avLst/>
          </a:prstGeom>
          <a:noFill/>
          <a:ln/>
        </p:spPr>
        <p:txBody>
          <a:bodyPr wrap="square" lIns="0" tIns="0" rIns="0" bIns="0" rtlCol="0" anchor="t"/>
          <a:lstStyle/>
          <a:p>
            <a:pPr algn="ctr" indent="0" marL="0">
              <a:buNone/>
            </a:pPr>
            <a:r>
              <a:rPr lang="en-US" sz="1500" dirty="0">
                <a:solidFill>
                  <a:schemeClr val="tx1"/>
                </a:solidFill>
              </a:rPr>
              <a:t>send, repeat, then send RESOLVED</a:t>
            </a:r>
            <a:endParaRPr lang="en-US" sz="1500" dirty="0"/>
          </a:p>
        </p:txBody>
      </p:sp>
      <p:sp>
        <p:nvSpPr>
          <p:cNvPr id="18" name="Text 16"/>
          <p:cNvSpPr txBox="1"/>
          <p:nvPr/>
        </p:nvSpPr>
        <p:spPr>
          <a:xfrm>
            <a:off x="548640" y="3611880"/>
            <a:ext cx="5486400" cy="411480"/>
          </a:xfrm>
          <a:prstGeom prst="rect">
            <a:avLst/>
          </a:prstGeom>
          <a:noFill/>
          <a:ln/>
        </p:spPr>
        <p:txBody>
          <a:bodyPr wrap="square" lIns="0" tIns="0" rIns="0" bIns="0" rtlCol="0" anchor="ctr"/>
          <a:lstStyle/>
          <a:p>
            <a:pPr indent="0" marL="0">
              <a:buNone/>
            </a:pPr>
            <a:r>
              <a:rPr lang="en-US" sz="2000" b="1" dirty="0">
                <a:solidFill>
                  <a:schemeClr val="tx1"/>
                </a:solidFill>
              </a:rPr>
              <a:t>Our routes</a:t>
            </a:r>
            <a:endParaRPr lang="en-US" sz="2000" dirty="0"/>
          </a:p>
        </p:txBody>
      </p:sp>
      <p:sp>
        <p:nvSpPr>
          <p:cNvPr id="19" name="route Critical"/>
          <p:cNvSpPr/>
          <p:nvPr/>
        </p:nvSpPr>
        <p:spPr>
          <a:xfrm>
            <a:off x="548640" y="4114800"/>
            <a:ext cx="3520440" cy="1783080"/>
          </a:xfrm>
          <a:prstGeom prst="roundRect">
            <a:avLst>
              <a:gd name="adj" fmla="val 6154"/>
            </a:avLst>
          </a:prstGeom>
          <a:solidFill>
            <a:schemeClr val="bg2"/>
          </a:solidFill>
          <a:ln/>
        </p:spPr>
      </p:sp>
      <p:sp>
        <p:nvSpPr>
          <p:cNvPr id="20" name="route Critical circle"/>
          <p:cNvSpPr/>
          <p:nvPr/>
        </p:nvSpPr>
        <p:spPr>
          <a:xfrm>
            <a:off x="822960" y="4389120"/>
            <a:ext cx="640080" cy="640080"/>
          </a:xfrm>
          <a:prstGeom prst="ellipse">
            <a:avLst/>
          </a:prstGeom>
          <a:solidFill>
            <a:schemeClr val="accent3"/>
          </a:solidFill>
          <a:ln/>
        </p:spPr>
      </p:sp>
      <p:pic>
        <p:nvPicPr>
          <p:cNvPr id="21" name="route Critical icon" descr="preencoded.png">    </p:cNvPr>
          <p:cNvPicPr>
            <a:picLocks noChangeAspect="1"/>
          </p:cNvPicPr>
          <p:nvPr/>
        </p:nvPicPr>
        <p:blipFill>
          <a:blip r:embed="rId1"/>
          <a:stretch>
            <a:fillRect/>
          </a:stretch>
        </p:blipFill>
        <p:spPr>
          <a:xfrm>
            <a:off x="978408" y="4544568"/>
            <a:ext cx="329184" cy="329184"/>
          </a:xfrm>
          <a:prstGeom prst="rect">
            <a:avLst/>
          </a:prstGeom>
        </p:spPr>
      </p:pic>
      <p:sp>
        <p:nvSpPr>
          <p:cNvPr id="22" name="Text 19"/>
          <p:cNvSpPr txBox="1"/>
          <p:nvPr/>
        </p:nvSpPr>
        <p:spPr>
          <a:xfrm>
            <a:off x="1645920" y="4389120"/>
            <a:ext cx="2286000" cy="640080"/>
          </a:xfrm>
          <a:prstGeom prst="rect">
            <a:avLst/>
          </a:prstGeom>
          <a:noFill/>
          <a:ln/>
        </p:spPr>
        <p:txBody>
          <a:bodyPr wrap="square" lIns="0" tIns="0" rIns="0" bIns="0" rtlCol="0" anchor="ctr"/>
          <a:lstStyle/>
          <a:p>
            <a:pPr indent="0" marL="0">
              <a:buNone/>
            </a:pPr>
            <a:r>
              <a:rPr lang="en-US" sz="1900" b="1" dirty="0">
                <a:solidFill>
                  <a:schemeClr val="accent3"/>
                </a:solidFill>
              </a:rPr>
              <a:t>Critical</a:t>
            </a:r>
            <a:endParaRPr lang="en-US" sz="1900" dirty="0"/>
          </a:p>
        </p:txBody>
      </p:sp>
      <p:sp>
        <p:nvSpPr>
          <p:cNvPr id="23" name="Text 20"/>
          <p:cNvSpPr txBox="1"/>
          <p:nvPr/>
        </p:nvSpPr>
        <p:spPr>
          <a:xfrm>
            <a:off x="822960" y="5166360"/>
            <a:ext cx="3063240" cy="640080"/>
          </a:xfrm>
          <a:prstGeom prst="rect">
            <a:avLst/>
          </a:prstGeom>
          <a:noFill/>
          <a:ln/>
        </p:spPr>
        <p:txBody>
          <a:bodyPr wrap="square" lIns="0" tIns="0" rIns="0" bIns="0" rtlCol="0" anchor="t"/>
          <a:lstStyle/>
          <a:p>
            <a:pPr indent="0" marL="0">
              <a:buNone/>
            </a:pPr>
            <a:r>
              <a:rPr lang="en-US" sz="1500" dirty="0">
                <a:solidFill>
                  <a:schemeClr val="tx1"/>
                </a:solidFill>
              </a:rPr>
              <a:t>email to on-call  +  #ops-chat</a:t>
            </a:r>
            <a:endParaRPr lang="en-US" sz="1500" dirty="0"/>
          </a:p>
        </p:txBody>
      </p:sp>
      <p:sp>
        <p:nvSpPr>
          <p:cNvPr id="24" name="route Warning"/>
          <p:cNvSpPr/>
          <p:nvPr/>
        </p:nvSpPr>
        <p:spPr>
          <a:xfrm>
            <a:off x="4297680" y="4114800"/>
            <a:ext cx="3520440" cy="1783080"/>
          </a:xfrm>
          <a:prstGeom prst="roundRect">
            <a:avLst>
              <a:gd name="adj" fmla="val 6154"/>
            </a:avLst>
          </a:prstGeom>
          <a:solidFill>
            <a:schemeClr val="bg2"/>
          </a:solidFill>
          <a:ln/>
        </p:spPr>
      </p:sp>
      <p:sp>
        <p:nvSpPr>
          <p:cNvPr id="25" name="route Warning circle"/>
          <p:cNvSpPr/>
          <p:nvPr/>
        </p:nvSpPr>
        <p:spPr>
          <a:xfrm>
            <a:off x="4572000" y="4389120"/>
            <a:ext cx="640080" cy="640080"/>
          </a:xfrm>
          <a:prstGeom prst="ellipse">
            <a:avLst/>
          </a:prstGeom>
          <a:solidFill>
            <a:schemeClr val="accent4"/>
          </a:solidFill>
          <a:ln/>
        </p:spPr>
      </p:sp>
      <p:pic>
        <p:nvPicPr>
          <p:cNvPr id="26" name="route Warning icon" descr="preencoded.png">    </p:cNvPr>
          <p:cNvPicPr>
            <a:picLocks noChangeAspect="1"/>
          </p:cNvPicPr>
          <p:nvPr/>
        </p:nvPicPr>
        <p:blipFill>
          <a:blip r:embed="rId2"/>
          <a:stretch>
            <a:fillRect/>
          </a:stretch>
        </p:blipFill>
        <p:spPr>
          <a:xfrm>
            <a:off x="4727448" y="4544568"/>
            <a:ext cx="329184" cy="329184"/>
          </a:xfrm>
          <a:prstGeom prst="rect">
            <a:avLst/>
          </a:prstGeom>
        </p:spPr>
      </p:pic>
      <p:sp>
        <p:nvSpPr>
          <p:cNvPr id="27" name="Text 23"/>
          <p:cNvSpPr txBox="1"/>
          <p:nvPr/>
        </p:nvSpPr>
        <p:spPr>
          <a:xfrm>
            <a:off x="5394960" y="4389120"/>
            <a:ext cx="2286000" cy="640080"/>
          </a:xfrm>
          <a:prstGeom prst="rect">
            <a:avLst/>
          </a:prstGeom>
          <a:noFill/>
          <a:ln/>
        </p:spPr>
        <p:txBody>
          <a:bodyPr wrap="square" lIns="0" tIns="0" rIns="0" bIns="0" rtlCol="0" anchor="ctr"/>
          <a:lstStyle/>
          <a:p>
            <a:pPr indent="0" marL="0">
              <a:buNone/>
            </a:pPr>
            <a:r>
              <a:rPr lang="en-US" sz="1900" b="1" dirty="0">
                <a:solidFill>
                  <a:schemeClr val="accent4"/>
                </a:solidFill>
              </a:rPr>
              <a:t>Warning</a:t>
            </a:r>
            <a:endParaRPr lang="en-US" sz="1900" dirty="0"/>
          </a:p>
        </p:txBody>
      </p:sp>
      <p:sp>
        <p:nvSpPr>
          <p:cNvPr id="28" name="Text 24"/>
          <p:cNvSpPr txBox="1"/>
          <p:nvPr/>
        </p:nvSpPr>
        <p:spPr>
          <a:xfrm>
            <a:off x="4572000" y="5166360"/>
            <a:ext cx="3063240" cy="640080"/>
          </a:xfrm>
          <a:prstGeom prst="rect">
            <a:avLst/>
          </a:prstGeom>
          <a:noFill/>
          <a:ln/>
        </p:spPr>
        <p:txBody>
          <a:bodyPr wrap="square" lIns="0" tIns="0" rIns="0" bIns="0" rtlCol="0" anchor="t"/>
          <a:lstStyle/>
          <a:p>
            <a:pPr indent="0" marL="0">
              <a:buNone/>
            </a:pPr>
            <a:r>
              <a:rPr lang="en-US" sz="1500" dirty="0">
                <a:solidFill>
                  <a:schemeClr val="tx1"/>
                </a:solidFill>
              </a:rPr>
              <a:t>#ops-chat only</a:t>
            </a:r>
            <a:endParaRPr lang="en-US" sz="1500" dirty="0"/>
          </a:p>
        </p:txBody>
      </p:sp>
      <p:sp>
        <p:nvSpPr>
          <p:cNvPr id="29" name="route Watchdog"/>
          <p:cNvSpPr/>
          <p:nvPr/>
        </p:nvSpPr>
        <p:spPr>
          <a:xfrm>
            <a:off x="8046720" y="4114800"/>
            <a:ext cx="3520440" cy="1783080"/>
          </a:xfrm>
          <a:prstGeom prst="roundRect">
            <a:avLst>
              <a:gd name="adj" fmla="val 6154"/>
            </a:avLst>
          </a:prstGeom>
          <a:solidFill>
            <a:schemeClr val="bg2"/>
          </a:solidFill>
          <a:ln/>
        </p:spPr>
      </p:sp>
      <p:sp>
        <p:nvSpPr>
          <p:cNvPr id="30" name="route Watchdog circle"/>
          <p:cNvSpPr/>
          <p:nvPr/>
        </p:nvSpPr>
        <p:spPr>
          <a:xfrm>
            <a:off x="8321040" y="4389120"/>
            <a:ext cx="640080" cy="640080"/>
          </a:xfrm>
          <a:prstGeom prst="ellipse">
            <a:avLst/>
          </a:prstGeom>
          <a:solidFill>
            <a:schemeClr val="accent2"/>
          </a:solidFill>
          <a:ln/>
        </p:spPr>
      </p:sp>
      <p:pic>
        <p:nvPicPr>
          <p:cNvPr id="31" name="route Watchdog icon" descr="preencoded.png">    </p:cNvPr>
          <p:cNvPicPr>
            <a:picLocks noChangeAspect="1"/>
          </p:cNvPicPr>
          <p:nvPr/>
        </p:nvPicPr>
        <p:blipFill>
          <a:blip r:embed="rId3"/>
          <a:stretch>
            <a:fillRect/>
          </a:stretch>
        </p:blipFill>
        <p:spPr>
          <a:xfrm>
            <a:off x="8476488" y="4544568"/>
            <a:ext cx="329184" cy="329184"/>
          </a:xfrm>
          <a:prstGeom prst="rect">
            <a:avLst/>
          </a:prstGeom>
        </p:spPr>
      </p:pic>
      <p:sp>
        <p:nvSpPr>
          <p:cNvPr id="32" name="Text 27"/>
          <p:cNvSpPr txBox="1"/>
          <p:nvPr/>
        </p:nvSpPr>
        <p:spPr>
          <a:xfrm>
            <a:off x="9144000" y="4389120"/>
            <a:ext cx="2286000" cy="640080"/>
          </a:xfrm>
          <a:prstGeom prst="rect">
            <a:avLst/>
          </a:prstGeom>
          <a:noFill/>
          <a:ln/>
        </p:spPr>
        <p:txBody>
          <a:bodyPr wrap="square" lIns="0" tIns="0" rIns="0" bIns="0" rtlCol="0" anchor="ctr"/>
          <a:lstStyle/>
          <a:p>
            <a:pPr indent="0" marL="0">
              <a:buNone/>
            </a:pPr>
            <a:r>
              <a:rPr lang="en-US" sz="1900" b="1" dirty="0">
                <a:solidFill>
                  <a:schemeClr val="accent2"/>
                </a:solidFill>
              </a:rPr>
              <a:t>Watchdog</a:t>
            </a:r>
            <a:endParaRPr lang="en-US" sz="1900" dirty="0"/>
          </a:p>
        </p:txBody>
      </p:sp>
      <p:sp>
        <p:nvSpPr>
          <p:cNvPr id="33" name="Text 28"/>
          <p:cNvSpPr txBox="1"/>
          <p:nvPr/>
        </p:nvSpPr>
        <p:spPr>
          <a:xfrm>
            <a:off x="8321040" y="5166360"/>
            <a:ext cx="3063240" cy="640080"/>
          </a:xfrm>
          <a:prstGeom prst="rect">
            <a:avLst/>
          </a:prstGeom>
          <a:noFill/>
          <a:ln/>
        </p:spPr>
        <p:txBody>
          <a:bodyPr wrap="square" lIns="0" tIns="0" rIns="0" bIns="0" rtlCol="0" anchor="t"/>
          <a:lstStyle/>
          <a:p>
            <a:pPr indent="0" marL="0">
              <a:buNone/>
            </a:pPr>
            <a:r>
              <a:rPr lang="en-US" sz="1500" dirty="0">
                <a:solidFill>
                  <a:schemeClr val="tx1"/>
                </a:solidFill>
              </a:rPr>
              <a:t>heartbeat endpoint, about once a minute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Our setup: ten containers, one command</a:t>
            </a:r>
            <a:endParaRPr lang="en-US" sz="3200" dirty="0"/>
          </a:p>
        </p:txBody>
      </p:sp>
      <p:pic>
        <p:nvPicPr>
          <p:cNvPr id="3" name="architecture diagram" descr="Architecture: traffic, OrderFlow API and Redis; blackbox exporter, cAdvisor and Redis exporter; Prometheus and Alertmanager; Mailpit and ops-chat">    </p:cNvPr>
          <p:cNvPicPr>
            <a:picLocks noChangeAspect="1"/>
          </p:cNvPicPr>
          <p:nvPr/>
        </p:nvPicPr>
        <p:blipFill>
          <a:blip r:embed="rId1"/>
          <a:stretch>
            <a:fillRect/>
          </a:stretch>
        </p:blipFill>
        <p:spPr>
          <a:xfrm>
            <a:off x="548640" y="1234440"/>
            <a:ext cx="7863840" cy="4983480"/>
          </a:xfrm>
          <a:prstGeom prst="rect">
            <a:avLst/>
          </a:prstGeom>
        </p:spPr>
      </p:pic>
      <p:sp>
        <p:nvSpPr>
          <p:cNvPr id="4" name="Text 1"/>
          <p:cNvSpPr txBox="1"/>
          <p:nvPr/>
        </p:nvSpPr>
        <p:spPr>
          <a:xfrm>
            <a:off x="8778240" y="1280160"/>
            <a:ext cx="29260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10</a:t>
            </a:r>
            <a:endParaRPr lang="en-US" sz="4000" dirty="0"/>
          </a:p>
        </p:txBody>
      </p:sp>
      <p:sp>
        <p:nvSpPr>
          <p:cNvPr id="5" name="Text 2"/>
          <p:cNvSpPr txBox="1"/>
          <p:nvPr/>
        </p:nvSpPr>
        <p:spPr>
          <a:xfrm>
            <a:off x="8778240" y="1938528"/>
            <a:ext cx="2926080" cy="365760"/>
          </a:xfrm>
          <a:prstGeom prst="rect">
            <a:avLst/>
          </a:prstGeom>
          <a:noFill/>
          <a:ln/>
        </p:spPr>
        <p:txBody>
          <a:bodyPr wrap="square" lIns="0" tIns="0" rIns="0" bIns="0" rtlCol="0" anchor="ctr"/>
          <a:lstStyle/>
          <a:p>
            <a:pPr indent="0" marL="0">
              <a:buNone/>
            </a:pPr>
            <a:r>
              <a:rPr lang="en-US" sz="1400" dirty="0">
                <a:solidFill>
                  <a:schemeClr val="accent5"/>
                </a:solidFill>
              </a:rPr>
              <a:t>containers via docker compose</a:t>
            </a:r>
            <a:endParaRPr lang="en-US" sz="1400" dirty="0"/>
          </a:p>
        </p:txBody>
      </p:sp>
      <p:sp>
        <p:nvSpPr>
          <p:cNvPr id="6" name="Text 3"/>
          <p:cNvSpPr txBox="1"/>
          <p:nvPr/>
        </p:nvSpPr>
        <p:spPr>
          <a:xfrm>
            <a:off x="8778240" y="2514600"/>
            <a:ext cx="29260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7</a:t>
            </a:r>
            <a:endParaRPr lang="en-US" sz="4000" dirty="0"/>
          </a:p>
        </p:txBody>
      </p:sp>
      <p:sp>
        <p:nvSpPr>
          <p:cNvPr id="7" name="Text 4"/>
          <p:cNvSpPr txBox="1"/>
          <p:nvPr/>
        </p:nvSpPr>
        <p:spPr>
          <a:xfrm>
            <a:off x="8778240" y="3172968"/>
            <a:ext cx="2926080" cy="365760"/>
          </a:xfrm>
          <a:prstGeom prst="rect">
            <a:avLst/>
          </a:prstGeom>
          <a:noFill/>
          <a:ln/>
        </p:spPr>
        <p:txBody>
          <a:bodyPr wrap="square" lIns="0" tIns="0" rIns="0" bIns="0" rtlCol="0" anchor="ctr"/>
          <a:lstStyle/>
          <a:p>
            <a:pPr indent="0" marL="0">
              <a:buNone/>
            </a:pPr>
            <a:r>
              <a:rPr lang="en-US" sz="1400" dirty="0">
                <a:solidFill>
                  <a:schemeClr val="accent5"/>
                </a:solidFill>
              </a:rPr>
              <a:t>scrape targets, every 5 s</a:t>
            </a:r>
            <a:endParaRPr lang="en-US" sz="1400" dirty="0"/>
          </a:p>
        </p:txBody>
      </p:sp>
      <p:sp>
        <p:nvSpPr>
          <p:cNvPr id="8" name="Text 5"/>
          <p:cNvSpPr txBox="1"/>
          <p:nvPr/>
        </p:nvSpPr>
        <p:spPr>
          <a:xfrm>
            <a:off x="8778240" y="3749040"/>
            <a:ext cx="29260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 + 11</a:t>
            </a:r>
            <a:endParaRPr lang="en-US" sz="4000" dirty="0"/>
          </a:p>
        </p:txBody>
      </p:sp>
      <p:sp>
        <p:nvSpPr>
          <p:cNvPr id="9" name="Text 6"/>
          <p:cNvSpPr txBox="1"/>
          <p:nvPr/>
        </p:nvSpPr>
        <p:spPr>
          <a:xfrm>
            <a:off x="8778240" y="4407408"/>
            <a:ext cx="2926080" cy="365760"/>
          </a:xfrm>
          <a:prstGeom prst="rect">
            <a:avLst/>
          </a:prstGeom>
          <a:noFill/>
          <a:ln/>
        </p:spPr>
        <p:txBody>
          <a:bodyPr wrap="square" lIns="0" tIns="0" rIns="0" bIns="0" rtlCol="0" anchor="ctr"/>
          <a:lstStyle/>
          <a:p>
            <a:pPr indent="0" marL="0">
              <a:buNone/>
            </a:pPr>
            <a:r>
              <a:rPr lang="en-US" sz="1400" dirty="0">
                <a:solidFill>
                  <a:schemeClr val="accent5"/>
                </a:solidFill>
              </a:rPr>
              <a:t>recording + alert rules</a:t>
            </a:r>
            <a:endParaRPr lang="en-US" sz="1400" dirty="0"/>
          </a:p>
        </p:txBody>
      </p:sp>
      <p:sp>
        <p:nvSpPr>
          <p:cNvPr id="10" name="Text 7"/>
          <p:cNvSpPr txBox="1"/>
          <p:nvPr/>
        </p:nvSpPr>
        <p:spPr>
          <a:xfrm>
            <a:off x="8778240" y="4983480"/>
            <a:ext cx="29260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11" name="Text 8"/>
          <p:cNvSpPr txBox="1"/>
          <p:nvPr/>
        </p:nvSpPr>
        <p:spPr>
          <a:xfrm>
            <a:off x="8778240" y="5641848"/>
            <a:ext cx="2926080" cy="365760"/>
          </a:xfrm>
          <a:prstGeom prst="rect">
            <a:avLst/>
          </a:prstGeom>
          <a:noFill/>
          <a:ln/>
        </p:spPr>
        <p:txBody>
          <a:bodyPr wrap="square" lIns="0" tIns="0" rIns="0" bIns="0" rtlCol="0" anchor="ctr"/>
          <a:lstStyle/>
          <a:p>
            <a:pPr indent="0" marL="0">
              <a:buNone/>
            </a:pPr>
            <a:r>
              <a:rPr lang="en-US" sz="1400" dirty="0">
                <a:solidFill>
                  <a:schemeClr val="accent5"/>
                </a:solidFill>
              </a:rPr>
              <a:t>receivers: email, chat, heartbeat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Three angles of monitoring</a:t>
            </a:r>
            <a:endParaRPr lang="en-US" sz="3200" dirty="0"/>
          </a:p>
        </p:txBody>
      </p:sp>
      <p:sp>
        <p:nvSpPr>
          <p:cNvPr id="3" name="angle White-box"/>
          <p:cNvSpPr/>
          <p:nvPr/>
        </p:nvSpPr>
        <p:spPr>
          <a:xfrm>
            <a:off x="548640" y="1325880"/>
            <a:ext cx="3520440" cy="4754880"/>
          </a:xfrm>
          <a:prstGeom prst="roundRect">
            <a:avLst>
              <a:gd name="adj" fmla="val 3117"/>
            </a:avLst>
          </a:prstGeom>
          <a:solidFill>
            <a:schemeClr val="bg2"/>
          </a:solidFill>
          <a:ln/>
        </p:spPr>
      </p:sp>
      <p:sp>
        <p:nvSpPr>
          <p:cNvPr id="4" name="angle White-box circle"/>
          <p:cNvSpPr/>
          <p:nvPr/>
        </p:nvSpPr>
        <p:spPr>
          <a:xfrm>
            <a:off x="822960" y="1554480"/>
            <a:ext cx="685800" cy="685800"/>
          </a:xfrm>
          <a:prstGeom prst="ellipse">
            <a:avLst/>
          </a:prstGeom>
          <a:solidFill>
            <a:schemeClr val="accent1"/>
          </a:solidFill>
          <a:ln/>
        </p:spPr>
      </p:sp>
      <p:pic>
        <p:nvPicPr>
          <p:cNvPr id="5" name="angle White-box icon" descr="preencoded.png">    </p:cNvPr>
          <p:cNvPicPr>
            <a:picLocks noChangeAspect="1"/>
          </p:cNvPicPr>
          <p:nvPr/>
        </p:nvPicPr>
        <p:blipFill>
          <a:blip r:embed="rId1"/>
          <a:stretch>
            <a:fillRect/>
          </a:stretch>
        </p:blipFill>
        <p:spPr>
          <a:xfrm>
            <a:off x="987552" y="1719072"/>
            <a:ext cx="356616" cy="356616"/>
          </a:xfrm>
          <a:prstGeom prst="rect">
            <a:avLst/>
          </a:prstGeom>
        </p:spPr>
      </p:pic>
      <p:sp>
        <p:nvSpPr>
          <p:cNvPr id="6" name="Text 3"/>
          <p:cNvSpPr txBox="1"/>
          <p:nvPr/>
        </p:nvSpPr>
        <p:spPr>
          <a:xfrm>
            <a:off x="1645920" y="1554480"/>
            <a:ext cx="2286000" cy="685800"/>
          </a:xfrm>
          <a:prstGeom prst="rect">
            <a:avLst/>
          </a:prstGeom>
          <a:noFill/>
          <a:ln/>
        </p:spPr>
        <p:txBody>
          <a:bodyPr wrap="square" lIns="0" tIns="0" rIns="0" bIns="0" rtlCol="0" anchor="ctr"/>
          <a:lstStyle/>
          <a:p>
            <a:pPr indent="0" marL="0">
              <a:buNone/>
            </a:pPr>
            <a:r>
              <a:rPr lang="en-US" sz="2100" b="1" dirty="0">
                <a:solidFill>
                  <a:schemeClr val="tx1"/>
                </a:solidFill>
              </a:rPr>
              <a:t>White-box</a:t>
            </a:r>
            <a:endParaRPr lang="en-US" sz="2100" dirty="0"/>
          </a:p>
        </p:txBody>
      </p:sp>
      <p:sp>
        <p:nvSpPr>
          <p:cNvPr id="7" name="Text 4"/>
          <p:cNvSpPr txBox="1"/>
          <p:nvPr/>
        </p:nvSpPr>
        <p:spPr>
          <a:xfrm>
            <a:off x="822960" y="2423160"/>
            <a:ext cx="3017520" cy="868680"/>
          </a:xfrm>
          <a:prstGeom prst="rect">
            <a:avLst/>
          </a:prstGeom>
          <a:noFill/>
          <a:ln/>
        </p:spPr>
        <p:txBody>
          <a:bodyPr wrap="square" lIns="0" tIns="0" rIns="0" bIns="0" rtlCol="0" anchor="t"/>
          <a:lstStyle/>
          <a:p>
            <a:pPr indent="0" marL="0">
              <a:buNone/>
            </a:pPr>
            <a:r>
              <a:rPr lang="en-US" sz="1500" dirty="0">
                <a:solidFill>
                  <a:schemeClr val="tx1"/>
                </a:solidFill>
              </a:rPr>
              <a:t>the app reports on itself through /metrics</a:t>
            </a:r>
            <a:endParaRPr lang="en-US" sz="1500" dirty="0"/>
          </a:p>
        </p:txBody>
      </p:sp>
      <p:sp>
        <p:nvSpPr>
          <p:cNvPr id="8" name="Text 5"/>
          <p:cNvSpPr txBox="1"/>
          <p:nvPr/>
        </p:nvSpPr>
        <p:spPr>
          <a:xfrm>
            <a:off x="822960" y="3383280"/>
            <a:ext cx="3017520" cy="320040"/>
          </a:xfrm>
          <a:prstGeom prst="rect">
            <a:avLst/>
          </a:prstGeom>
          <a:noFill/>
          <a:ln/>
        </p:spPr>
        <p:txBody>
          <a:bodyPr wrap="square" lIns="0" tIns="0" rIns="0" bIns="0" rtlCol="0" anchor="ctr"/>
          <a:lstStyle/>
          <a:p>
            <a:pPr indent="0" marL="0">
              <a:buNone/>
            </a:pPr>
            <a:r>
              <a:rPr lang="en-US" sz="1400" b="1" dirty="0">
                <a:solidFill>
                  <a:schemeClr val="accent1"/>
                </a:solidFill>
              </a:rPr>
              <a:t>Sees</a:t>
            </a:r>
            <a:endParaRPr lang="en-US" sz="1400" dirty="0"/>
          </a:p>
        </p:txBody>
      </p:sp>
      <p:sp>
        <p:nvSpPr>
          <p:cNvPr id="9" name="Text 6"/>
          <p:cNvSpPr txBox="1"/>
          <p:nvPr/>
        </p:nvSpPr>
        <p:spPr>
          <a:xfrm>
            <a:off x="822960" y="3703320"/>
            <a:ext cx="3017520" cy="777240"/>
          </a:xfrm>
          <a:prstGeom prst="rect">
            <a:avLst/>
          </a:prstGeom>
          <a:noFill/>
          <a:ln/>
        </p:spPr>
        <p:txBody>
          <a:bodyPr wrap="square" lIns="0" tIns="0" rIns="0" bIns="0" rtlCol="0" anchor="t"/>
          <a:lstStyle/>
          <a:p>
            <a:pPr indent="0" marL="0">
              <a:buNone/>
            </a:pPr>
            <a:r>
              <a:rPr lang="en-US" sz="1500" dirty="0">
                <a:solidFill>
                  <a:schemeClr val="accent5"/>
                </a:solidFill>
              </a:rPr>
              <a:t>request counts, latency histogram, Redis status</a:t>
            </a:r>
            <a:endParaRPr lang="en-US" sz="1500" dirty="0"/>
          </a:p>
        </p:txBody>
      </p:sp>
      <p:sp>
        <p:nvSpPr>
          <p:cNvPr id="10" name="Text 7"/>
          <p:cNvSpPr txBox="1"/>
          <p:nvPr/>
        </p:nvSpPr>
        <p:spPr>
          <a:xfrm>
            <a:off x="822960" y="4572000"/>
            <a:ext cx="3017520" cy="320040"/>
          </a:xfrm>
          <a:prstGeom prst="rect">
            <a:avLst/>
          </a:prstGeom>
          <a:noFill/>
          <a:ln/>
        </p:spPr>
        <p:txBody>
          <a:bodyPr wrap="square" lIns="0" tIns="0" rIns="0" bIns="0" rtlCol="0" anchor="ctr"/>
          <a:lstStyle/>
          <a:p>
            <a:pPr indent="0" marL="0">
              <a:buNone/>
            </a:pPr>
            <a:r>
              <a:rPr lang="en-US" sz="1400" b="1" dirty="0">
                <a:solidFill>
                  <a:schemeClr val="accent1"/>
                </a:solidFill>
              </a:rPr>
              <a:t>Catches</a:t>
            </a:r>
            <a:endParaRPr lang="en-US" sz="1400" dirty="0"/>
          </a:p>
        </p:txBody>
      </p:sp>
      <p:sp>
        <p:nvSpPr>
          <p:cNvPr id="11" name="Text 8"/>
          <p:cNvSpPr txBox="1"/>
          <p:nvPr/>
        </p:nvSpPr>
        <p:spPr>
          <a:xfrm>
            <a:off x="822960" y="4892040"/>
            <a:ext cx="3017520" cy="1005840"/>
          </a:xfrm>
          <a:prstGeom prst="rect">
            <a:avLst/>
          </a:prstGeom>
          <a:noFill/>
          <a:ln/>
        </p:spPr>
        <p:txBody>
          <a:bodyPr wrap="square" lIns="0" tIns="0" rIns="0" bIns="0" rtlCol="0" anchor="t"/>
          <a:lstStyle/>
          <a:p>
            <a:pPr indent="0" marL="0">
              <a:buNone/>
            </a:pPr>
            <a:r>
              <a:rPr lang="en-US" sz="1500" dirty="0">
                <a:solidFill>
                  <a:schemeClr val="accent5"/>
                </a:solidFill>
              </a:rPr>
              <a:t>error spikes and slowness</a:t>
            </a:r>
            <a:endParaRPr lang="en-US" sz="1500" dirty="0"/>
          </a:p>
        </p:txBody>
      </p:sp>
      <p:sp>
        <p:nvSpPr>
          <p:cNvPr id="12" name="angle Black-box"/>
          <p:cNvSpPr/>
          <p:nvPr/>
        </p:nvSpPr>
        <p:spPr>
          <a:xfrm>
            <a:off x="4297680" y="1325880"/>
            <a:ext cx="3520440" cy="4754880"/>
          </a:xfrm>
          <a:prstGeom prst="roundRect">
            <a:avLst>
              <a:gd name="adj" fmla="val 3117"/>
            </a:avLst>
          </a:prstGeom>
          <a:solidFill>
            <a:schemeClr val="bg2"/>
          </a:solidFill>
          <a:ln/>
        </p:spPr>
      </p:sp>
      <p:sp>
        <p:nvSpPr>
          <p:cNvPr id="13" name="angle Black-box circle"/>
          <p:cNvSpPr/>
          <p:nvPr/>
        </p:nvSpPr>
        <p:spPr>
          <a:xfrm>
            <a:off x="4572000" y="1554480"/>
            <a:ext cx="685800" cy="685800"/>
          </a:xfrm>
          <a:prstGeom prst="ellipse">
            <a:avLst/>
          </a:prstGeom>
          <a:solidFill>
            <a:schemeClr val="accent1"/>
          </a:solidFill>
          <a:ln/>
        </p:spPr>
      </p:sp>
      <p:pic>
        <p:nvPicPr>
          <p:cNvPr id="14" name="angle Black-box icon" descr="preencoded.png">    </p:cNvPr>
          <p:cNvPicPr>
            <a:picLocks noChangeAspect="1"/>
          </p:cNvPicPr>
          <p:nvPr/>
        </p:nvPicPr>
        <p:blipFill>
          <a:blip r:embed="rId2"/>
          <a:stretch>
            <a:fillRect/>
          </a:stretch>
        </p:blipFill>
        <p:spPr>
          <a:xfrm>
            <a:off x="4736592" y="1719072"/>
            <a:ext cx="356616" cy="356616"/>
          </a:xfrm>
          <a:prstGeom prst="rect">
            <a:avLst/>
          </a:prstGeom>
        </p:spPr>
      </p:pic>
      <p:sp>
        <p:nvSpPr>
          <p:cNvPr id="15" name="Text 11"/>
          <p:cNvSpPr txBox="1"/>
          <p:nvPr/>
        </p:nvSpPr>
        <p:spPr>
          <a:xfrm>
            <a:off x="5394960" y="1554480"/>
            <a:ext cx="2286000" cy="685800"/>
          </a:xfrm>
          <a:prstGeom prst="rect">
            <a:avLst/>
          </a:prstGeom>
          <a:noFill/>
          <a:ln/>
        </p:spPr>
        <p:txBody>
          <a:bodyPr wrap="square" lIns="0" tIns="0" rIns="0" bIns="0" rtlCol="0" anchor="ctr"/>
          <a:lstStyle/>
          <a:p>
            <a:pPr indent="0" marL="0">
              <a:buNone/>
            </a:pPr>
            <a:r>
              <a:rPr lang="en-US" sz="2100" b="1" dirty="0">
                <a:solidFill>
                  <a:schemeClr val="tx1"/>
                </a:solidFill>
              </a:rPr>
              <a:t>Black-box</a:t>
            </a:r>
            <a:endParaRPr lang="en-US" sz="2100" dirty="0"/>
          </a:p>
        </p:txBody>
      </p:sp>
      <p:sp>
        <p:nvSpPr>
          <p:cNvPr id="16" name="Text 12"/>
          <p:cNvSpPr txBox="1"/>
          <p:nvPr/>
        </p:nvSpPr>
        <p:spPr>
          <a:xfrm>
            <a:off x="4572000" y="2423160"/>
            <a:ext cx="3017520" cy="868680"/>
          </a:xfrm>
          <a:prstGeom prst="rect">
            <a:avLst/>
          </a:prstGeom>
          <a:noFill/>
          <a:ln/>
        </p:spPr>
        <p:txBody>
          <a:bodyPr wrap="square" lIns="0" tIns="0" rIns="0" bIns="0" rtlCol="0" anchor="t"/>
          <a:lstStyle/>
          <a:p>
            <a:pPr indent="0" marL="0">
              <a:buNone/>
            </a:pPr>
            <a:r>
              <a:rPr lang="en-US" sz="1500" dirty="0">
                <a:solidFill>
                  <a:schemeClr val="tx1"/>
                </a:solidFill>
              </a:rPr>
              <a:t>the blackbox exporter calls /health and /ready like a user</a:t>
            </a:r>
            <a:endParaRPr lang="en-US" sz="1500" dirty="0"/>
          </a:p>
        </p:txBody>
      </p:sp>
      <p:sp>
        <p:nvSpPr>
          <p:cNvPr id="17" name="Text 13"/>
          <p:cNvSpPr txBox="1"/>
          <p:nvPr/>
        </p:nvSpPr>
        <p:spPr>
          <a:xfrm>
            <a:off x="4572000" y="3383280"/>
            <a:ext cx="3017520" cy="320040"/>
          </a:xfrm>
          <a:prstGeom prst="rect">
            <a:avLst/>
          </a:prstGeom>
          <a:noFill/>
          <a:ln/>
        </p:spPr>
        <p:txBody>
          <a:bodyPr wrap="square" lIns="0" tIns="0" rIns="0" bIns="0" rtlCol="0" anchor="ctr"/>
          <a:lstStyle/>
          <a:p>
            <a:pPr indent="0" marL="0">
              <a:buNone/>
            </a:pPr>
            <a:r>
              <a:rPr lang="en-US" sz="1400" b="1" dirty="0">
                <a:solidFill>
                  <a:schemeClr val="accent1"/>
                </a:solidFill>
              </a:rPr>
              <a:t>Sees</a:t>
            </a:r>
            <a:endParaRPr lang="en-US" sz="1400" dirty="0"/>
          </a:p>
        </p:txBody>
      </p:sp>
      <p:sp>
        <p:nvSpPr>
          <p:cNvPr id="18" name="Text 14"/>
          <p:cNvSpPr txBox="1"/>
          <p:nvPr/>
        </p:nvSpPr>
        <p:spPr>
          <a:xfrm>
            <a:off x="4572000" y="3703320"/>
            <a:ext cx="3017520" cy="777240"/>
          </a:xfrm>
          <a:prstGeom prst="rect">
            <a:avLst/>
          </a:prstGeom>
          <a:noFill/>
          <a:ln/>
        </p:spPr>
        <p:txBody>
          <a:bodyPr wrap="square" lIns="0" tIns="0" rIns="0" bIns="0" rtlCol="0" anchor="t"/>
          <a:lstStyle/>
          <a:p>
            <a:pPr indent="0" marL="0">
              <a:buNone/>
            </a:pPr>
            <a:r>
              <a:rPr lang="en-US" sz="1500" dirty="0">
                <a:solidFill>
                  <a:schemeClr val="accent5"/>
                </a:solidFill>
              </a:rPr>
              <a:t>probe_success, probe duration</a:t>
            </a:r>
            <a:endParaRPr lang="en-US" sz="1500" dirty="0"/>
          </a:p>
        </p:txBody>
      </p:sp>
      <p:sp>
        <p:nvSpPr>
          <p:cNvPr id="19" name="Text 15"/>
          <p:cNvSpPr txBox="1"/>
          <p:nvPr/>
        </p:nvSpPr>
        <p:spPr>
          <a:xfrm>
            <a:off x="4572000" y="4572000"/>
            <a:ext cx="3017520" cy="320040"/>
          </a:xfrm>
          <a:prstGeom prst="rect">
            <a:avLst/>
          </a:prstGeom>
          <a:noFill/>
          <a:ln/>
        </p:spPr>
        <p:txBody>
          <a:bodyPr wrap="square" lIns="0" tIns="0" rIns="0" bIns="0" rtlCol="0" anchor="ctr"/>
          <a:lstStyle/>
          <a:p>
            <a:pPr indent="0" marL="0">
              <a:buNone/>
            </a:pPr>
            <a:r>
              <a:rPr lang="en-US" sz="1400" b="1" dirty="0">
                <a:solidFill>
                  <a:schemeClr val="accent1"/>
                </a:solidFill>
              </a:rPr>
              <a:t>Catches</a:t>
            </a:r>
            <a:endParaRPr lang="en-US" sz="1400" dirty="0"/>
          </a:p>
        </p:txBody>
      </p:sp>
      <p:sp>
        <p:nvSpPr>
          <p:cNvPr id="20" name="Text 16"/>
          <p:cNvSpPr txBox="1"/>
          <p:nvPr/>
        </p:nvSpPr>
        <p:spPr>
          <a:xfrm>
            <a:off x="4572000" y="4892040"/>
            <a:ext cx="3017520" cy="1005840"/>
          </a:xfrm>
          <a:prstGeom prst="rect">
            <a:avLst/>
          </a:prstGeom>
          <a:noFill/>
          <a:ln/>
        </p:spPr>
        <p:txBody>
          <a:bodyPr wrap="square" lIns="0" tIns="0" rIns="0" bIns="0" rtlCol="0" anchor="t"/>
          <a:lstStyle/>
          <a:p>
            <a:pPr indent="0" marL="0">
              <a:buNone/>
            </a:pPr>
            <a:r>
              <a:rPr lang="en-US" sz="1500" dirty="0">
                <a:solidFill>
                  <a:schemeClr val="accent5"/>
                </a:solidFill>
              </a:rPr>
              <a:t>a hang: /metrics still answers (up = 1) but users time out</a:t>
            </a:r>
            <a:endParaRPr lang="en-US" sz="1500" dirty="0"/>
          </a:p>
        </p:txBody>
      </p:sp>
      <p:sp>
        <p:nvSpPr>
          <p:cNvPr id="21" name="angle Container-level"/>
          <p:cNvSpPr/>
          <p:nvPr/>
        </p:nvSpPr>
        <p:spPr>
          <a:xfrm>
            <a:off x="8046720" y="1325880"/>
            <a:ext cx="3520440" cy="4754880"/>
          </a:xfrm>
          <a:prstGeom prst="roundRect">
            <a:avLst>
              <a:gd name="adj" fmla="val 3117"/>
            </a:avLst>
          </a:prstGeom>
          <a:solidFill>
            <a:schemeClr val="bg2"/>
          </a:solidFill>
          <a:ln/>
        </p:spPr>
      </p:sp>
      <p:sp>
        <p:nvSpPr>
          <p:cNvPr id="22" name="angle Container-level circle"/>
          <p:cNvSpPr/>
          <p:nvPr/>
        </p:nvSpPr>
        <p:spPr>
          <a:xfrm>
            <a:off x="8321040" y="1554480"/>
            <a:ext cx="685800" cy="685800"/>
          </a:xfrm>
          <a:prstGeom prst="ellipse">
            <a:avLst/>
          </a:prstGeom>
          <a:solidFill>
            <a:schemeClr val="accent1"/>
          </a:solidFill>
          <a:ln/>
        </p:spPr>
      </p:sp>
      <p:pic>
        <p:nvPicPr>
          <p:cNvPr id="23" name="angle Container-level icon" descr="preencoded.png">    </p:cNvPr>
          <p:cNvPicPr>
            <a:picLocks noChangeAspect="1"/>
          </p:cNvPicPr>
          <p:nvPr/>
        </p:nvPicPr>
        <p:blipFill>
          <a:blip r:embed="rId3"/>
          <a:stretch>
            <a:fillRect/>
          </a:stretch>
        </p:blipFill>
        <p:spPr>
          <a:xfrm>
            <a:off x="8485632" y="1719072"/>
            <a:ext cx="356616" cy="356616"/>
          </a:xfrm>
          <a:prstGeom prst="rect">
            <a:avLst/>
          </a:prstGeom>
        </p:spPr>
      </p:pic>
      <p:sp>
        <p:nvSpPr>
          <p:cNvPr id="24" name="Text 19"/>
          <p:cNvSpPr txBox="1"/>
          <p:nvPr/>
        </p:nvSpPr>
        <p:spPr>
          <a:xfrm>
            <a:off x="9144000" y="1554480"/>
            <a:ext cx="2286000" cy="685800"/>
          </a:xfrm>
          <a:prstGeom prst="rect">
            <a:avLst/>
          </a:prstGeom>
          <a:noFill/>
          <a:ln/>
        </p:spPr>
        <p:txBody>
          <a:bodyPr wrap="square" lIns="0" tIns="0" rIns="0" bIns="0" rtlCol="0" anchor="ctr"/>
          <a:lstStyle/>
          <a:p>
            <a:pPr indent="0" marL="0">
              <a:buNone/>
            </a:pPr>
            <a:r>
              <a:rPr lang="en-US" sz="2100" b="1" dirty="0">
                <a:solidFill>
                  <a:schemeClr val="tx1"/>
                </a:solidFill>
              </a:rPr>
              <a:t>Container-level</a:t>
            </a:r>
            <a:endParaRPr lang="en-US" sz="2100" dirty="0"/>
          </a:p>
        </p:txBody>
      </p:sp>
      <p:sp>
        <p:nvSpPr>
          <p:cNvPr id="25" name="Text 20"/>
          <p:cNvSpPr txBox="1"/>
          <p:nvPr/>
        </p:nvSpPr>
        <p:spPr>
          <a:xfrm>
            <a:off x="8321040" y="2423160"/>
            <a:ext cx="3017520" cy="868680"/>
          </a:xfrm>
          <a:prstGeom prst="rect">
            <a:avLst/>
          </a:prstGeom>
          <a:noFill/>
          <a:ln/>
        </p:spPr>
        <p:txBody>
          <a:bodyPr wrap="square" lIns="0" tIns="0" rIns="0" bIns="0" rtlCol="0" anchor="t"/>
          <a:lstStyle/>
          <a:p>
            <a:pPr indent="0" marL="0">
              <a:buNone/>
            </a:pPr>
            <a:r>
              <a:rPr lang="en-US" sz="1500" dirty="0">
                <a:solidFill>
                  <a:schemeClr val="tx1"/>
                </a:solidFill>
              </a:rPr>
              <a:t>cAdvisor reads every container's cgroups</a:t>
            </a:r>
            <a:endParaRPr lang="en-US" sz="1500" dirty="0"/>
          </a:p>
        </p:txBody>
      </p:sp>
      <p:sp>
        <p:nvSpPr>
          <p:cNvPr id="26" name="Text 21"/>
          <p:cNvSpPr txBox="1"/>
          <p:nvPr/>
        </p:nvSpPr>
        <p:spPr>
          <a:xfrm>
            <a:off x="8321040" y="3383280"/>
            <a:ext cx="3017520" cy="320040"/>
          </a:xfrm>
          <a:prstGeom prst="rect">
            <a:avLst/>
          </a:prstGeom>
          <a:noFill/>
          <a:ln/>
        </p:spPr>
        <p:txBody>
          <a:bodyPr wrap="square" lIns="0" tIns="0" rIns="0" bIns="0" rtlCol="0" anchor="ctr"/>
          <a:lstStyle/>
          <a:p>
            <a:pPr indent="0" marL="0">
              <a:buNone/>
            </a:pPr>
            <a:r>
              <a:rPr lang="en-US" sz="1400" b="1" dirty="0">
                <a:solidFill>
                  <a:schemeClr val="accent1"/>
                </a:solidFill>
              </a:rPr>
              <a:t>Sees</a:t>
            </a:r>
            <a:endParaRPr lang="en-US" sz="1400" dirty="0"/>
          </a:p>
        </p:txBody>
      </p:sp>
      <p:sp>
        <p:nvSpPr>
          <p:cNvPr id="27" name="Text 22"/>
          <p:cNvSpPr txBox="1"/>
          <p:nvPr/>
        </p:nvSpPr>
        <p:spPr>
          <a:xfrm>
            <a:off x="8321040" y="3703320"/>
            <a:ext cx="3017520" cy="777240"/>
          </a:xfrm>
          <a:prstGeom prst="rect">
            <a:avLst/>
          </a:prstGeom>
          <a:noFill/>
          <a:ln/>
        </p:spPr>
        <p:txBody>
          <a:bodyPr wrap="square" lIns="0" tIns="0" rIns="0" bIns="0" rtlCol="0" anchor="t"/>
          <a:lstStyle/>
          <a:p>
            <a:pPr indent="0" marL="0">
              <a:buNone/>
            </a:pPr>
            <a:r>
              <a:rPr lang="en-US" sz="1500" dirty="0">
                <a:solidFill>
                  <a:schemeClr val="accent5"/>
                </a:solidFill>
              </a:rPr>
              <a:t>memory vs limit, CPU throttling, OOM kills, restarts</a:t>
            </a:r>
            <a:endParaRPr lang="en-US" sz="1500" dirty="0"/>
          </a:p>
        </p:txBody>
      </p:sp>
      <p:sp>
        <p:nvSpPr>
          <p:cNvPr id="28" name="Text 23"/>
          <p:cNvSpPr txBox="1"/>
          <p:nvPr/>
        </p:nvSpPr>
        <p:spPr>
          <a:xfrm>
            <a:off x="8321040" y="4572000"/>
            <a:ext cx="3017520" cy="320040"/>
          </a:xfrm>
          <a:prstGeom prst="rect">
            <a:avLst/>
          </a:prstGeom>
          <a:noFill/>
          <a:ln/>
        </p:spPr>
        <p:txBody>
          <a:bodyPr wrap="square" lIns="0" tIns="0" rIns="0" bIns="0" rtlCol="0" anchor="ctr"/>
          <a:lstStyle/>
          <a:p>
            <a:pPr indent="0" marL="0">
              <a:buNone/>
            </a:pPr>
            <a:r>
              <a:rPr lang="en-US" sz="1400" b="1" dirty="0">
                <a:solidFill>
                  <a:schemeClr val="accent1"/>
                </a:solidFill>
              </a:rPr>
              <a:t>Catches</a:t>
            </a:r>
            <a:endParaRPr lang="en-US" sz="1400" dirty="0"/>
          </a:p>
        </p:txBody>
      </p:sp>
      <p:sp>
        <p:nvSpPr>
          <p:cNvPr id="29" name="Text 24"/>
          <p:cNvSpPr txBox="1"/>
          <p:nvPr/>
        </p:nvSpPr>
        <p:spPr>
          <a:xfrm>
            <a:off x="8321040" y="4892040"/>
            <a:ext cx="3017520" cy="1005840"/>
          </a:xfrm>
          <a:prstGeom prst="rect">
            <a:avLst/>
          </a:prstGeom>
          <a:noFill/>
          <a:ln/>
        </p:spPr>
        <p:txBody>
          <a:bodyPr wrap="square" lIns="0" tIns="0" rIns="0" bIns="0" rtlCol="0" anchor="t"/>
          <a:lstStyle/>
          <a:p>
            <a:pPr indent="0" marL="0">
              <a:buNone/>
            </a:pPr>
            <a:r>
              <a:rPr lang="en-US" sz="1500" dirty="0">
                <a:solidFill>
                  <a:schemeClr val="accent5"/>
                </a:solidFill>
              </a:rPr>
              <a:t>leaks, OOM kills, CPU starvation, crashes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Eleven alert rules</a:t>
            </a:r>
            <a:endParaRPr lang="en-US" sz="3200" dirty="0"/>
          </a:p>
        </p:txBody>
      </p:sp>
      <p:graphicFrame>
        <p:nvGraphicFramePr>
          <p:cNvPr id="9" name="alert rules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91840"/>
                <a:gridCol w="6309360"/>
                <a:gridCol w="1463040"/>
              </a:tblGrid>
              <a:tr h="384048">
                <a:tc>
                  <a:txBody>
                    <a:bodyPr/>
                    <a:lstStyle/>
                    <a:p>
                      <a:pPr indent="0" marL="0">
                        <a:buNone/>
                      </a:pPr>
                      <a:r>
                        <a:rPr lang="en-US" sz="1400" b="1" dirty="0">
                          <a:solidFill>
                            <a:schemeClr val="bg1"/>
                          </a:solidFill>
                        </a:rPr>
                        <a:t>Alert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Fires when</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Severity</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8404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ServiceDown</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up == 0 for 30 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3"/>
                          </a:solidFill>
                        </a:rPr>
                        <a:t>critical</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EndpointDown</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black-box probe of /health fails for 40 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3"/>
                          </a:solidFill>
                        </a:rPr>
                        <a:t>critical</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DependencyDown</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Redis down, or its exporter unreachable, for 15 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3"/>
                          </a:solidFill>
                        </a:rPr>
                        <a:t>critical</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HighErrorRate</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more than 10% of requests return 5xx, for 30 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3"/>
                          </a:solidFill>
                        </a:rPr>
                        <a:t>critical</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ContainerOOMKilled</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the kernel killed a process for using too much memory</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3"/>
                          </a:solidFill>
                        </a:rPr>
                        <a:t>critical</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ServiceNotReady</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/ready probe fails for 45 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4"/>
                          </a:solidFill>
                        </a:rPr>
                        <a:t>warning</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HighLatencyP95</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p95 latency above 500 ms for 1 min</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4"/>
                          </a:solidFill>
                        </a:rPr>
                        <a:t>warning</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ContainerMemoryNearLimit</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memory above 80% of the container limit for 15 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4"/>
                          </a:solidFill>
                        </a:rPr>
                        <a:t>warning</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ContainerCPUThrottled</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throttled in more than half of CPU periods for 30 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4"/>
                          </a:solidFill>
                        </a:rPr>
                        <a:t>warning</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ContainerRestarted</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 container started again in the last 5 min</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4"/>
                          </a:solidFill>
                        </a:rPr>
                        <a:t>warning</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Watchdog</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always firing: proves the alert path works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5"/>
                          </a:solidFill>
                        </a:rPr>
                        <a:t>none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One message per incident</a:t>
            </a:r>
            <a:endParaRPr lang="en-US" sz="3200" dirty="0"/>
          </a:p>
        </p:txBody>
      </p:sp>
      <p:sp>
        <p:nvSpPr>
          <p:cNvPr id="3" name="Text 1"/>
          <p:cNvSpPr txBox="1"/>
          <p:nvPr/>
        </p:nvSpPr>
        <p:spPr>
          <a:xfrm>
            <a:off x="548640" y="1371600"/>
            <a:ext cx="4206240" cy="411480"/>
          </a:xfrm>
          <a:prstGeom prst="rect">
            <a:avLst/>
          </a:prstGeom>
          <a:noFill/>
          <a:ln/>
        </p:spPr>
        <p:txBody>
          <a:bodyPr wrap="square" lIns="0" tIns="0" rIns="0" bIns="0" rtlCol="0" anchor="ctr"/>
          <a:lstStyle/>
          <a:p>
            <a:pPr indent="0" marL="0">
              <a:buNone/>
            </a:pPr>
            <a:r>
              <a:rPr lang="en-US" sz="1800" b="1" dirty="0">
                <a:solidFill>
                  <a:schemeClr val="tx1"/>
                </a:solidFill>
              </a:rPr>
              <a:t>Redis stopped:</a:t>
            </a:r>
            <a:endParaRPr lang="en-US" sz="1800" dirty="0"/>
          </a:p>
        </p:txBody>
      </p:sp>
      <p:sp>
        <p:nvSpPr>
          <p:cNvPr id="4" name="firing DependencyDown"/>
          <p:cNvSpPr/>
          <p:nvPr/>
        </p:nvSpPr>
        <p:spPr>
          <a:xfrm>
            <a:off x="548640" y="1874520"/>
            <a:ext cx="2377440" cy="411480"/>
          </a:xfrm>
          <a:prstGeom prst="roundRect">
            <a:avLst>
              <a:gd name="adj" fmla="val 26667"/>
            </a:avLst>
          </a:prstGeom>
          <a:solidFill>
            <a:schemeClr val="accent1"/>
          </a:solidFill>
          <a:ln/>
        </p:spPr>
      </p:sp>
      <p:sp>
        <p:nvSpPr>
          <p:cNvPr id="5" name="Text 3"/>
          <p:cNvSpPr txBox="1"/>
          <p:nvPr/>
        </p:nvSpPr>
        <p:spPr>
          <a:xfrm>
            <a:off x="685800" y="1874520"/>
            <a:ext cx="2194560" cy="411480"/>
          </a:xfrm>
          <a:prstGeom prst="rect">
            <a:avLst/>
          </a:prstGeom>
          <a:noFill/>
          <a:ln/>
        </p:spPr>
        <p:txBody>
          <a:bodyPr wrap="square" lIns="0" tIns="0" rIns="0" bIns="0" rtlCol="0" anchor="ctr"/>
          <a:lstStyle/>
          <a:p>
            <a:pPr indent="0" marL="0">
              <a:buNone/>
            </a:pPr>
            <a:r>
              <a:rPr lang="en-US" sz="1400" b="1" dirty="0">
                <a:solidFill>
                  <a:schemeClr val="bg1"/>
                </a:solidFill>
              </a:rPr>
              <a:t>DependencyDown</a:t>
            </a:r>
            <a:endParaRPr lang="en-US" sz="1400" dirty="0"/>
          </a:p>
        </p:txBody>
      </p:sp>
      <p:sp>
        <p:nvSpPr>
          <p:cNvPr id="6" name="firing HighErrorRate"/>
          <p:cNvSpPr/>
          <p:nvPr/>
        </p:nvSpPr>
        <p:spPr>
          <a:xfrm>
            <a:off x="548640" y="2377440"/>
            <a:ext cx="2377440" cy="411480"/>
          </a:xfrm>
          <a:prstGeom prst="roundRect">
            <a:avLst>
              <a:gd name="adj" fmla="val 26667"/>
            </a:avLst>
          </a:prstGeom>
          <a:solidFill>
            <a:schemeClr val="bg2"/>
          </a:solidFill>
          <a:ln/>
        </p:spPr>
      </p:sp>
      <p:sp>
        <p:nvSpPr>
          <p:cNvPr id="7" name="Text 5"/>
          <p:cNvSpPr txBox="1"/>
          <p:nvPr/>
        </p:nvSpPr>
        <p:spPr>
          <a:xfrm>
            <a:off x="685800" y="2377440"/>
            <a:ext cx="2194560" cy="411480"/>
          </a:xfrm>
          <a:prstGeom prst="rect">
            <a:avLst/>
          </a:prstGeom>
          <a:noFill/>
          <a:ln/>
        </p:spPr>
        <p:txBody>
          <a:bodyPr wrap="square" lIns="0" tIns="0" rIns="0" bIns="0" rtlCol="0" anchor="ctr"/>
          <a:lstStyle/>
          <a:p>
            <a:pPr indent="0" marL="0">
              <a:buNone/>
            </a:pPr>
            <a:r>
              <a:rPr lang="en-US" sz="1400" dirty="0">
                <a:solidFill>
                  <a:schemeClr val="accent5"/>
                </a:solidFill>
              </a:rPr>
              <a:t>HighErrorRate</a:t>
            </a:r>
            <a:endParaRPr lang="en-US" sz="1400" dirty="0"/>
          </a:p>
        </p:txBody>
      </p:sp>
      <p:sp>
        <p:nvSpPr>
          <p:cNvPr id="8" name="firing ServiceNotReady"/>
          <p:cNvSpPr/>
          <p:nvPr/>
        </p:nvSpPr>
        <p:spPr>
          <a:xfrm>
            <a:off x="548640" y="2880360"/>
            <a:ext cx="2377440" cy="411480"/>
          </a:xfrm>
          <a:prstGeom prst="roundRect">
            <a:avLst>
              <a:gd name="adj" fmla="val 26667"/>
            </a:avLst>
          </a:prstGeom>
          <a:solidFill>
            <a:schemeClr val="bg2"/>
          </a:solidFill>
          <a:ln/>
        </p:spPr>
      </p:sp>
      <p:sp>
        <p:nvSpPr>
          <p:cNvPr id="9" name="Text 7"/>
          <p:cNvSpPr txBox="1"/>
          <p:nvPr/>
        </p:nvSpPr>
        <p:spPr>
          <a:xfrm>
            <a:off x="685800" y="2880360"/>
            <a:ext cx="2194560" cy="411480"/>
          </a:xfrm>
          <a:prstGeom prst="rect">
            <a:avLst/>
          </a:prstGeom>
          <a:noFill/>
          <a:ln/>
        </p:spPr>
        <p:txBody>
          <a:bodyPr wrap="square" lIns="0" tIns="0" rIns="0" bIns="0" rtlCol="0" anchor="ctr"/>
          <a:lstStyle/>
          <a:p>
            <a:pPr indent="0" marL="0">
              <a:buNone/>
            </a:pPr>
            <a:r>
              <a:rPr lang="en-US" sz="1400" dirty="0">
                <a:solidFill>
                  <a:schemeClr val="accent5"/>
                </a:solidFill>
              </a:rPr>
              <a:t>ServiceNotReady</a:t>
            </a:r>
            <a:endParaRPr lang="en-US" sz="1400" dirty="0"/>
          </a:p>
        </p:txBody>
      </p:sp>
      <p:sp>
        <p:nvSpPr>
          <p:cNvPr id="10" name="firing HighLatencyP95"/>
          <p:cNvSpPr/>
          <p:nvPr/>
        </p:nvSpPr>
        <p:spPr>
          <a:xfrm>
            <a:off x="548640" y="3383280"/>
            <a:ext cx="2377440" cy="411480"/>
          </a:xfrm>
          <a:prstGeom prst="roundRect">
            <a:avLst>
              <a:gd name="adj" fmla="val 26667"/>
            </a:avLst>
          </a:prstGeom>
          <a:solidFill>
            <a:schemeClr val="bg2"/>
          </a:solidFill>
          <a:ln/>
        </p:spPr>
      </p:sp>
      <p:sp>
        <p:nvSpPr>
          <p:cNvPr id="11" name="Text 9"/>
          <p:cNvSpPr txBox="1"/>
          <p:nvPr/>
        </p:nvSpPr>
        <p:spPr>
          <a:xfrm>
            <a:off x="685800" y="3383280"/>
            <a:ext cx="2194560" cy="411480"/>
          </a:xfrm>
          <a:prstGeom prst="rect">
            <a:avLst/>
          </a:prstGeom>
          <a:noFill/>
          <a:ln/>
        </p:spPr>
        <p:txBody>
          <a:bodyPr wrap="square" lIns="0" tIns="0" rIns="0" bIns="0" rtlCol="0" anchor="ctr"/>
          <a:lstStyle/>
          <a:p>
            <a:pPr indent="0" marL="0">
              <a:buNone/>
            </a:pPr>
            <a:r>
              <a:rPr lang="en-US" sz="1400" dirty="0">
                <a:solidFill>
                  <a:schemeClr val="accent5"/>
                </a:solidFill>
              </a:rPr>
              <a:t>HighLatencyP95</a:t>
            </a:r>
            <a:endParaRPr lang="en-US" sz="1400" dirty="0"/>
          </a:p>
        </p:txBody>
      </p:sp>
      <p:sp>
        <p:nvSpPr>
          <p:cNvPr id="12" name="noise arrow"/>
          <p:cNvSpPr/>
          <p:nvPr/>
        </p:nvSpPr>
        <p:spPr>
          <a:xfrm>
            <a:off x="3063240" y="2514600"/>
            <a:ext cx="502920" cy="457200"/>
          </a:xfrm>
          <a:prstGeom prst="rightArrow">
            <a:avLst/>
          </a:prstGeom>
          <a:solidFill>
            <a:schemeClr val="accent5"/>
          </a:solidFill>
          <a:ln/>
        </p:spPr>
      </p:sp>
      <p:sp>
        <p:nvSpPr>
          <p:cNvPr id="13" name="one message card"/>
          <p:cNvSpPr/>
          <p:nvPr/>
        </p:nvSpPr>
        <p:spPr>
          <a:xfrm>
            <a:off x="3703320" y="2194560"/>
            <a:ext cx="1051560" cy="1143000"/>
          </a:xfrm>
          <a:prstGeom prst="roundRect">
            <a:avLst>
              <a:gd name="adj" fmla="val 10435"/>
            </a:avLst>
          </a:prstGeom>
          <a:solidFill>
            <a:schemeClr val="accent1"/>
          </a:solidFill>
          <a:ln/>
        </p:spPr>
      </p:sp>
      <p:sp>
        <p:nvSpPr>
          <p:cNvPr id="14" name="Text 12"/>
          <p:cNvSpPr txBox="1"/>
          <p:nvPr/>
        </p:nvSpPr>
        <p:spPr>
          <a:xfrm>
            <a:off x="3703320" y="2194560"/>
            <a:ext cx="1051560" cy="1143000"/>
          </a:xfrm>
          <a:prstGeom prst="rect">
            <a:avLst/>
          </a:prstGeom>
          <a:noFill/>
          <a:ln/>
        </p:spPr>
        <p:txBody>
          <a:bodyPr wrap="square" lIns="0" tIns="0" rIns="0" bIns="0" rtlCol="0" anchor="ctr"/>
          <a:lstStyle/>
          <a:p>
            <a:pPr algn="ctr" indent="0" marL="0">
              <a:buNone/>
            </a:pPr>
            <a:r>
              <a:rPr lang="en-US" sz="3600" b="1" dirty="0">
                <a:solidFill>
                  <a:schemeClr val="bg1"/>
                </a:solidFill>
              </a:rPr>
              <a:t>1</a:t>
            </a:r>
            <a:endParaRPr lang="en-US" sz="3600" dirty="0"/>
          </a:p>
          <a:p>
            <a:pPr algn="ctr" indent="0" marL="0">
              <a:buNone/>
            </a:pPr>
            <a:r>
              <a:rPr lang="en-US" sz="1300" dirty="0">
                <a:solidFill>
                  <a:schemeClr val="bg1"/>
                </a:solidFill>
              </a:rPr>
              <a:t>message</a:t>
            </a:r>
            <a:endParaRPr lang="en-US" sz="3600" dirty="0"/>
          </a:p>
        </p:txBody>
      </p:sp>
      <p:sp>
        <p:nvSpPr>
          <p:cNvPr id="15" name="Text 13"/>
          <p:cNvSpPr txBox="1"/>
          <p:nvPr/>
        </p:nvSpPr>
        <p:spPr>
          <a:xfrm>
            <a:off x="548640" y="4069080"/>
            <a:ext cx="438912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4 alerts fired in Prometheus; on-call got 1 email about the cause.</a:t>
            </a:r>
            <a:endParaRPr lang="en-US" sz="1500" dirty="0"/>
          </a:p>
          <a:p>
            <a:pPr marL="342900" indent="-342900">
              <a:spcAft>
                <a:spcPts val="800"/>
              </a:spcAft>
              <a:buSzPct val="100000"/>
              <a:buChar char="•"/>
            </a:pPr>
            <a:r>
              <a:rPr lang="en-US" sz="1500" dirty="0">
                <a:solidFill>
                  <a:schemeClr val="tx1"/>
                </a:solidFill>
              </a:rPr>
              <a:t>Inhibition: a firing cause hides its symptoms.</a:t>
            </a:r>
            <a:endParaRPr lang="en-US" sz="1500" dirty="0"/>
          </a:p>
          <a:p>
            <a:pPr marL="342900" indent="-342900">
              <a:spcAft>
                <a:spcPts val="800"/>
              </a:spcAft>
              <a:buSzPct val="100000"/>
              <a:buChar char="•"/>
            </a:pPr>
            <a:r>
              <a:rPr lang="en-US" sz="1500" dirty="0">
                <a:solidFill>
                  <a:schemeClr val="tx1"/>
                </a:solidFill>
              </a:rPr>
              <a:t>Grouping: related alerts share one message.</a:t>
            </a:r>
            <a:endParaRPr lang="en-US" sz="1500" dirty="0"/>
          </a:p>
          <a:p>
            <a:pPr marL="342900" indent="-342900">
              <a:spcAft>
                <a:spcPts val="800"/>
              </a:spcAft>
              <a:buSzPct val="100000"/>
              <a:buChar char="•"/>
            </a:pPr>
            <a:r>
              <a:rPr lang="en-US" sz="1500" dirty="0">
                <a:solidFill>
                  <a:schemeClr val="tx1"/>
                </a:solidFill>
              </a:rPr>
              <a:t>Causes wait less than symptoms (15 s vs 30 s), so the cause is already firing when symptoms arrive.</a:t>
            </a:r>
            <a:endParaRPr lang="en-US" sz="1500" dirty="0"/>
          </a:p>
        </p:txBody>
      </p:sp>
      <p:pic>
        <p:nvPicPr>
          <p:cNvPr id="16" name="alertmanager inhibited screenshot" descr="Alertmanager with the Inhibited box ticked, showing HighErrorRate, HighLatencyP95 and ServiceNotReady held back">    </p:cNvPr>
          <p:cNvPicPr>
            <a:picLocks noChangeAspect="1"/>
          </p:cNvPicPr>
          <p:nvPr/>
        </p:nvPicPr>
        <p:blipFill>
          <a:blip r:embed="rId1"/>
          <a:stretch>
            <a:fillRect/>
          </a:stretch>
        </p:blipFill>
        <p:spPr>
          <a:xfrm>
            <a:off x="6035040" y="1280160"/>
            <a:ext cx="4517136" cy="4617720"/>
          </a:xfrm>
          <a:prstGeom prst="rect">
            <a:avLst/>
          </a:prstGeom>
        </p:spPr>
      </p:pic>
      <p:sp>
        <p:nvSpPr>
          <p:cNvPr id="17" name="Text 14"/>
          <p:cNvSpPr txBox="1"/>
          <p:nvPr/>
        </p:nvSpPr>
        <p:spPr>
          <a:xfrm>
            <a:off x="6035040" y="5943600"/>
            <a:ext cx="5577840" cy="320040"/>
          </a:xfrm>
          <a:prstGeom prst="rect">
            <a:avLst/>
          </a:prstGeom>
          <a:noFill/>
          <a:ln/>
        </p:spPr>
        <p:txBody>
          <a:bodyPr wrap="square" lIns="0" tIns="0" rIns="0" bIns="0" rtlCol="0" anchor="ctr"/>
          <a:lstStyle/>
          <a:p>
            <a:pPr indent="0" marL="0">
              <a:buNone/>
            </a:pPr>
            <a:r>
              <a:rPr lang="en-US" sz="1200" i="1" dirty="0">
                <a:solidFill>
                  <a:schemeClr val="accent5"/>
                </a:solidFill>
              </a:rPr>
              <a:t>Alertmanager during the outage, with Inhibited ticked: the symptoms are held back</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What on-call and the team see</a:t>
            </a:r>
            <a:endParaRPr lang="en-US" sz="3200" dirty="0"/>
          </a:p>
        </p:txBody>
      </p:sp>
      <p:pic>
        <p:nvPicPr>
          <p:cNvPr id="3" name="alert email screenshot" descr="Alert email for DependencyDown with summary, details, what to do and labels">    </p:cNvPr>
          <p:cNvPicPr>
            <a:picLocks noChangeAspect="1"/>
          </p:cNvPicPr>
          <p:nvPr/>
        </p:nvPicPr>
        <p:blipFill>
          <a:blip r:embed="rId1"/>
          <a:stretch>
            <a:fillRect/>
          </a:stretch>
        </p:blipFill>
        <p:spPr>
          <a:xfrm>
            <a:off x="1051560" y="1280160"/>
            <a:ext cx="4425696" cy="3566160"/>
          </a:xfrm>
          <a:prstGeom prst="rect">
            <a:avLst/>
          </a:prstGeom>
        </p:spPr>
      </p:pic>
      <p:pic>
        <p:nvPicPr>
          <p:cNvPr id="4" name="ops chat screenshot" descr="Ops chat channel with firing and resolved alert messages and a green heartbeat badge">    </p:cNvPr>
          <p:cNvPicPr>
            <a:picLocks noChangeAspect="1"/>
          </p:cNvPicPr>
          <p:nvPr/>
        </p:nvPicPr>
        <p:blipFill>
          <a:blip r:embed="rId2"/>
          <a:stretch>
            <a:fillRect/>
          </a:stretch>
        </p:blipFill>
        <p:spPr>
          <a:xfrm>
            <a:off x="7040880" y="1280160"/>
            <a:ext cx="3703320" cy="3566160"/>
          </a:xfrm>
          <a:prstGeom prst="rect">
            <a:avLst/>
          </a:prstGeom>
        </p:spPr>
      </p:pic>
      <p:sp>
        <p:nvSpPr>
          <p:cNvPr id="5" name="Text 1"/>
          <p:cNvSpPr txBox="1"/>
          <p:nvPr/>
        </p:nvSpPr>
        <p:spPr>
          <a:xfrm>
            <a:off x="548640" y="5029200"/>
            <a:ext cx="5440680" cy="1005840"/>
          </a:xfrm>
          <a:prstGeom prst="rect">
            <a:avLst/>
          </a:prstGeom>
          <a:noFill/>
          <a:ln/>
        </p:spPr>
        <p:txBody>
          <a:bodyPr wrap="square" lIns="0" tIns="0" rIns="0" bIns="0" rtlCol="0" anchor="t"/>
          <a:lstStyle/>
          <a:p>
            <a:pPr indent="0" marL="0">
              <a:buNone/>
            </a:pPr>
            <a:r>
              <a:rPr lang="en-US" sz="1500" b="1" dirty="0">
                <a:solidFill>
                  <a:schemeClr val="accent1"/>
                </a:solidFill>
              </a:rPr>
              <a:t>On-call email</a:t>
            </a:r>
            <a:endParaRPr lang="en-US" sz="1500" dirty="0"/>
          </a:p>
          <a:p>
            <a:pPr indent="0" marL="0">
              <a:buNone/>
            </a:pPr>
            <a:r>
              <a:rPr lang="en-US" sz="1500" dirty="0">
                <a:solidFill>
                  <a:schemeClr val="tx1"/>
                </a:solidFill>
              </a:rPr>
              <a:t>Subject and HTML body come from our template, including a "what to do" line.</a:t>
            </a:r>
            <a:endParaRPr lang="en-US" sz="1500" dirty="0"/>
          </a:p>
        </p:txBody>
      </p:sp>
      <p:sp>
        <p:nvSpPr>
          <p:cNvPr id="6" name="Text 2"/>
          <p:cNvSpPr txBox="1"/>
          <p:nvPr/>
        </p:nvSpPr>
        <p:spPr>
          <a:xfrm>
            <a:off x="6172200" y="5029200"/>
            <a:ext cx="5440680" cy="1005840"/>
          </a:xfrm>
          <a:prstGeom prst="rect">
            <a:avLst/>
          </a:prstGeom>
          <a:noFill/>
          <a:ln/>
        </p:spPr>
        <p:txBody>
          <a:bodyPr wrap="square" lIns="0" tIns="0" rIns="0" bIns="0" rtlCol="0" anchor="t"/>
          <a:lstStyle/>
          <a:p>
            <a:pPr indent="0" marL="0">
              <a:buNone/>
            </a:pPr>
            <a:r>
              <a:rPr lang="en-US" sz="1500" b="1" dirty="0">
                <a:solidFill>
                  <a:schemeClr val="accent1"/>
                </a:solidFill>
              </a:rPr>
              <a:t>#ops-chat</a:t>
            </a:r>
            <a:endParaRPr lang="en-US" sz="1500" dirty="0"/>
          </a:p>
          <a:p>
            <a:pPr indent="0" marL="0">
              <a:buNone/>
            </a:pPr>
            <a:r>
              <a:rPr lang="en-US" sz="1500" dirty="0">
                <a:solidFill>
                  <a:schemeClr val="tx1"/>
                </a:solidFill>
              </a:rPr>
              <a:t>Every warning and critical alert appears here, first as FIRING, then as RESOLVED.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Every failure detected within 90 seconds</a:t>
            </a:r>
            <a:endParaRPr lang="en-US" sz="3200" dirty="0"/>
          </a:p>
        </p:txBody>
      </p:sp>
      <p:graphicFrame>
        <p:nvGraphicFramePr>
          <p:cNvPr id="3" name="Chart 0" descr=""/>
          <p:cNvGraphicFramePr/>
          <p:nvPr/>
        </p:nvGraphicFramePr>
        <p:xfrm>
          <a:off x="548640" y="1234440"/>
          <a:ext cx="7223760" cy="49834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138160" y="1325880"/>
            <a:ext cx="3474720" cy="713232"/>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9 / 9</a:t>
            </a:r>
            <a:endParaRPr lang="en-US" sz="4000" dirty="0"/>
          </a:p>
        </p:txBody>
      </p:sp>
      <p:sp>
        <p:nvSpPr>
          <p:cNvPr id="5" name="Text 2"/>
          <p:cNvSpPr txBox="1"/>
          <p:nvPr/>
        </p:nvSpPr>
        <p:spPr>
          <a:xfrm>
            <a:off x="8138160" y="2020824"/>
            <a:ext cx="3474720" cy="365760"/>
          </a:xfrm>
          <a:prstGeom prst="rect">
            <a:avLst/>
          </a:prstGeom>
          <a:noFill/>
          <a:ln/>
        </p:spPr>
        <p:txBody>
          <a:bodyPr wrap="square" lIns="0" tIns="0" rIns="0" bIns="0" rtlCol="0" anchor="ctr"/>
          <a:lstStyle/>
          <a:p>
            <a:pPr indent="0" marL="0">
              <a:buNone/>
            </a:pPr>
            <a:r>
              <a:rPr lang="en-US" sz="1400" dirty="0">
                <a:solidFill>
                  <a:schemeClr val="accent5"/>
                </a:solidFill>
              </a:rPr>
              <a:t>failures detected</a:t>
            </a:r>
            <a:endParaRPr lang="en-US" sz="1400" dirty="0"/>
          </a:p>
        </p:txBody>
      </p:sp>
      <p:sp>
        <p:nvSpPr>
          <p:cNvPr id="6" name="Text 3"/>
          <p:cNvSpPr txBox="1"/>
          <p:nvPr/>
        </p:nvSpPr>
        <p:spPr>
          <a:xfrm>
            <a:off x="8138160" y="2560320"/>
            <a:ext cx="3474720" cy="713232"/>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60 s</a:t>
            </a:r>
            <a:endParaRPr lang="en-US" sz="4000" dirty="0"/>
          </a:p>
        </p:txBody>
      </p:sp>
      <p:sp>
        <p:nvSpPr>
          <p:cNvPr id="7" name="Text 4"/>
          <p:cNvSpPr txBox="1"/>
          <p:nvPr/>
        </p:nvSpPr>
        <p:spPr>
          <a:xfrm>
            <a:off x="8138160" y="3255264"/>
            <a:ext cx="3474720" cy="365760"/>
          </a:xfrm>
          <a:prstGeom prst="rect">
            <a:avLst/>
          </a:prstGeom>
          <a:noFill/>
          <a:ln/>
        </p:spPr>
        <p:txBody>
          <a:bodyPr wrap="square" lIns="0" tIns="0" rIns="0" bIns="0" rtlCol="0" anchor="ctr"/>
          <a:lstStyle/>
          <a:p>
            <a:pPr indent="0" marL="0">
              <a:buNone/>
            </a:pPr>
            <a:r>
              <a:rPr lang="en-US" sz="1400" dirty="0">
                <a:solidFill>
                  <a:schemeClr val="accent5"/>
                </a:solidFill>
              </a:rPr>
              <a:t>median time to first message</a:t>
            </a:r>
            <a:endParaRPr lang="en-US" sz="1400" dirty="0"/>
          </a:p>
        </p:txBody>
      </p:sp>
      <p:sp>
        <p:nvSpPr>
          <p:cNvPr id="8" name="Text 5"/>
          <p:cNvSpPr txBox="1"/>
          <p:nvPr/>
        </p:nvSpPr>
        <p:spPr>
          <a:xfrm>
            <a:off x="8138160" y="3794760"/>
            <a:ext cx="3474720" cy="713232"/>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9" name="Text 6"/>
          <p:cNvSpPr txBox="1"/>
          <p:nvPr/>
        </p:nvSpPr>
        <p:spPr>
          <a:xfrm>
            <a:off x="8138160" y="4489704"/>
            <a:ext cx="3474720" cy="365760"/>
          </a:xfrm>
          <a:prstGeom prst="rect">
            <a:avLst/>
          </a:prstGeom>
          <a:noFill/>
          <a:ln/>
        </p:spPr>
        <p:txBody>
          <a:bodyPr wrap="square" lIns="0" tIns="0" rIns="0" bIns="0" rtlCol="0" anchor="ctr"/>
          <a:lstStyle/>
          <a:p>
            <a:pPr indent="0" marL="0">
              <a:buNone/>
            </a:pPr>
            <a:r>
              <a:rPr lang="en-US" sz="1400" dirty="0">
                <a:solidFill>
                  <a:schemeClr val="accent5"/>
                </a:solidFill>
              </a:rPr>
              <a:t>pages for a 10-second blip</a:t>
            </a:r>
            <a:endParaRPr lang="en-US" sz="1400" dirty="0"/>
          </a:p>
        </p:txBody>
      </p:sp>
      <p:sp>
        <p:nvSpPr>
          <p:cNvPr id="10" name="Text 7"/>
          <p:cNvSpPr txBox="1"/>
          <p:nvPr/>
        </p:nvSpPr>
        <p:spPr>
          <a:xfrm>
            <a:off x="8138160" y="5029200"/>
            <a:ext cx="3474720" cy="713232"/>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4 → 1</a:t>
            </a:r>
            <a:endParaRPr lang="en-US" sz="4000" dirty="0"/>
          </a:p>
        </p:txBody>
      </p:sp>
      <p:sp>
        <p:nvSpPr>
          <p:cNvPr id="11" name="Text 8"/>
          <p:cNvSpPr txBox="1"/>
          <p:nvPr/>
        </p:nvSpPr>
        <p:spPr>
          <a:xfrm>
            <a:off x="8138160" y="5724144"/>
            <a:ext cx="3474720" cy="365760"/>
          </a:xfrm>
          <a:prstGeom prst="rect">
            <a:avLst/>
          </a:prstGeom>
          <a:noFill/>
          <a:ln/>
        </p:spPr>
        <p:txBody>
          <a:bodyPr wrap="square" lIns="0" tIns="0" rIns="0" bIns="0" rtlCol="0" anchor="ctr"/>
          <a:lstStyle/>
          <a:p>
            <a:pPr indent="0" marL="0">
              <a:buNone/>
            </a:pPr>
            <a:r>
              <a:rPr lang="en-US" sz="1400" dirty="0">
                <a:solidFill>
                  <a:schemeClr val="accent5"/>
                </a:solidFill>
              </a:rPr>
              <a:t>alerts → messages, database outage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How it compares</a:t>
            </a:r>
            <a:endParaRPr lang="en-US" sz="3200" dirty="0"/>
          </a:p>
        </p:txBody>
      </p:sp>
      <p:graphicFrame>
        <p:nvGraphicFramePr>
          <p:cNvPr id="13" name="comparison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057400"/>
                <a:gridCol w="2057400"/>
                <a:gridCol w="1737360"/>
                <a:gridCol w="1737360"/>
                <a:gridCol w="1737360"/>
                <a:gridCol w="1737360"/>
              </a:tblGrid>
              <a:tr h="566928">
                <a:tc>
                  <a:txBody>
                    <a:bodyPr/>
                    <a:lstStyle/>
                    <a:p>
                      <a:pPr indent="0" marL="0">
                        <a:buNone/>
                      </a:pP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Prometheus + AM</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bg1"/>
                          </a:solidFill>
                        </a:rPr>
                        <a:t>Nagios Core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Zabbix</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Datadog</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CloudWatch</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400" b="1" dirty="0">
                          <a:solidFill>
                            <a:schemeClr val="tx1"/>
                          </a:solidFill>
                        </a:rPr>
                        <a:t>Cost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free, open source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DEDE8"/>
                    </a:solidFill>
                  </a:tcPr>
                </a:tc>
                <a:tc>
                  <a:txBody>
                    <a:bodyPr/>
                    <a:lstStyle/>
                    <a:p>
                      <a:pPr indent="0" marL="0">
                        <a:buNone/>
                      </a:pPr>
                      <a:r>
                        <a:rPr lang="en-US" sz="1400" dirty="0">
                          <a:solidFill>
                            <a:schemeClr val="tx1"/>
                          </a:solidFill>
                        </a:rPr>
                        <a:t>free; XI is paid</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free, open source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paid per host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pay per metric and alarm</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400" b="1" dirty="0">
                          <a:solidFill>
                            <a:schemeClr val="tx1"/>
                          </a:solidFill>
                        </a:rPr>
                        <a:t>How data arrives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c>
                  <a:txBody>
                    <a:bodyPr/>
                    <a:lstStyle/>
                    <a:p>
                      <a:pPr indent="0" marL="0">
                        <a:buNone/>
                      </a:pPr>
                      <a:r>
                        <a:rPr lang="en-US" sz="1400" dirty="0">
                          <a:solidFill>
                            <a:schemeClr val="tx1"/>
                          </a:solidFill>
                        </a:rPr>
                        <a:t>pull over HTTP</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DEDE8"/>
                    </a:solidFill>
                  </a:tcPr>
                </a:tc>
                <a:tc>
                  <a:txBody>
                    <a:bodyPr/>
                    <a:lstStyle/>
                    <a:p>
                      <a:pPr indent="0" marL="0">
                        <a:buNone/>
                      </a:pPr>
                      <a:r>
                        <a:rPr lang="en-US" sz="1400" dirty="0">
                          <a:solidFill>
                            <a:schemeClr val="tx1"/>
                          </a:solidFill>
                        </a:rPr>
                        <a:t>plugin checks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c>
                  <a:txBody>
                    <a:bodyPr/>
                    <a:lstStyle/>
                    <a:p>
                      <a:pPr indent="0" marL="0">
                        <a:buNone/>
                      </a:pPr>
                      <a:r>
                        <a:rPr lang="en-US" sz="1400" dirty="0">
                          <a:solidFill>
                            <a:schemeClr val="tx1"/>
                          </a:solidFill>
                        </a:rPr>
                        <a:t>agents, SNMP</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c>
                  <a:txBody>
                    <a:bodyPr/>
                    <a:lstStyle/>
                    <a:p>
                      <a:pPr indent="0" marL="0">
                        <a:buNone/>
                      </a:pPr>
                      <a:r>
                        <a:rPr lang="en-US" sz="1400" dirty="0">
                          <a:solidFill>
                            <a:schemeClr val="tx1"/>
                          </a:solidFill>
                        </a:rPr>
                        <a:t>agent to SaaS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c>
                  <a:txBody>
                    <a:bodyPr/>
                    <a:lstStyle/>
                    <a:p>
                      <a:pPr indent="0" marL="0">
                        <a:buNone/>
                      </a:pPr>
                      <a:r>
                        <a:rPr lang="en-US" sz="1400" dirty="0">
                          <a:solidFill>
                            <a:schemeClr val="tx1"/>
                          </a:solidFill>
                        </a:rPr>
                        <a:t>AWS services, agent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r>
              <a:tr h="566928">
                <a:tc>
                  <a:txBody>
                    <a:bodyPr/>
                    <a:lstStyle/>
                    <a:p>
                      <a:pPr indent="0" marL="0">
                        <a:buNone/>
                      </a:pPr>
                      <a:r>
                        <a:rPr lang="en-US" sz="1400" b="1" dirty="0">
                          <a:solidFill>
                            <a:schemeClr val="tx1"/>
                          </a:solidFill>
                        </a:rPr>
                        <a:t>Fit for containers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native discovery, cAdvisor</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DEDE8"/>
                    </a:solidFill>
                  </a:tcPr>
                </a:tc>
                <a:tc>
                  <a:txBody>
                    <a:bodyPr/>
                    <a:lstStyle/>
                    <a:p>
                      <a:pPr indent="0" marL="0">
                        <a:buNone/>
                      </a:pPr>
                      <a:r>
                        <a:rPr lang="en-US" sz="1400" dirty="0">
                          <a:solidFill>
                            <a:schemeClr val="tx1"/>
                          </a:solidFill>
                        </a:rPr>
                        <a:t>weak: static hosts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Docker template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strong</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ECS and EKS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400" b="1" dirty="0">
                          <a:solidFill>
                            <a:schemeClr val="tx1"/>
                          </a:solidFill>
                        </a:rPr>
                        <a:t>Alert noise control</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c>
                  <a:txBody>
                    <a:bodyPr/>
                    <a:lstStyle/>
                    <a:p>
                      <a:pPr indent="0" marL="0">
                        <a:buNone/>
                      </a:pPr>
                      <a:r>
                        <a:rPr lang="en-US" sz="1400" dirty="0">
                          <a:solidFill>
                            <a:schemeClr val="tx1"/>
                          </a:solidFill>
                        </a:rPr>
                        <a:t>group, inhibit, silence, route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DEDE8"/>
                    </a:solidFill>
                  </a:tcPr>
                </a:tc>
                <a:tc>
                  <a:txBody>
                    <a:bodyPr/>
                    <a:lstStyle/>
                    <a:p>
                      <a:pPr indent="0" marL="0">
                        <a:buNone/>
                      </a:pPr>
                      <a:r>
                        <a:rPr lang="en-US" sz="1400" dirty="0">
                          <a:solidFill>
                            <a:schemeClr val="tx1"/>
                          </a:solidFill>
                        </a:rPr>
                        <a:t>escalations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c>
                  <a:txBody>
                    <a:bodyPr/>
                    <a:lstStyle/>
                    <a:p>
                      <a:pPr indent="0" marL="0">
                        <a:buNone/>
                      </a:pPr>
                      <a:r>
                        <a:rPr lang="en-US" sz="1400" dirty="0">
                          <a:solidFill>
                            <a:schemeClr val="tx1"/>
                          </a:solidFill>
                        </a:rPr>
                        <a:t>actions, escalations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c>
                  <a:txBody>
                    <a:bodyPr/>
                    <a:lstStyle/>
                    <a:p>
                      <a:pPr indent="0" marL="0">
                        <a:buNone/>
                      </a:pPr>
                      <a:r>
                        <a:rPr lang="en-US" sz="1400" dirty="0">
                          <a:solidFill>
                            <a:schemeClr val="tx1"/>
                          </a:solidFill>
                        </a:rPr>
                        <a:t>notification rules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c>
                  <a:txBody>
                    <a:bodyPr/>
                    <a:lstStyle/>
                    <a:p>
                      <a:pPr indent="0" marL="0">
                        <a:buNone/>
                      </a:pPr>
                      <a:r>
                        <a:rPr lang="en-US" sz="1400" dirty="0">
                          <a:solidFill>
                            <a:schemeClr val="tx1"/>
                          </a:solidFill>
                        </a:rPr>
                        <a:t>alarms to SNS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r>
              <a:tr h="566928">
                <a:tc>
                  <a:txBody>
                    <a:bodyPr/>
                    <a:lstStyle/>
                    <a:p>
                      <a:pPr indent="0" marL="0">
                        <a:buNone/>
                      </a:pPr>
                      <a:r>
                        <a:rPr lang="en-US" sz="1400" b="1" dirty="0">
                          <a:solidFill>
                            <a:schemeClr val="tx1"/>
                          </a:solidFill>
                        </a:rPr>
                        <a:t>Config as code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YAML + unit tests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DEDE8"/>
                    </a:solidFill>
                  </a:tcPr>
                </a:tc>
                <a:tc>
                  <a:txBody>
                    <a:bodyPr/>
                    <a:lstStyle/>
                    <a:p>
                      <a:pPr indent="0" marL="0">
                        <a:buNone/>
                      </a:pPr>
                      <a:r>
                        <a:rPr lang="en-US" sz="1400" dirty="0">
                          <a:solidFill>
                            <a:schemeClr val="tx1"/>
                          </a:solidFill>
                        </a:rPr>
                        <a:t>text files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mostly web UI</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UI, Terraform</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CloudFormation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400" b="1" dirty="0">
                          <a:solidFill>
                            <a:schemeClr val="tx1"/>
                          </a:solidFill>
                        </a:rPr>
                        <a:t>Logs and traces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c>
                  <a:txBody>
                    <a:bodyPr/>
                    <a:lstStyle/>
                    <a:p>
                      <a:pPr indent="0" marL="0">
                        <a:buNone/>
                      </a:pPr>
                      <a:r>
                        <a:rPr lang="en-US" sz="1400" dirty="0">
                          <a:solidFill>
                            <a:schemeClr val="tx1"/>
                          </a:solidFill>
                        </a:rPr>
                        <a:t>no (add Loki, Tempo)</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DEDE8"/>
                    </a:solidFill>
                  </a:tcPr>
                </a:tc>
                <a:tc>
                  <a:txBody>
                    <a:bodyPr/>
                    <a:lstStyle/>
                    <a:p>
                      <a:pPr indent="0" marL="0">
                        <a:buNone/>
                      </a:pPr>
                      <a:r>
                        <a:rPr lang="en-US" sz="1400" dirty="0">
                          <a:solidFill>
                            <a:schemeClr val="tx1"/>
                          </a:solidFill>
                        </a:rPr>
                        <a:t>no</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c>
                  <a:txBody>
                    <a:bodyPr/>
                    <a:lstStyle/>
                    <a:p>
                      <a:pPr indent="0" marL="0">
                        <a:buNone/>
                      </a:pPr>
                      <a:r>
                        <a:rPr lang="en-US" sz="1400" dirty="0">
                          <a:solidFill>
                            <a:schemeClr val="tx1"/>
                          </a:solidFill>
                        </a:rPr>
                        <a:t>limited</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c>
                  <a:txBody>
                    <a:bodyPr/>
                    <a:lstStyle/>
                    <a:p>
                      <a:pPr indent="0" marL="0">
                        <a:buNone/>
                      </a:pPr>
                      <a:r>
                        <a:rPr lang="en-US" sz="1400" dirty="0">
                          <a:solidFill>
                            <a:schemeClr val="tx1"/>
                          </a:solidFill>
                        </a:rPr>
                        <a:t>yes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c>
                  <a:txBody>
                    <a:bodyPr/>
                    <a:lstStyle/>
                    <a:p>
                      <a:pPr indent="0" marL="0">
                        <a:buNone/>
                      </a:pPr>
                      <a:r>
                        <a:rPr lang="en-US" sz="1400" dirty="0">
                          <a:solidFill>
                            <a:schemeClr val="tx1"/>
                          </a:solidFill>
                        </a:rPr>
                        <a:t>yes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5F5F4"/>
                    </a:solidFill>
                  </a:tcPr>
                </a:tc>
              </a:tr>
            </a:tbl>
          </a:graphicData>
        </a:graphic>
      </p:graphicFrame>
      <p:sp>
        <p:nvSpPr>
          <p:cNvPr id="4" name="Text 1"/>
          <p:cNvSpPr txBox="1"/>
          <p:nvPr/>
        </p:nvSpPr>
        <p:spPr>
          <a:xfrm>
            <a:off x="548640" y="5852160"/>
            <a:ext cx="11064240" cy="320040"/>
          </a:xfrm>
          <a:prstGeom prst="rect">
            <a:avLst/>
          </a:prstGeom>
          <a:noFill/>
          <a:ln/>
        </p:spPr>
        <p:txBody>
          <a:bodyPr wrap="square" lIns="0" tIns="0" rIns="0" bIns="0" rtlCol="0" anchor="ctr"/>
          <a:lstStyle/>
          <a:p>
            <a:pPr indent="0" marL="0">
              <a:buNone/>
            </a:pPr>
            <a:r>
              <a:rPr lang="en-US" sz="1200" i="1" dirty="0">
                <a:solidFill>
                  <a:schemeClr val="accent5"/>
                </a:solidFill>
              </a:rPr>
              <a:t>Summarised from each product's public documentation, October 2026. Grafana Alerting builds on data sources such as Prometheus.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Strengths, limits and what testing taught us</a:t>
            </a:r>
            <a:endParaRPr lang="en-US" sz="3200" dirty="0"/>
          </a:p>
        </p:txBody>
      </p:sp>
      <p:sp>
        <p:nvSpPr>
          <p:cNvPr id="3" name="column Strengths"/>
          <p:cNvSpPr/>
          <p:nvPr/>
        </p:nvSpPr>
        <p:spPr>
          <a:xfrm>
            <a:off x="548640" y="1325880"/>
            <a:ext cx="3520440" cy="4754880"/>
          </a:xfrm>
          <a:prstGeom prst="roundRect">
            <a:avLst>
              <a:gd name="adj" fmla="val 3117"/>
            </a:avLst>
          </a:prstGeom>
          <a:solidFill>
            <a:schemeClr val="bg2"/>
          </a:solidFill>
          <a:ln/>
        </p:spPr>
      </p:sp>
      <p:sp>
        <p:nvSpPr>
          <p:cNvPr id="4" name="column Strengths circle"/>
          <p:cNvSpPr/>
          <p:nvPr/>
        </p:nvSpPr>
        <p:spPr>
          <a:xfrm>
            <a:off x="822960" y="1554480"/>
            <a:ext cx="640080" cy="640080"/>
          </a:xfrm>
          <a:prstGeom prst="ellipse">
            <a:avLst/>
          </a:prstGeom>
          <a:solidFill>
            <a:schemeClr val="accent6"/>
          </a:solidFill>
          <a:ln/>
        </p:spPr>
      </p:sp>
      <p:pic>
        <p:nvPicPr>
          <p:cNvPr id="5" name="column Strengths icon" descr="preencoded.png">    </p:cNvPr>
          <p:cNvPicPr>
            <a:picLocks noChangeAspect="1"/>
          </p:cNvPicPr>
          <p:nvPr/>
        </p:nvPicPr>
        <p:blipFill>
          <a:blip r:embed="rId1"/>
          <a:stretch>
            <a:fillRect/>
          </a:stretch>
        </p:blipFill>
        <p:spPr>
          <a:xfrm>
            <a:off x="978408" y="1709928"/>
            <a:ext cx="329184" cy="329184"/>
          </a:xfrm>
          <a:prstGeom prst="rect">
            <a:avLst/>
          </a:prstGeom>
        </p:spPr>
      </p:pic>
      <p:sp>
        <p:nvSpPr>
          <p:cNvPr id="6" name="Text 3"/>
          <p:cNvSpPr txBox="1"/>
          <p:nvPr/>
        </p:nvSpPr>
        <p:spPr>
          <a:xfrm>
            <a:off x="1600200" y="1554480"/>
            <a:ext cx="2331720" cy="640080"/>
          </a:xfrm>
          <a:prstGeom prst="rect">
            <a:avLst/>
          </a:prstGeom>
          <a:noFill/>
          <a:ln/>
        </p:spPr>
        <p:txBody>
          <a:bodyPr wrap="square" lIns="0" tIns="0" rIns="0" bIns="0" rtlCol="0" anchor="ctr"/>
          <a:lstStyle/>
          <a:p>
            <a:pPr indent="0" marL="0">
              <a:buNone/>
            </a:pPr>
            <a:r>
              <a:rPr lang="en-US" sz="2000" b="1" dirty="0">
                <a:solidFill>
                  <a:schemeClr val="accent6"/>
                </a:solidFill>
              </a:rPr>
              <a:t>Strengths</a:t>
            </a:r>
            <a:endParaRPr lang="en-US" sz="2000" dirty="0"/>
          </a:p>
        </p:txBody>
      </p:sp>
      <p:sp>
        <p:nvSpPr>
          <p:cNvPr id="7" name="Text 4"/>
          <p:cNvSpPr txBox="1"/>
          <p:nvPr/>
        </p:nvSpPr>
        <p:spPr>
          <a:xfrm>
            <a:off x="822960" y="2423160"/>
            <a:ext cx="3063240" cy="347472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One query language for graphs and alerts</a:t>
            </a:r>
            <a:endParaRPr lang="en-US" sz="1700" dirty="0"/>
          </a:p>
          <a:p>
            <a:pPr marL="342900" indent="-342900">
              <a:spcAft>
                <a:spcPts val="1400"/>
              </a:spcAft>
              <a:buSzPct val="100000"/>
              <a:buChar char="•"/>
            </a:pPr>
            <a:r>
              <a:rPr lang="en-US" sz="1700" dirty="0">
                <a:solidFill>
                  <a:schemeClr val="tx1"/>
                </a:solidFill>
              </a:rPr>
              <a:t>Alerts are code: reviewed, tested in CI</a:t>
            </a:r>
            <a:endParaRPr lang="en-US" sz="1700" dirty="0"/>
          </a:p>
          <a:p>
            <a:pPr marL="342900" indent="-342900">
              <a:spcAft>
                <a:spcPts val="1400"/>
              </a:spcAft>
              <a:buSzPct val="100000"/>
              <a:buChar char="•"/>
            </a:pPr>
            <a:r>
              <a:rPr lang="en-US" sz="1700" dirty="0">
                <a:solidFill>
                  <a:schemeClr val="tx1"/>
                </a:solidFill>
              </a:rPr>
              <a:t>Grouping and inhibition cut the noise</a:t>
            </a:r>
            <a:endParaRPr lang="en-US" sz="1700" dirty="0"/>
          </a:p>
          <a:p>
            <a:pPr marL="342900" indent="-342900">
              <a:spcAft>
                <a:spcPts val="1400"/>
              </a:spcAft>
              <a:buSzPct val="100000"/>
              <a:buChar char="•"/>
            </a:pPr>
            <a:r>
              <a:rPr lang="en-US" sz="1700" dirty="0">
                <a:solidFill>
                  <a:schemeClr val="tx1"/>
                </a:solidFill>
              </a:rPr>
              <a:t>Small footprint (about 180 MiB)</a:t>
            </a:r>
            <a:endParaRPr lang="en-US" sz="1700" dirty="0"/>
          </a:p>
        </p:txBody>
      </p:sp>
      <p:sp>
        <p:nvSpPr>
          <p:cNvPr id="8" name="column Limitations"/>
          <p:cNvSpPr/>
          <p:nvPr/>
        </p:nvSpPr>
        <p:spPr>
          <a:xfrm>
            <a:off x="4297680" y="1325880"/>
            <a:ext cx="3520440" cy="4754880"/>
          </a:xfrm>
          <a:prstGeom prst="roundRect">
            <a:avLst>
              <a:gd name="adj" fmla="val 3117"/>
            </a:avLst>
          </a:prstGeom>
          <a:solidFill>
            <a:schemeClr val="bg2"/>
          </a:solidFill>
          <a:ln/>
        </p:spPr>
      </p:sp>
      <p:sp>
        <p:nvSpPr>
          <p:cNvPr id="9" name="column Limitations circle"/>
          <p:cNvSpPr/>
          <p:nvPr/>
        </p:nvSpPr>
        <p:spPr>
          <a:xfrm>
            <a:off x="4572000" y="1554480"/>
            <a:ext cx="640080" cy="640080"/>
          </a:xfrm>
          <a:prstGeom prst="ellipse">
            <a:avLst/>
          </a:prstGeom>
          <a:solidFill>
            <a:schemeClr val="accent3"/>
          </a:solidFill>
          <a:ln/>
        </p:spPr>
      </p:sp>
      <p:pic>
        <p:nvPicPr>
          <p:cNvPr id="10" name="column Limitations icon" descr="preencoded.png">    </p:cNvPr>
          <p:cNvPicPr>
            <a:picLocks noChangeAspect="1"/>
          </p:cNvPicPr>
          <p:nvPr/>
        </p:nvPicPr>
        <p:blipFill>
          <a:blip r:embed="rId2"/>
          <a:stretch>
            <a:fillRect/>
          </a:stretch>
        </p:blipFill>
        <p:spPr>
          <a:xfrm>
            <a:off x="4727448" y="1709928"/>
            <a:ext cx="329184" cy="329184"/>
          </a:xfrm>
          <a:prstGeom prst="rect">
            <a:avLst/>
          </a:prstGeom>
        </p:spPr>
      </p:pic>
      <p:sp>
        <p:nvSpPr>
          <p:cNvPr id="11" name="Text 7"/>
          <p:cNvSpPr txBox="1"/>
          <p:nvPr/>
        </p:nvSpPr>
        <p:spPr>
          <a:xfrm>
            <a:off x="5349240" y="1554480"/>
            <a:ext cx="2331720" cy="640080"/>
          </a:xfrm>
          <a:prstGeom prst="rect">
            <a:avLst/>
          </a:prstGeom>
          <a:noFill/>
          <a:ln/>
        </p:spPr>
        <p:txBody>
          <a:bodyPr wrap="square" lIns="0" tIns="0" rIns="0" bIns="0" rtlCol="0" anchor="ctr"/>
          <a:lstStyle/>
          <a:p>
            <a:pPr indent="0" marL="0">
              <a:buNone/>
            </a:pPr>
            <a:r>
              <a:rPr lang="en-US" sz="2000" b="1" dirty="0">
                <a:solidFill>
                  <a:schemeClr val="accent3"/>
                </a:solidFill>
              </a:rPr>
              <a:t>Limitations</a:t>
            </a:r>
            <a:endParaRPr lang="en-US" sz="2000" dirty="0"/>
          </a:p>
        </p:txBody>
      </p:sp>
      <p:sp>
        <p:nvSpPr>
          <p:cNvPr id="12" name="Text 8"/>
          <p:cNvSpPr txBox="1"/>
          <p:nvPr/>
        </p:nvSpPr>
        <p:spPr>
          <a:xfrm>
            <a:off x="4572000" y="2423160"/>
            <a:ext cx="3063240" cy="347472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Metrics only: no logs or traces</a:t>
            </a:r>
            <a:endParaRPr lang="en-US" sz="1700" dirty="0"/>
          </a:p>
          <a:p>
            <a:pPr marL="342900" indent="-342900">
              <a:spcAft>
                <a:spcPts val="1400"/>
              </a:spcAft>
              <a:buSzPct val="100000"/>
              <a:buChar char="•"/>
            </a:pPr>
            <a:r>
              <a:rPr lang="en-US" sz="1700" dirty="0">
                <a:solidFill>
                  <a:schemeClr val="tx1"/>
                </a:solidFill>
              </a:rPr>
              <a:t>One server is a single point of failure</a:t>
            </a:r>
            <a:endParaRPr lang="en-US" sz="1700" dirty="0"/>
          </a:p>
          <a:p>
            <a:pPr marL="342900" indent="-342900">
              <a:spcAft>
                <a:spcPts val="1400"/>
              </a:spcAft>
              <a:buSzPct val="100000"/>
              <a:buChar char="•"/>
            </a:pPr>
            <a:r>
              <a:rPr lang="en-US" sz="1700" dirty="0">
                <a:solidFill>
                  <a:schemeClr val="tx1"/>
                </a:solidFill>
              </a:rPr>
              <a:t>Local storage, not long-term</a:t>
            </a:r>
            <a:endParaRPr lang="en-US" sz="1700" dirty="0"/>
          </a:p>
          <a:p>
            <a:pPr marL="342900" indent="-342900">
              <a:spcAft>
                <a:spcPts val="1400"/>
              </a:spcAft>
              <a:buSzPct val="100000"/>
              <a:buChar char="•"/>
            </a:pPr>
            <a:r>
              <a:rPr lang="en-US" sz="1700" dirty="0">
                <a:solidFill>
                  <a:schemeClr val="tx1"/>
                </a:solidFill>
              </a:rPr>
              <a:t>PromQL takes time to learn</a:t>
            </a:r>
            <a:endParaRPr lang="en-US" sz="1700" dirty="0"/>
          </a:p>
        </p:txBody>
      </p:sp>
      <p:sp>
        <p:nvSpPr>
          <p:cNvPr id="13" name="column Bugs our tests found"/>
          <p:cNvSpPr/>
          <p:nvPr/>
        </p:nvSpPr>
        <p:spPr>
          <a:xfrm>
            <a:off x="8046720" y="1325880"/>
            <a:ext cx="3520440" cy="4754880"/>
          </a:xfrm>
          <a:prstGeom prst="roundRect">
            <a:avLst>
              <a:gd name="adj" fmla="val 3117"/>
            </a:avLst>
          </a:prstGeom>
          <a:solidFill>
            <a:schemeClr val="bg2"/>
          </a:solidFill>
          <a:ln/>
        </p:spPr>
      </p:sp>
      <p:sp>
        <p:nvSpPr>
          <p:cNvPr id="14" name="column Bugs our tests found circle"/>
          <p:cNvSpPr/>
          <p:nvPr/>
        </p:nvSpPr>
        <p:spPr>
          <a:xfrm>
            <a:off x="8321040" y="1554480"/>
            <a:ext cx="640080" cy="640080"/>
          </a:xfrm>
          <a:prstGeom prst="ellipse">
            <a:avLst/>
          </a:prstGeom>
          <a:solidFill>
            <a:schemeClr val="accent1"/>
          </a:solidFill>
          <a:ln/>
        </p:spPr>
      </p:sp>
      <p:pic>
        <p:nvPicPr>
          <p:cNvPr id="15" name="column Bugs our tests found icon" descr="preencoded.png">    </p:cNvPr>
          <p:cNvPicPr>
            <a:picLocks noChangeAspect="1"/>
          </p:cNvPicPr>
          <p:nvPr/>
        </p:nvPicPr>
        <p:blipFill>
          <a:blip r:embed="rId3"/>
          <a:stretch>
            <a:fillRect/>
          </a:stretch>
        </p:blipFill>
        <p:spPr>
          <a:xfrm>
            <a:off x="8476488" y="1709928"/>
            <a:ext cx="329184" cy="329184"/>
          </a:xfrm>
          <a:prstGeom prst="rect">
            <a:avLst/>
          </a:prstGeom>
        </p:spPr>
      </p:pic>
      <p:sp>
        <p:nvSpPr>
          <p:cNvPr id="16" name="Text 11"/>
          <p:cNvSpPr txBox="1"/>
          <p:nvPr/>
        </p:nvSpPr>
        <p:spPr>
          <a:xfrm>
            <a:off x="9098280" y="1554480"/>
            <a:ext cx="2331720" cy="640080"/>
          </a:xfrm>
          <a:prstGeom prst="rect">
            <a:avLst/>
          </a:prstGeom>
          <a:noFill/>
          <a:ln/>
        </p:spPr>
        <p:txBody>
          <a:bodyPr wrap="square" lIns="0" tIns="0" rIns="0" bIns="0" rtlCol="0" anchor="ctr"/>
          <a:lstStyle/>
          <a:p>
            <a:pPr indent="0" marL="0">
              <a:buNone/>
            </a:pPr>
            <a:r>
              <a:rPr lang="en-US" sz="2000" b="1" dirty="0">
                <a:solidFill>
                  <a:schemeClr val="accent1"/>
                </a:solidFill>
              </a:rPr>
              <a:t>Bugs our tests found</a:t>
            </a:r>
            <a:endParaRPr lang="en-US" sz="2000" dirty="0"/>
          </a:p>
        </p:txBody>
      </p:sp>
      <p:sp>
        <p:nvSpPr>
          <p:cNvPr id="17" name="Text 12"/>
          <p:cNvSpPr txBox="1"/>
          <p:nvPr/>
        </p:nvSpPr>
        <p:spPr>
          <a:xfrm>
            <a:off x="8321040" y="2423160"/>
            <a:ext cx="3063240" cy="347472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CPU alert never fired: the usage ratio was too jumpy, so we alert on throttling instead</a:t>
            </a:r>
            <a:endParaRPr lang="en-US" sz="1700" dirty="0"/>
          </a:p>
          <a:p>
            <a:pPr marL="342900" indent="-342900">
              <a:spcAft>
                <a:spcPts val="1400"/>
              </a:spcAft>
              <a:buSzPct val="100000"/>
              <a:buChar char="•"/>
            </a:pPr>
            <a:r>
              <a:rPr lang="en-US" sz="1700" dirty="0">
                <a:solidFill>
                  <a:schemeClr val="tx1"/>
                </a:solidFill>
              </a:rPr>
              <a:t>Database alert flapped: the exporter timed out, so we added a 1 s timeout and alert on up == 0 too</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Tested like code: the CI pipeline</a:t>
            </a:r>
            <a:endParaRPr lang="en-US" sz="3200" dirty="0"/>
          </a:p>
        </p:txBody>
      </p:sp>
      <p:sp>
        <p:nvSpPr>
          <p:cNvPr id="3" name="ci git push circle"/>
          <p:cNvSpPr/>
          <p:nvPr/>
        </p:nvSpPr>
        <p:spPr>
          <a:xfrm>
            <a:off x="1115568" y="1463040"/>
            <a:ext cx="868680" cy="868680"/>
          </a:xfrm>
          <a:prstGeom prst="ellipse">
            <a:avLst/>
          </a:prstGeom>
          <a:solidFill>
            <a:schemeClr val="accent1"/>
          </a:solidFill>
          <a:ln/>
        </p:spPr>
      </p:sp>
      <p:pic>
        <p:nvPicPr>
          <p:cNvPr id="4" name="ci git push icon" descr="preencoded.png">    </p:cNvPr>
          <p:cNvPicPr>
            <a:picLocks noChangeAspect="1"/>
          </p:cNvPicPr>
          <p:nvPr/>
        </p:nvPicPr>
        <p:blipFill>
          <a:blip r:embed="rId1"/>
          <a:stretch>
            <a:fillRect/>
          </a:stretch>
        </p:blipFill>
        <p:spPr>
          <a:xfrm>
            <a:off x="1324051" y="1671523"/>
            <a:ext cx="451714" cy="451714"/>
          </a:xfrm>
          <a:prstGeom prst="rect">
            <a:avLst/>
          </a:prstGeom>
        </p:spPr>
      </p:pic>
      <p:sp>
        <p:nvSpPr>
          <p:cNvPr id="5" name="ci arrow 1"/>
          <p:cNvSpPr/>
          <p:nvPr/>
        </p:nvSpPr>
        <p:spPr>
          <a:xfrm>
            <a:off x="2148840" y="1719072"/>
            <a:ext cx="457200" cy="365760"/>
          </a:xfrm>
          <a:prstGeom prst="rightArrow">
            <a:avLst/>
          </a:prstGeom>
          <a:solidFill>
            <a:schemeClr val="accent5"/>
          </a:solidFill>
          <a:ln/>
        </p:spPr>
      </p:sp>
      <p:sp>
        <p:nvSpPr>
          <p:cNvPr id="6" name="Text 3"/>
          <p:cNvSpPr txBox="1"/>
          <p:nvPr/>
        </p:nvSpPr>
        <p:spPr>
          <a:xfrm>
            <a:off x="548640" y="2514600"/>
            <a:ext cx="2011680" cy="411480"/>
          </a:xfrm>
          <a:prstGeom prst="rect">
            <a:avLst/>
          </a:prstGeom>
          <a:noFill/>
          <a:ln/>
        </p:spPr>
        <p:txBody>
          <a:bodyPr wrap="square" lIns="0" tIns="0" rIns="0" bIns="0" rtlCol="0" anchor="ctr"/>
          <a:lstStyle/>
          <a:p>
            <a:pPr algn="ctr" indent="0" marL="0">
              <a:buNone/>
            </a:pPr>
            <a:r>
              <a:rPr lang="en-US" sz="1800" b="1" dirty="0">
                <a:solidFill>
                  <a:schemeClr val="tx1"/>
                </a:solidFill>
              </a:rPr>
              <a:t>git push</a:t>
            </a:r>
            <a:endParaRPr lang="en-US" sz="1800" dirty="0"/>
          </a:p>
        </p:txBody>
      </p:sp>
      <p:sp>
        <p:nvSpPr>
          <p:cNvPr id="7" name="Text 4"/>
          <p:cNvSpPr txBox="1"/>
          <p:nvPr/>
        </p:nvSpPr>
        <p:spPr>
          <a:xfrm>
            <a:off x="548640" y="2926080"/>
            <a:ext cx="2011680" cy="1188720"/>
          </a:xfrm>
          <a:prstGeom prst="rect">
            <a:avLst/>
          </a:prstGeom>
          <a:noFill/>
          <a:ln/>
        </p:spPr>
        <p:txBody>
          <a:bodyPr wrap="square" lIns="0" tIns="0" rIns="0" bIns="0" rtlCol="0" anchor="t"/>
          <a:lstStyle/>
          <a:p>
            <a:pPr algn="ctr" indent="0" marL="0">
              <a:buNone/>
            </a:pPr>
            <a:r>
              <a:rPr lang="en-US" sz="1500" dirty="0">
                <a:solidFill>
                  <a:schemeClr val="accent5"/>
                </a:solidFill>
              </a:rPr>
              <a:t>GitHub Actions starts on every push to main</a:t>
            </a:r>
            <a:endParaRPr lang="en-US" sz="1500" dirty="0"/>
          </a:p>
        </p:txBody>
      </p:sp>
      <p:sp>
        <p:nvSpPr>
          <p:cNvPr id="8" name="ci Unit tests circle"/>
          <p:cNvSpPr/>
          <p:nvPr/>
        </p:nvSpPr>
        <p:spPr>
          <a:xfrm>
            <a:off x="3383280" y="1463040"/>
            <a:ext cx="868680" cy="868680"/>
          </a:xfrm>
          <a:prstGeom prst="ellipse">
            <a:avLst/>
          </a:prstGeom>
          <a:solidFill>
            <a:schemeClr val="accent1"/>
          </a:solidFill>
          <a:ln/>
        </p:spPr>
      </p:sp>
      <p:pic>
        <p:nvPicPr>
          <p:cNvPr id="9" name="ci Unit tests icon" descr="preencoded.png">    </p:cNvPr>
          <p:cNvPicPr>
            <a:picLocks noChangeAspect="1"/>
          </p:cNvPicPr>
          <p:nvPr/>
        </p:nvPicPr>
        <p:blipFill>
          <a:blip r:embed="rId2"/>
          <a:stretch>
            <a:fillRect/>
          </a:stretch>
        </p:blipFill>
        <p:spPr>
          <a:xfrm>
            <a:off x="3591763" y="1671523"/>
            <a:ext cx="451714" cy="451714"/>
          </a:xfrm>
          <a:prstGeom prst="rect">
            <a:avLst/>
          </a:prstGeom>
        </p:spPr>
      </p:pic>
      <p:sp>
        <p:nvSpPr>
          <p:cNvPr id="10" name="ci arrow 2"/>
          <p:cNvSpPr/>
          <p:nvPr/>
        </p:nvSpPr>
        <p:spPr>
          <a:xfrm>
            <a:off x="4416552" y="1719072"/>
            <a:ext cx="457200" cy="365760"/>
          </a:xfrm>
          <a:prstGeom prst="rightArrow">
            <a:avLst/>
          </a:prstGeom>
          <a:solidFill>
            <a:schemeClr val="accent5"/>
          </a:solidFill>
          <a:ln/>
        </p:spPr>
      </p:sp>
      <p:sp>
        <p:nvSpPr>
          <p:cNvPr id="11" name="Text 7"/>
          <p:cNvSpPr txBox="1"/>
          <p:nvPr/>
        </p:nvSpPr>
        <p:spPr>
          <a:xfrm>
            <a:off x="2816352" y="2514600"/>
            <a:ext cx="2011680" cy="411480"/>
          </a:xfrm>
          <a:prstGeom prst="rect">
            <a:avLst/>
          </a:prstGeom>
          <a:noFill/>
          <a:ln/>
        </p:spPr>
        <p:txBody>
          <a:bodyPr wrap="square" lIns="0" tIns="0" rIns="0" bIns="0" rtlCol="0" anchor="ctr"/>
          <a:lstStyle/>
          <a:p>
            <a:pPr algn="ctr" indent="0" marL="0">
              <a:buNone/>
            </a:pPr>
            <a:r>
              <a:rPr lang="en-US" sz="1800" b="1" dirty="0">
                <a:solidFill>
                  <a:schemeClr val="tx1"/>
                </a:solidFill>
              </a:rPr>
              <a:t>Unit tests</a:t>
            </a:r>
            <a:endParaRPr lang="en-US" sz="1800" dirty="0"/>
          </a:p>
        </p:txBody>
      </p:sp>
      <p:sp>
        <p:nvSpPr>
          <p:cNvPr id="12" name="Text 8"/>
          <p:cNvSpPr txBox="1"/>
          <p:nvPr/>
        </p:nvSpPr>
        <p:spPr>
          <a:xfrm>
            <a:off x="2816352" y="2926080"/>
            <a:ext cx="2011680" cy="1188720"/>
          </a:xfrm>
          <a:prstGeom prst="rect">
            <a:avLst/>
          </a:prstGeom>
          <a:noFill/>
          <a:ln/>
        </p:spPr>
        <p:txBody>
          <a:bodyPr wrap="square" lIns="0" tIns="0" rIns="0" bIns="0" rtlCol="0" anchor="t"/>
          <a:lstStyle/>
          <a:p>
            <a:pPr algn="ctr" indent="0" marL="0">
              <a:buNone/>
            </a:pPr>
            <a:r>
              <a:rPr lang="en-US" sz="1500" dirty="0">
                <a:solidFill>
                  <a:schemeClr val="accent5"/>
                </a:solidFill>
              </a:rPr>
              <a:t>20 app tests, 6 receiver tests, flake8</a:t>
            </a:r>
            <a:endParaRPr lang="en-US" sz="1500" dirty="0"/>
          </a:p>
        </p:txBody>
      </p:sp>
      <p:sp>
        <p:nvSpPr>
          <p:cNvPr id="13" name="ci Rule tests circle"/>
          <p:cNvSpPr/>
          <p:nvPr/>
        </p:nvSpPr>
        <p:spPr>
          <a:xfrm>
            <a:off x="5650992" y="1463040"/>
            <a:ext cx="868680" cy="868680"/>
          </a:xfrm>
          <a:prstGeom prst="ellipse">
            <a:avLst/>
          </a:prstGeom>
          <a:solidFill>
            <a:schemeClr val="accent1"/>
          </a:solidFill>
          <a:ln/>
        </p:spPr>
      </p:sp>
      <p:pic>
        <p:nvPicPr>
          <p:cNvPr id="14" name="ci Rule tests icon" descr="preencoded.png">    </p:cNvPr>
          <p:cNvPicPr>
            <a:picLocks noChangeAspect="1"/>
          </p:cNvPicPr>
          <p:nvPr/>
        </p:nvPicPr>
        <p:blipFill>
          <a:blip r:embed="rId3"/>
          <a:stretch>
            <a:fillRect/>
          </a:stretch>
        </p:blipFill>
        <p:spPr>
          <a:xfrm>
            <a:off x="5859475" y="1671523"/>
            <a:ext cx="451714" cy="451714"/>
          </a:xfrm>
          <a:prstGeom prst="rect">
            <a:avLst/>
          </a:prstGeom>
        </p:spPr>
      </p:pic>
      <p:sp>
        <p:nvSpPr>
          <p:cNvPr id="15" name="ci arrow 3"/>
          <p:cNvSpPr/>
          <p:nvPr/>
        </p:nvSpPr>
        <p:spPr>
          <a:xfrm>
            <a:off x="6684264" y="1719072"/>
            <a:ext cx="457200" cy="365760"/>
          </a:xfrm>
          <a:prstGeom prst="rightArrow">
            <a:avLst/>
          </a:prstGeom>
          <a:solidFill>
            <a:schemeClr val="accent5"/>
          </a:solidFill>
          <a:ln/>
        </p:spPr>
      </p:sp>
      <p:sp>
        <p:nvSpPr>
          <p:cNvPr id="16" name="Text 11"/>
          <p:cNvSpPr txBox="1"/>
          <p:nvPr/>
        </p:nvSpPr>
        <p:spPr>
          <a:xfrm>
            <a:off x="5084064" y="2514600"/>
            <a:ext cx="2011680" cy="411480"/>
          </a:xfrm>
          <a:prstGeom prst="rect">
            <a:avLst/>
          </a:prstGeom>
          <a:noFill/>
          <a:ln/>
        </p:spPr>
        <p:txBody>
          <a:bodyPr wrap="square" lIns="0" tIns="0" rIns="0" bIns="0" rtlCol="0" anchor="ctr"/>
          <a:lstStyle/>
          <a:p>
            <a:pPr algn="ctr" indent="0" marL="0">
              <a:buNone/>
            </a:pPr>
            <a:r>
              <a:rPr lang="en-US" sz="1800" b="1" dirty="0">
                <a:solidFill>
                  <a:schemeClr val="tx1"/>
                </a:solidFill>
              </a:rPr>
              <a:t>Rule tests</a:t>
            </a:r>
            <a:endParaRPr lang="en-US" sz="1800" dirty="0"/>
          </a:p>
        </p:txBody>
      </p:sp>
      <p:sp>
        <p:nvSpPr>
          <p:cNvPr id="17" name="Text 12"/>
          <p:cNvSpPr txBox="1"/>
          <p:nvPr/>
        </p:nvSpPr>
        <p:spPr>
          <a:xfrm>
            <a:off x="5084064" y="2926080"/>
            <a:ext cx="2011680" cy="1188720"/>
          </a:xfrm>
          <a:prstGeom prst="rect">
            <a:avLst/>
          </a:prstGeom>
          <a:noFill/>
          <a:ln/>
        </p:spPr>
        <p:txBody>
          <a:bodyPr wrap="square" lIns="0" tIns="0" rIns="0" bIns="0" rtlCol="0" anchor="t"/>
          <a:lstStyle/>
          <a:p>
            <a:pPr algn="ctr" indent="0" marL="0">
              <a:buNone/>
            </a:pPr>
            <a:r>
              <a:rPr lang="en-US" sz="1500" dirty="0">
                <a:solidFill>
                  <a:schemeClr val="accent5"/>
                </a:solidFill>
              </a:rPr>
              <a:t>8 promtool cases, amtool routing checks</a:t>
            </a:r>
            <a:endParaRPr lang="en-US" sz="1500" dirty="0"/>
          </a:p>
        </p:txBody>
      </p:sp>
      <p:sp>
        <p:nvSpPr>
          <p:cNvPr id="18" name="ci Start the stack circle"/>
          <p:cNvSpPr/>
          <p:nvPr/>
        </p:nvSpPr>
        <p:spPr>
          <a:xfrm>
            <a:off x="7918704" y="1463040"/>
            <a:ext cx="868680" cy="868680"/>
          </a:xfrm>
          <a:prstGeom prst="ellipse">
            <a:avLst/>
          </a:prstGeom>
          <a:solidFill>
            <a:schemeClr val="accent1"/>
          </a:solidFill>
          <a:ln/>
        </p:spPr>
      </p:sp>
      <p:pic>
        <p:nvPicPr>
          <p:cNvPr id="19" name="ci Start the stack icon" descr="preencoded.png">    </p:cNvPr>
          <p:cNvPicPr>
            <a:picLocks noChangeAspect="1"/>
          </p:cNvPicPr>
          <p:nvPr/>
        </p:nvPicPr>
        <p:blipFill>
          <a:blip r:embed="rId4"/>
          <a:stretch>
            <a:fillRect/>
          </a:stretch>
        </p:blipFill>
        <p:spPr>
          <a:xfrm>
            <a:off x="8127187" y="1671523"/>
            <a:ext cx="451714" cy="451714"/>
          </a:xfrm>
          <a:prstGeom prst="rect">
            <a:avLst/>
          </a:prstGeom>
        </p:spPr>
      </p:pic>
      <p:sp>
        <p:nvSpPr>
          <p:cNvPr id="20" name="ci arrow 4"/>
          <p:cNvSpPr/>
          <p:nvPr/>
        </p:nvSpPr>
        <p:spPr>
          <a:xfrm>
            <a:off x="8951976" y="1719072"/>
            <a:ext cx="457200" cy="365760"/>
          </a:xfrm>
          <a:prstGeom prst="rightArrow">
            <a:avLst/>
          </a:prstGeom>
          <a:solidFill>
            <a:schemeClr val="accent5"/>
          </a:solidFill>
          <a:ln/>
        </p:spPr>
      </p:sp>
      <p:sp>
        <p:nvSpPr>
          <p:cNvPr id="21" name="Text 15"/>
          <p:cNvSpPr txBox="1"/>
          <p:nvPr/>
        </p:nvSpPr>
        <p:spPr>
          <a:xfrm>
            <a:off x="7351776" y="2514600"/>
            <a:ext cx="2011680" cy="411480"/>
          </a:xfrm>
          <a:prstGeom prst="rect">
            <a:avLst/>
          </a:prstGeom>
          <a:noFill/>
          <a:ln/>
        </p:spPr>
        <p:txBody>
          <a:bodyPr wrap="square" lIns="0" tIns="0" rIns="0" bIns="0" rtlCol="0" anchor="ctr"/>
          <a:lstStyle/>
          <a:p>
            <a:pPr algn="ctr" indent="0" marL="0">
              <a:buNone/>
            </a:pPr>
            <a:r>
              <a:rPr lang="en-US" sz="1800" b="1" dirty="0">
                <a:solidFill>
                  <a:schemeClr val="tx1"/>
                </a:solidFill>
              </a:rPr>
              <a:t>Start the stack</a:t>
            </a:r>
            <a:endParaRPr lang="en-US" sz="1800" dirty="0"/>
          </a:p>
        </p:txBody>
      </p:sp>
      <p:sp>
        <p:nvSpPr>
          <p:cNvPr id="22" name="Text 16"/>
          <p:cNvSpPr txBox="1"/>
          <p:nvPr/>
        </p:nvSpPr>
        <p:spPr>
          <a:xfrm>
            <a:off x="7351776" y="2926080"/>
            <a:ext cx="2011680" cy="1188720"/>
          </a:xfrm>
          <a:prstGeom prst="rect">
            <a:avLst/>
          </a:prstGeom>
          <a:noFill/>
          <a:ln/>
        </p:spPr>
        <p:txBody>
          <a:bodyPr wrap="square" lIns="0" tIns="0" rIns="0" bIns="0" rtlCol="0" anchor="t"/>
          <a:lstStyle/>
          <a:p>
            <a:pPr algn="ctr" indent="0" marL="0">
              <a:buNone/>
            </a:pPr>
            <a:r>
              <a:rPr lang="en-US" sz="1500" dirty="0">
                <a:solidFill>
                  <a:schemeClr val="accent5"/>
                </a:solidFill>
              </a:rPr>
              <a:t>all 10 containers, wait for targets and heartbeat</a:t>
            </a:r>
            <a:endParaRPr lang="en-US" sz="1500" dirty="0"/>
          </a:p>
        </p:txBody>
      </p:sp>
      <p:sp>
        <p:nvSpPr>
          <p:cNvPr id="23" name="ci Break it circle"/>
          <p:cNvSpPr/>
          <p:nvPr/>
        </p:nvSpPr>
        <p:spPr>
          <a:xfrm>
            <a:off x="10186416" y="1463040"/>
            <a:ext cx="868680" cy="868680"/>
          </a:xfrm>
          <a:prstGeom prst="ellipse">
            <a:avLst/>
          </a:prstGeom>
          <a:solidFill>
            <a:schemeClr val="accent1"/>
          </a:solidFill>
          <a:ln/>
        </p:spPr>
      </p:sp>
      <p:pic>
        <p:nvPicPr>
          <p:cNvPr id="24" name="ci Break it icon" descr="preencoded.png">    </p:cNvPr>
          <p:cNvPicPr>
            <a:picLocks noChangeAspect="1"/>
          </p:cNvPicPr>
          <p:nvPr/>
        </p:nvPicPr>
        <p:blipFill>
          <a:blip r:embed="rId5"/>
          <a:stretch>
            <a:fillRect/>
          </a:stretch>
        </p:blipFill>
        <p:spPr>
          <a:xfrm>
            <a:off x="10394899" y="1671523"/>
            <a:ext cx="451714" cy="451714"/>
          </a:xfrm>
          <a:prstGeom prst="rect">
            <a:avLst/>
          </a:prstGeom>
        </p:spPr>
      </p:pic>
      <p:sp>
        <p:nvSpPr>
          <p:cNvPr id="25" name="Text 18"/>
          <p:cNvSpPr txBox="1"/>
          <p:nvPr/>
        </p:nvSpPr>
        <p:spPr>
          <a:xfrm>
            <a:off x="9619488" y="2514600"/>
            <a:ext cx="2011680" cy="411480"/>
          </a:xfrm>
          <a:prstGeom prst="rect">
            <a:avLst/>
          </a:prstGeom>
          <a:noFill/>
          <a:ln/>
        </p:spPr>
        <p:txBody>
          <a:bodyPr wrap="square" lIns="0" tIns="0" rIns="0" bIns="0" rtlCol="0" anchor="ctr"/>
          <a:lstStyle/>
          <a:p>
            <a:pPr algn="ctr" indent="0" marL="0">
              <a:buNone/>
            </a:pPr>
            <a:r>
              <a:rPr lang="en-US" sz="1800" b="1" dirty="0">
                <a:solidFill>
                  <a:schemeClr val="tx1"/>
                </a:solidFill>
              </a:rPr>
              <a:t>Break it</a:t>
            </a:r>
            <a:endParaRPr lang="en-US" sz="1800" dirty="0"/>
          </a:p>
        </p:txBody>
      </p:sp>
      <p:sp>
        <p:nvSpPr>
          <p:cNvPr id="26" name="Text 19"/>
          <p:cNvSpPr txBox="1"/>
          <p:nvPr/>
        </p:nvSpPr>
        <p:spPr>
          <a:xfrm>
            <a:off x="9619488" y="2926080"/>
            <a:ext cx="2011680" cy="1188720"/>
          </a:xfrm>
          <a:prstGeom prst="rect">
            <a:avLst/>
          </a:prstGeom>
          <a:noFill/>
          <a:ln/>
        </p:spPr>
        <p:txBody>
          <a:bodyPr wrap="square" lIns="0" tIns="0" rIns="0" bIns="0" rtlCol="0" anchor="t"/>
          <a:lstStyle/>
          <a:p>
            <a:pPr algn="ctr" indent="0" marL="0">
              <a:buNone/>
            </a:pPr>
            <a:r>
              <a:rPr lang="en-US" sz="1500" dirty="0">
                <a:solidFill>
                  <a:schemeClr val="accent5"/>
                </a:solidFill>
              </a:rPr>
              <a:t>inject 50% errors; pass only if chat AND email get the alert</a:t>
            </a:r>
            <a:endParaRPr lang="en-US" sz="1500" dirty="0"/>
          </a:p>
        </p:txBody>
      </p:sp>
      <p:sp>
        <p:nvSpPr>
          <p:cNvPr id="27" name="ci why card"/>
          <p:cNvSpPr/>
          <p:nvPr/>
        </p:nvSpPr>
        <p:spPr>
          <a:xfrm>
            <a:off x="548640" y="4434840"/>
            <a:ext cx="11064240" cy="1463040"/>
          </a:xfrm>
          <a:prstGeom prst="roundRect">
            <a:avLst>
              <a:gd name="adj" fmla="val 7500"/>
            </a:avLst>
          </a:prstGeom>
          <a:solidFill>
            <a:schemeClr val="bg2"/>
          </a:solidFill>
          <a:ln/>
        </p:spPr>
      </p:sp>
      <p:sp>
        <p:nvSpPr>
          <p:cNvPr id="28" name="Text 21"/>
          <p:cNvSpPr txBox="1"/>
          <p:nvPr/>
        </p:nvSpPr>
        <p:spPr>
          <a:xfrm>
            <a:off x="822960" y="4526280"/>
            <a:ext cx="10515600" cy="1280160"/>
          </a:xfrm>
          <a:prstGeom prst="rect">
            <a:avLst/>
          </a:prstGeom>
          <a:noFill/>
          <a:ln/>
        </p:spPr>
        <p:txBody>
          <a:bodyPr wrap="square" lIns="0" tIns="0" rIns="0" bIns="0" rtlCol="0" anchor="ctr"/>
          <a:lstStyle/>
          <a:p>
            <a:pPr indent="0" marL="0">
              <a:buNone/>
            </a:pPr>
            <a:r>
              <a:rPr lang="en-US" sz="1600" b="1" dirty="0">
                <a:solidFill>
                  <a:schemeClr val="accent1"/>
                </a:solidFill>
              </a:rPr>
              <a:t>Why this matters: </a:t>
            </a:r>
            <a:pPr indent="0" marL="0">
              <a:buNone/>
            </a:pPr>
            <a:r>
              <a:rPr lang="en-US" sz="1600" dirty="0">
                <a:solidFill>
                  <a:schemeClr val="tx1"/>
                </a:solidFill>
              </a:rPr>
              <a:t>a broken alert rule is as bad as broken code, because nobody hears about the next outage. Every change to a rule, a route or a template is tested before it can reach main, including one test proving a 10-second blip does not page anyone.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914400"/>
          </a:xfrm>
          <a:prstGeom prst="rect">
            <a:avLst/>
          </a:prstGeom>
          <a:noFill/>
          <a:ln/>
        </p:spPr>
        <p:txBody>
          <a:bodyPr wrap="square" lIns="0" tIns="0" rIns="0" bIns="0" rtlCol="0" anchor="ctr"/>
          <a:lstStyle/>
          <a:p>
            <a:pPr algn="l" indent="0" marL="0">
              <a:buNone/>
            </a:pPr>
            <a:r>
              <a:rPr lang="en-US" sz="3600" b="1" dirty="0">
                <a:solidFill>
                  <a:schemeClr val="bg1"/>
                </a:solidFill>
              </a:rPr>
              <a:t>Conclusion</a:t>
            </a:r>
            <a:endParaRPr lang="en-US" sz="3600" dirty="0"/>
          </a:p>
        </p:txBody>
      </p:sp>
      <p:sp>
        <p:nvSpPr>
          <p:cNvPr id="3" name="take Detects circle"/>
          <p:cNvSpPr/>
          <p:nvPr/>
        </p:nvSpPr>
        <p:spPr>
          <a:xfrm>
            <a:off x="640080" y="1737360"/>
            <a:ext cx="777240" cy="777240"/>
          </a:xfrm>
          <a:prstGeom prst="ellipse">
            <a:avLst/>
          </a:prstGeom>
          <a:solidFill>
            <a:schemeClr val="accent1"/>
          </a:solidFill>
          <a:ln/>
        </p:spPr>
      </p:sp>
      <p:pic>
        <p:nvPicPr>
          <p:cNvPr id="4" name="take Detects icon" descr="preencoded.png">    </p:cNvPr>
          <p:cNvPicPr>
            <a:picLocks noChangeAspect="1"/>
          </p:cNvPicPr>
          <p:nvPr/>
        </p:nvPicPr>
        <p:blipFill>
          <a:blip r:embed="rId1"/>
          <a:stretch>
            <a:fillRect/>
          </a:stretch>
        </p:blipFill>
        <p:spPr>
          <a:xfrm>
            <a:off x="826618" y="1923898"/>
            <a:ext cx="404165" cy="404165"/>
          </a:xfrm>
          <a:prstGeom prst="rect">
            <a:avLst/>
          </a:prstGeom>
        </p:spPr>
      </p:pic>
      <p:sp>
        <p:nvSpPr>
          <p:cNvPr id="5" name="Text 2"/>
          <p:cNvSpPr txBox="1"/>
          <p:nvPr/>
        </p:nvSpPr>
        <p:spPr>
          <a:xfrm>
            <a:off x="1691640" y="1719072"/>
            <a:ext cx="8686800" cy="411480"/>
          </a:xfrm>
          <a:prstGeom prst="rect">
            <a:avLst/>
          </a:prstGeom>
          <a:noFill/>
          <a:ln/>
        </p:spPr>
        <p:txBody>
          <a:bodyPr wrap="square" lIns="0" tIns="0" rIns="0" bIns="0" rtlCol="0" anchor="ctr"/>
          <a:lstStyle/>
          <a:p>
            <a:pPr indent="0" marL="0">
              <a:buNone/>
            </a:pPr>
            <a:r>
              <a:rPr lang="en-US" sz="2100" b="1" dirty="0">
                <a:solidFill>
                  <a:schemeClr val="accent1"/>
                </a:solidFill>
              </a:rPr>
              <a:t>Detects</a:t>
            </a:r>
            <a:endParaRPr lang="en-US" sz="2100" dirty="0"/>
          </a:p>
        </p:txBody>
      </p:sp>
      <p:sp>
        <p:nvSpPr>
          <p:cNvPr id="6" name="Text 3"/>
          <p:cNvSpPr txBox="1"/>
          <p:nvPr/>
        </p:nvSpPr>
        <p:spPr>
          <a:xfrm>
            <a:off x="1691640" y="2130552"/>
            <a:ext cx="8686800" cy="411480"/>
          </a:xfrm>
          <a:prstGeom prst="rect">
            <a:avLst/>
          </a:prstGeom>
          <a:noFill/>
          <a:ln/>
        </p:spPr>
        <p:txBody>
          <a:bodyPr wrap="square" lIns="0" tIns="0" rIns="0" bIns="0" rtlCol="0" anchor="ctr"/>
          <a:lstStyle/>
          <a:p>
            <a:pPr indent="0" marL="0">
              <a:buNone/>
            </a:pPr>
            <a:r>
              <a:rPr lang="en-US" sz="1700" dirty="0">
                <a:solidFill>
                  <a:schemeClr val="bg1"/>
                </a:solidFill>
              </a:rPr>
              <a:t>all 9 failure types, from a crash to a slow memory leak, in 16 to 90 seconds</a:t>
            </a:r>
            <a:endParaRPr lang="en-US" sz="1700" dirty="0"/>
          </a:p>
        </p:txBody>
      </p:sp>
      <p:sp>
        <p:nvSpPr>
          <p:cNvPr id="7" name="take Filters circle"/>
          <p:cNvSpPr/>
          <p:nvPr/>
        </p:nvSpPr>
        <p:spPr>
          <a:xfrm>
            <a:off x="640080" y="2971800"/>
            <a:ext cx="777240" cy="777240"/>
          </a:xfrm>
          <a:prstGeom prst="ellipse">
            <a:avLst/>
          </a:prstGeom>
          <a:solidFill>
            <a:schemeClr val="accent1"/>
          </a:solidFill>
          <a:ln/>
        </p:spPr>
      </p:sp>
      <p:pic>
        <p:nvPicPr>
          <p:cNvPr id="8" name="take Filters icon" descr="preencoded.png">    </p:cNvPr>
          <p:cNvPicPr>
            <a:picLocks noChangeAspect="1"/>
          </p:cNvPicPr>
          <p:nvPr/>
        </p:nvPicPr>
        <p:blipFill>
          <a:blip r:embed="rId2"/>
          <a:stretch>
            <a:fillRect/>
          </a:stretch>
        </p:blipFill>
        <p:spPr>
          <a:xfrm>
            <a:off x="826618" y="3158338"/>
            <a:ext cx="404165" cy="404165"/>
          </a:xfrm>
          <a:prstGeom prst="rect">
            <a:avLst/>
          </a:prstGeom>
        </p:spPr>
      </p:pic>
      <p:sp>
        <p:nvSpPr>
          <p:cNvPr id="9" name="Text 5"/>
          <p:cNvSpPr txBox="1"/>
          <p:nvPr/>
        </p:nvSpPr>
        <p:spPr>
          <a:xfrm>
            <a:off x="1691640" y="2953512"/>
            <a:ext cx="8686800" cy="411480"/>
          </a:xfrm>
          <a:prstGeom prst="rect">
            <a:avLst/>
          </a:prstGeom>
          <a:noFill/>
          <a:ln/>
        </p:spPr>
        <p:txBody>
          <a:bodyPr wrap="square" lIns="0" tIns="0" rIns="0" bIns="0" rtlCol="0" anchor="ctr"/>
          <a:lstStyle/>
          <a:p>
            <a:pPr indent="0" marL="0">
              <a:buNone/>
            </a:pPr>
            <a:r>
              <a:rPr lang="en-US" sz="2100" b="1" dirty="0">
                <a:solidFill>
                  <a:schemeClr val="accent1"/>
                </a:solidFill>
              </a:rPr>
              <a:t>Filters</a:t>
            </a:r>
            <a:endParaRPr lang="en-US" sz="2100" dirty="0"/>
          </a:p>
        </p:txBody>
      </p:sp>
      <p:sp>
        <p:nvSpPr>
          <p:cNvPr id="10" name="Text 6"/>
          <p:cNvSpPr txBox="1"/>
          <p:nvPr/>
        </p:nvSpPr>
        <p:spPr>
          <a:xfrm>
            <a:off x="1691640" y="3364992"/>
            <a:ext cx="8686800" cy="411480"/>
          </a:xfrm>
          <a:prstGeom prst="rect">
            <a:avLst/>
          </a:prstGeom>
          <a:noFill/>
          <a:ln/>
        </p:spPr>
        <p:txBody>
          <a:bodyPr wrap="square" lIns="0" tIns="0" rIns="0" bIns="0" rtlCol="0" anchor="ctr"/>
          <a:lstStyle/>
          <a:p>
            <a:pPr indent="0" marL="0">
              <a:buNone/>
            </a:pPr>
            <a:r>
              <a:rPr lang="en-US" sz="1700" dirty="0">
                <a:solidFill>
                  <a:schemeClr val="bg1"/>
                </a:solidFill>
              </a:rPr>
              <a:t>one message per incident; a 10-second blip pages nobody</a:t>
            </a:r>
            <a:endParaRPr lang="en-US" sz="1700" dirty="0"/>
          </a:p>
        </p:txBody>
      </p:sp>
      <p:sp>
        <p:nvSpPr>
          <p:cNvPr id="11" name="take Closes the loop circle"/>
          <p:cNvSpPr/>
          <p:nvPr/>
        </p:nvSpPr>
        <p:spPr>
          <a:xfrm>
            <a:off x="640080" y="4206240"/>
            <a:ext cx="777240" cy="777240"/>
          </a:xfrm>
          <a:prstGeom prst="ellipse">
            <a:avLst/>
          </a:prstGeom>
          <a:solidFill>
            <a:schemeClr val="accent1"/>
          </a:solidFill>
          <a:ln/>
        </p:spPr>
      </p:sp>
      <p:pic>
        <p:nvPicPr>
          <p:cNvPr id="12" name="take Closes the loop icon" descr="preencoded.png">    </p:cNvPr>
          <p:cNvPicPr>
            <a:picLocks noChangeAspect="1"/>
          </p:cNvPicPr>
          <p:nvPr/>
        </p:nvPicPr>
        <p:blipFill>
          <a:blip r:embed="rId3"/>
          <a:stretch>
            <a:fillRect/>
          </a:stretch>
        </p:blipFill>
        <p:spPr>
          <a:xfrm>
            <a:off x="826618" y="4392778"/>
            <a:ext cx="404165" cy="404165"/>
          </a:xfrm>
          <a:prstGeom prst="rect">
            <a:avLst/>
          </a:prstGeom>
        </p:spPr>
      </p:pic>
      <p:sp>
        <p:nvSpPr>
          <p:cNvPr id="13" name="Text 8"/>
          <p:cNvSpPr txBox="1"/>
          <p:nvPr/>
        </p:nvSpPr>
        <p:spPr>
          <a:xfrm>
            <a:off x="1691640" y="4187952"/>
            <a:ext cx="8686800" cy="411480"/>
          </a:xfrm>
          <a:prstGeom prst="rect">
            <a:avLst/>
          </a:prstGeom>
          <a:noFill/>
          <a:ln/>
        </p:spPr>
        <p:txBody>
          <a:bodyPr wrap="square" lIns="0" tIns="0" rIns="0" bIns="0" rtlCol="0" anchor="ctr"/>
          <a:lstStyle/>
          <a:p>
            <a:pPr indent="0" marL="0">
              <a:buNone/>
            </a:pPr>
            <a:r>
              <a:rPr lang="en-US" sz="2100" b="1" dirty="0">
                <a:solidFill>
                  <a:schemeClr val="accent1"/>
                </a:solidFill>
              </a:rPr>
              <a:t>Closes the loop</a:t>
            </a:r>
            <a:endParaRPr lang="en-US" sz="2100" dirty="0"/>
          </a:p>
        </p:txBody>
      </p:sp>
      <p:sp>
        <p:nvSpPr>
          <p:cNvPr id="14" name="Text 9"/>
          <p:cNvSpPr txBox="1"/>
          <p:nvPr/>
        </p:nvSpPr>
        <p:spPr>
          <a:xfrm>
            <a:off x="1691640" y="4599432"/>
            <a:ext cx="8686800" cy="411480"/>
          </a:xfrm>
          <a:prstGeom prst="rect">
            <a:avLst/>
          </a:prstGeom>
          <a:noFill/>
          <a:ln/>
        </p:spPr>
        <p:txBody>
          <a:bodyPr wrap="square" lIns="0" tIns="0" rIns="0" bIns="0" rtlCol="0" anchor="ctr"/>
          <a:lstStyle/>
          <a:p>
            <a:pPr indent="0" marL="0">
              <a:buNone/>
            </a:pPr>
            <a:r>
              <a:rPr lang="en-US" sz="1700" dirty="0">
                <a:solidFill>
                  <a:schemeClr val="bg1"/>
                </a:solidFill>
              </a:rPr>
              <a:t>resolved messages, a heartbeat, and tests in CI for every rule</a:t>
            </a:r>
            <a:endParaRPr lang="en-US" sz="1700" dirty="0"/>
          </a:p>
        </p:txBody>
      </p:sp>
      <p:sp>
        <p:nvSpPr>
          <p:cNvPr id="15" name="Text 10"/>
          <p:cNvSpPr txBox="1"/>
          <p:nvPr/>
        </p:nvSpPr>
        <p:spPr>
          <a:xfrm>
            <a:off x="640080" y="5623560"/>
            <a:ext cx="10881360" cy="548640"/>
          </a:xfrm>
          <a:prstGeom prst="rect">
            <a:avLst/>
          </a:prstGeom>
          <a:noFill/>
          <a:ln/>
        </p:spPr>
        <p:txBody>
          <a:bodyPr wrap="square" lIns="0" tIns="0" rIns="0" bIns="0" rtlCol="0" anchor="ctr"/>
          <a:lstStyle/>
          <a:p>
            <a:pPr indent="0" marL="0">
              <a:buNone/>
            </a:pPr>
            <a:r>
              <a:rPr lang="en-US" sz="2000" b="1" dirty="0">
                <a:solidFill>
                  <a:schemeClr val="bg2"/>
                </a:solidFill>
              </a:rPr>
              <a:t>Thank you  ·  Questions?  ·  Live demonstration next</a:t>
            </a:r>
            <a:endParaRPr lang="en-US" sz="2000" dirty="0"/>
          </a:p>
        </p:txBody>
      </p:sp>
    </p:spTree>
  </p:cSld>
  <p:clrMapOvr>
    <a:masterClrMapping/>
  </p:clrMapOvr>
</p:sld>
</file>

<file path=ppt/theme/theme1.xml><?xml version="1.0" encoding="utf-8"?>
<a:theme xmlns:a="http://schemas.openxmlformats.org/drawingml/2006/main" name="Alerting Ember">
  <a:themeElements>
    <a:clrScheme name="Alerting Ember">
      <a:dk1>
        <a:srgbClr val="1C1917"/>
      </a:dk1>
      <a:lt1>
        <a:srgbClr val="FFFFFF"/>
      </a:lt1>
      <a:dk2>
        <a:srgbClr val="292524"/>
      </a:dk2>
      <a:lt2>
        <a:srgbClr val="F5F5F4"/>
      </a:lt2>
      <a:accent1>
        <a:srgbClr val="E6522C"/>
      </a:accent1>
      <a:accent2>
        <a:srgbClr val="0F766E"/>
      </a:accent2>
      <a:accent3>
        <a:srgbClr val="B91C1C"/>
      </a:accent3>
      <a:accent4>
        <a:srgbClr val="B45309"/>
      </a:accent4>
      <a:accent5>
        <a:srgbClr val="57534E"/>
      </a:accent5>
      <a:accent6>
        <a:srgbClr val="15803D"/>
      </a:accent6>
      <a:hlink>
        <a:srgbClr val="C2410C"/>
      </a:hlink>
      <a:folHlink>
        <a:srgbClr val="9A3412"/>
      </a:folHlink>
    </a:clrScheme>
    <a:fontScheme name="Alerting E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Failure Detection and Alert Notification for Containerized Applications</dc:title>
  <dc:subject>DevOps IA-2 case study: Prometheus and Alertmanager</dc:subject>
  <dc:creator>Yashasvi Gupta, Shweta Karandikar, Aditi Agrawal</dc:creator>
  <cp:lastModifiedBy>Yashasvi Gupta, Shweta Karandikar, Aditi Agrawal</cp:lastModifiedBy>
  <cp:revision>1</cp:revision>
  <dcterms:created xsi:type="dcterms:W3CDTF">2026-10-04T15:20:46Z</dcterms:created>
  <dcterms:modified xsi:type="dcterms:W3CDTF">2026-10-04T15:20:46Z</dcterms:modified>
</cp:coreProperties>
</file>