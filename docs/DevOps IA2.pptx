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ambria Bold" charset="1" panose="02040803050406030204"/>
      <p:regular r:id="rId21"/>
    </p:embeddedFont>
    <p:embeddedFont>
      <p:font typeface="Calibri (MS)" charset="1" panose="020F0502020204030204"/>
      <p:regular r:id="rId22"/>
    </p:embeddedFont>
    <p:embeddedFont>
      <p:font typeface="Calibri (MS) Bold" charset="1" panose="020F0702030404030204"/>
      <p:regular r:id="rId23"/>
    </p:embeddedFont>
    <p:embeddedFont>
      <p:font typeface="Calibri (MS) Italics" charset="1" panose="020F05020202040A0204"/>
      <p:regular r:id="rId24"/>
    </p:embeddedFont>
    <p:embeddedFont>
      <p:font typeface="Courier New" charset="1" panose="020703090202050204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000" b="0">
                <a:solidFill>
                  <a:srgbClr val="1C1917"/>
                </a:solidFill>
                <a:latin typeface="Calibri"/>
              </a:rPr>
              <a:t>Seconds from the fault to the first message</a:t>
            </a:r>
          </a:p>
        </c:rich>
      </c:tx>
      <c:layout/>
      <c:overlay val="0"/>
    </c:title>
    <c:autoTitleDeleted val="0"/>
    <c:plotArea>
      <c:barChart>
        <c:barDir val="bar"/>
        <c:grouping val="clustered"/>
        <c:ser>
          <c:idx val="0"/>
          <c:order val="0"/>
          <c:tx>
            <c:strRef>
              <c:f>Sheet1!$B$1</c:f>
              <c:strCache>
                <c:ptCount val="1"/>
                <c:pt idx="0">
                  <c:v>Seconds to first message</c:v>
                </c:pt>
              </c:strCache>
            </c:strRef>
          </c:tx>
          <c:spPr>
            <a:solidFill>
              <a:srgbClr val="E6522C"/>
            </a:solidFill>
          </c:spPr>
          <c:cat>
            <c:strRef>
              <c:f>Sheet1!$A$2:$A$10</c:f>
              <c:strCache>
                <c:ptCount val="9"/>
                <c:pt idx="0">
                  <c:v>Slow responses</c:v>
                </c:pt>
                <c:pt idx="1">
                  <c:v>CPU at its limit</c:v>
                </c:pt>
                <c:pt idx="2">
                  <c:v>Memory leak</c:v>
                </c:pt>
                <c:pt idx="3">
                  <c:v>API error spike</c:v>
                </c:pt>
                <c:pt idx="4">
                  <c:v>App hangs</c:v>
                </c:pt>
                <c:pt idx="5">
                  <c:v>Whole service down</c:v>
                </c:pt>
                <c:pt idx="6">
                  <c:v>Database outage</c:v>
                </c:pt>
                <c:pt idx="7">
                  <c:v>Out of memory (OOM kill)</c:v>
                </c:pt>
                <c:pt idx="8">
                  <c:v>Container crash</c:v>
                </c:pt>
              </c:strCache>
            </c:strRef>
          </c:cat>
          <c:val>
            <c:numRef>
              <c:f>Sheet1!$B$2:$B$10</c:f>
              <c:numCache>
                <c:formatCode>General</c:formatCode>
                <c:ptCount val="9"/>
                <c:pt idx="0">
                  <c:v>90</c:v>
                </c:pt>
                <c:pt idx="1">
                  <c:v>76</c:v>
                </c:pt>
                <c:pt idx="2">
                  <c:v>72</c:v>
                </c:pt>
                <c:pt idx="3">
                  <c:v>64</c:v>
                </c:pt>
                <c:pt idx="4">
                  <c:v>60</c:v>
                </c:pt>
                <c:pt idx="5">
                  <c:v>52</c:v>
                </c:pt>
                <c:pt idx="6">
                  <c:v>32</c:v>
                </c:pt>
                <c:pt idx="7">
                  <c:v>31</c:v>
                </c:pt>
                <c:pt idx="8">
                  <c:v>16</c:v>
                </c:pt>
              </c:numCache>
            </c:numRef>
          </c:val>
        </c:ser>
        <c:dLbls>
          <c:numFmt formatCode="0&quot; s&quot;" sourceLinked="0"/>
          <c:txPr>
            <a:bodyPr/>
            <a:lstStyle/>
            <a:p>
              <a:pPr>
                <a:defRPr sz="1800" b="1">
                  <a:solidFill>
                    <a:srgbClr val="FFFFFF"/>
                  </a:solidFill>
                </a:defRPr>
              </a:pPr>
            </a:p>
          </c:txPr>
          <c:dLblPos val="in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D6D3D1"/>
            </a:solidFill>
          </a:ln>
        </c:spPr>
        <c:txPr>
          <a:bodyPr/>
          <a:lstStyle/>
          <a:p>
            <a:pPr>
              <a:defRPr sz="1800"/>
            </a:pPr>
          </a:p>
        </c:txPr>
        <c:crossAx val="-2113994440"/>
        <c:crosses val="autoZero"/>
        <c:auto val="1"/>
        <c:lblAlgn val="ctr"/>
        <c:lblOffset val="100"/>
        <c:noMultiLvlLbl val="0"/>
      </c:catAx>
      <c:valAx>
        <c:axId val="-2113994440"/>
        <c:scaling>
          <c:max val="100.0"/>
          <c:min val="0.0"/>
        </c:scaling>
        <c:delete val="0"/>
        <c:axPos val="b"/>
        <c:majorGridlines>
          <c:spPr>
            <a:ln>
              <a:solidFill>
                <a:srgbClr val="E7E5E4"/>
              </a:solidFill>
            </a:ln>
          </c:spPr>
        </c:majorGridlines>
        <c:majorTickMark val="out"/>
        <c:minorTickMark val="none"/>
        <c:tickLblPos val="nextTo"/>
        <c:spPr>
          <a:ln>
            <a:noFill/>
          </a:ln>
        </c:spPr>
        <c:txPr>
          <a:bodyPr/>
          <a:lstStyle/>
          <a:p>
            <a:pPr>
              <a:defRPr sz="1600">
                <a:solidFill>
                  <a:srgbClr val="57534E"/>
                </a:solidFill>
              </a:defRPr>
            </a:pPr>
          </a:p>
        </c:txPr>
        <c:crossAx val="-2068027336"/>
        <c:crosses val="autoZero"/>
        <c:majorUnit val="20.0"/>
      </c:valAx>
    </c:plotArea>
    <c:dispBlanksAs val="gap"/>
  </c:chart>
  <c:txPr>
    <a:bodyPr/>
    <a:lstStyle/>
    <a:p>
      <a:pPr>
        <a:defRPr sz="1800">
          <a:solidFill>
            <a:srgbClr val="1C1917"/>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We're Yashasvi, Shweta and Aditi. Our IA-2 case study is on Prometheus and Alertmanager: how they catch failures in containerized applications on their own and tell the right people. We'll explain why we chose them and how they work, show them catching real failures live, and judge them with numbers we measured.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City General Hospital. Its wards order insulin, saline and other supplies from the pharmacy through a small service called OrderFlow, all night. If OrderFlow fails at 2 am and nobody is told, the nurse's order just disappears, and the problem is found at the 8 am shift change. That is our scenario. Containers make failure quiet: a container can show as Up while the app inside has hung, lost its database, is leaking memory, is starved of CPU, or has crashed and been restarted. Hospitals also know the opposite problem, alarm fatigue: when alarms go off too often, people stop listening. So our goal was to detect all of these automatically, notify the right person within about a minute, send one message per incident instead of a flood, say when it is fixed, and measure how well the tool does this.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needed something that works with short-lived containers, can express conditions like more than ten percent of requests failing for thirty seconds, can route and de-duplicate notifications, keeps its configuration in Git, and is free. Prometheus is a CNCF graduated project built for containers, PromQL handles rates and percentiles, Alertmanager adds grouping, routing, inhibition and silences, everything is YAML we can unit-test, and it is light. We also looked at Nagios, Zabbix, Datadog, Grafana Alerting and CloudWatch, which we compare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Prometheus pulls. Every five seconds it requests the /metrics page of each target and stores the numbers, with labels, in its own time-series database. If a target does not answer, Prometheus records up equals zero, so a failed pull is itself a signal. Every five seconds it also evaluates rules. When a rule's condition is true the alert becomes pending, and once it has stayed true for the rule's for duration it fires. We use three metric types: counters such as total requests, which we read through rate; gauges such as memory; and histograms for latency, which give us the 95th percentile.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Prometheus decides that something is wrong; Alertmanager decides who hears about it. Each alert passes through five steps. Inhibition drops alerts that a firing cause already explains. Silences mute known alerts during maintenance. Grouping bundles related alerts into one message. Routing picks the receivers. Notification sends the message, repeats it if needed, and sends a resolved message at the end. Our routes: critical alerts go by email to on-call and to the team chat, warnings only to the chat, and an always-firing Watchdog alert goes to a heartbeat endpoint so we know the alerting itself works.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we built. OrderFlow, the hospital's ordering service, runs in a container limited to 256 MB of memory and half a CPU, backed by a Redis database, with a traffic generator playing the wards that place orders. Prometheus scrapes seven targets every five seconds: the app's own metrics, a blackbox exporter that probes the app from outside, cAdvisor for container CPU and memory, and a Redis exporter. Alertmanager sends critical alerts to an email inbox, Mailpit, and everything to our ops chat channel. The whole stack starts with one docker compose command.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monitor from three angles. White-box: the app exposes its own request counts, latency and Redis status on /metrics, which catches error spikes and slowness. Black-box: the blackbox exporter calls /health and /ready the way a user would. This matters for a hang, because the metrics page still answers, so up stays one, but users time out, and only the probe notices. Container-level: cAdvisor reads each container's statistics from the kernel, so it sees memory against the limit, CPU throttling, out-of-memory kills and restarts, even for containers with no metrics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eleven alert rules. Five are critical and page on-call by email: the service is down, the health check fails from outside, the Redis database is down, more than ten percent of requests fail, or a process is killed for running out of memory. Five are warnings that go to the chat: not ready, slow, memory near the limit, CPU throttled, or a container restarted. The Watchdog always fires on purpose. Each rule waits for a for duration before firing, so short blips do not wake anyone up, and every rule has a unit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that makes alerting usable. Back at the hospital, the pharmacy's order database, Redis, goes down. Prometheus raised four alerts: the database being down, plus three symptoms in the web service, one of them still pending. On-call received exactly one email, about the database. Alertmanager's inhibition rule says that when DependencyDown is firing, the error rate, latency and readiness alerts for the same app are only symptoms, so it holds them back. For that to work, the cause must fire first, so the cause rule waits fifteen seconds and the symptoms thirty.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people actually receive. At 2 am, this email is what reaches the on-call engineer, so it has to say what is wrong and what to check first. On the left, the on-call email for the database outage. The subject line and the HTML body come from our own notification template, with a summary, details, a what-to-do line and the labels. On the right, the team chat, where every warning and critical alert appears, followed by a resolved message when it clears. The chat page also shows a heartbeat badge: if it ever turns red, the alerting pipeline itself is broken.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wrote a script that injects each failure and times the notification. All nine failures were detected. The first message arrived between sixteen and ninety seconds after the fault, with a median of sixty seconds, and critical emails arrived in twenty-six to fifty-nine seconds. The time is the scrape interval, plus the time for the query to cross its threshold, plus the for duration, plus Alertmanager's group wait, and it is deliberate. A ten-second outage sent no page at all, and during the database outage four alerts became one message. For the hospital, a broken ordering system is noticed within about a minute, not at the 8 am shift change.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with the alternatives: Nagios comes from a world of fixed servers and fits short-lived containers poorly. Zabbix is powerful but configured mostly through its web interface. Datadog and CloudWatch are paid services; Datadog is the easiest to start and covers logs and traces, but costs money per host and ties you to a vendor. Prometheus with Alertmanager is free, built for containers, has the best noise control of the group, and keeps its configuration in Git with unit tests. Its gap is that it handles metrics only, so logs and traces need tools like Loki and Tempo.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Strengths: one query language for graphs and alerts, alerts that are code and tested in CI, grouping and inhibition that cut the noise, and a small footprint. Limitations: metrics only, a single server is a single point of failure unless you run two, local storage is not long-term, and PromQL takes time to learn. Our own measurement run also found two real bugs. The first CPU alert never fired, because the usage ratio jumped up and down, so we switched to the throttling ratio. And the database alert flapped, because the Redis exporter took longer than Prometheus's scrape timeout, so we gave it a one-second timeout and made the rule fire when the exporter itself cannot be reached.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treated alerting like code. On every push, GitHub Actions runs the app and receiver tests. Then it runs promtool unit tests for every alert rule and amtool checks for the routing. After that it starts all ten containers, waits for every target and the heartbeat, and injects fifty percent errors. The run passes only if the alert actually reaches both the chat and the email inbox. A broken alert rule is as dangerous as broken code, because nobody hears about the next outage.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Prometheus and Alertmanager detected all nine kinds of failure we injected, within sixteen to ninety seconds. They turned each incident into one clear message on the right channel, ignored a harmless ten-second blip, and followed every alert with a resolved message. The heartbeat and the CI tests make sure the alerting itself keeps working. Every failure found in about a minute, one clear page per problem, and no false alarms. The ICU gets its insulin. Thank you. We will now show it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4.png"/><Relationship Id="rId11" Type="http://schemas.openxmlformats.org/officeDocument/2006/relationships/image" Target="../media/image5.png"/><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2.png"/><Relationship Id="rId11" Type="http://schemas.openxmlformats.org/officeDocument/2006/relationships/image" Target="../media/image4.png"/><Relationship Id="rId12" Type="http://schemas.openxmlformats.org/officeDocument/2006/relationships/image" Target="../media/image5.png"/><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 Id="rId4" Type="http://schemas.openxmlformats.org/officeDocument/2006/relationships/image" Target="../media/image19.png"/><Relationship Id="rId5" Type="http://schemas.openxmlformats.org/officeDocument/2006/relationships/image" Target="../media/image2.png"/><Relationship Id="rId6" Type="http://schemas.openxmlformats.org/officeDocument/2006/relationships/image" Target="../media/image20.png"/><Relationship Id="rId7" Type="http://schemas.openxmlformats.org/officeDocument/2006/relationships/image" Target="../media/image12.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 Id="rId4" Type="http://schemas.openxmlformats.org/officeDocument/2006/relationships/image" Target="../media/image21.pn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 Id="rId4" Type="http://schemas.openxmlformats.org/officeDocument/2006/relationships/image" Target="../media/image16.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12.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jpeg"/><Relationship Id="rId5" Type="http://schemas.openxmlformats.org/officeDocument/2006/relationships/image" Target="../media/image24.png"/><Relationship Id="rId6" Type="http://schemas.openxmlformats.org/officeDocument/2006/relationships/image" Target="../media/image12.png"/><Relationship Id="rId7" Type="http://schemas.openxmlformats.org/officeDocument/2006/relationships/image" Target="../media/image5.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12.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 Id="rId4" Type="http://schemas.openxmlformats.org/officeDocument/2006/relationships/image" Target="../media/image27.pn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chart" Target="../charts/char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 Id="rId4" Type="http://schemas.openxmlformats.org/officeDocument/2006/relationships/image" Target="../media/image20.png"/><Relationship Id="rId5" Type="http://schemas.openxmlformats.org/officeDocument/2006/relationships/image" Target="../media/image7.png"/><Relationship Id="rId6" Type="http://schemas.openxmlformats.org/officeDocument/2006/relationships/image" Target="../media/image28.png"/><Relationship Id="rId7" Type="http://schemas.openxmlformats.org/officeDocument/2006/relationships/image" Target="../media/image12.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jpeg"/><Relationship Id="rId4" Type="http://schemas.openxmlformats.org/officeDocument/2006/relationships/image" Target="../media/image29.png"/><Relationship Id="rId5" Type="http://schemas.openxmlformats.org/officeDocument/2006/relationships/image" Target="../media/image28.png"/><Relationship Id="rId6" Type="http://schemas.openxmlformats.org/officeDocument/2006/relationships/image" Target="../media/image14.png"/><Relationship Id="rId7" Type="http://schemas.openxmlformats.org/officeDocument/2006/relationships/image" Target="../media/image13.png"/><Relationship Id="rId8" Type="http://schemas.openxmlformats.org/officeDocument/2006/relationships/image" Target="../media/image19.png"/><Relationship Id="rId9" Type="http://schemas.openxmlformats.org/officeDocument/2006/relationships/image" Target="../media/image12.png"/><Relationship Id="rId10" Type="http://schemas.openxmlformats.org/officeDocument/2006/relationships/image" Target="../media/image4.png"/><Relationship Id="rId11" Type="http://schemas.openxmlformats.org/officeDocument/2006/relationships/image" Target="../media/image5.png"/><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30.png"/><Relationship Id="rId4" Type="http://schemas.openxmlformats.org/officeDocument/2006/relationships/image" Target="../media/image15.png"/><Relationship Id="rId5" Type="http://schemas.openxmlformats.org/officeDocument/2006/relationships/image" Target="../media/image20.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notesSlide" Target="../notesSlides/notesSlide15.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92524"/>
        </a:solidFill>
      </p:bgPr>
    </p:bg>
    <p:spTree>
      <p:nvGrpSpPr>
        <p:cNvPr id="1" name=""/>
        <p:cNvGrpSpPr/>
        <p:nvPr/>
      </p:nvGrpSpPr>
      <p:grpSpPr>
        <a:xfrm>
          <a:off x="0" y="0"/>
          <a:ext cx="0" cy="0"/>
          <a:chOff x="0" y="0"/>
          <a:chExt cx="0" cy="0"/>
        </a:xfrm>
      </p:grpSpPr>
      <p:grpSp>
        <p:nvGrpSpPr>
          <p:cNvPr name="Group 2" id="2"/>
          <p:cNvGrpSpPr/>
          <p:nvPr/>
        </p:nvGrpSpPr>
        <p:grpSpPr>
          <a:xfrm rot="0">
            <a:off x="1253436" y="279658"/>
            <a:ext cx="14883120" cy="6002885"/>
            <a:chOff x="0" y="0"/>
            <a:chExt cx="19844160" cy="8003847"/>
          </a:xfrm>
        </p:grpSpPr>
        <p:sp>
          <p:nvSpPr>
            <p:cNvPr name="Freeform 3" id="3"/>
            <p:cNvSpPr/>
            <p:nvPr/>
          </p:nvSpPr>
          <p:spPr>
            <a:xfrm flipH="false" flipV="false" rot="0">
              <a:off x="0" y="0"/>
              <a:ext cx="19844159" cy="8003847"/>
            </a:xfrm>
            <a:custGeom>
              <a:avLst/>
              <a:gdLst/>
              <a:ahLst/>
              <a:cxnLst/>
              <a:rect r="r" b="b" t="t" l="l"/>
              <a:pathLst>
                <a:path h="8003847" w="19844159">
                  <a:moveTo>
                    <a:pt x="0" y="0"/>
                  </a:moveTo>
                  <a:lnTo>
                    <a:pt x="19844159" y="0"/>
                  </a:lnTo>
                  <a:lnTo>
                    <a:pt x="19844159" y="8003847"/>
                  </a:lnTo>
                  <a:lnTo>
                    <a:pt x="0" y="8003847"/>
                  </a:lnTo>
                  <a:close/>
                </a:path>
              </a:pathLst>
            </a:custGeom>
            <a:blipFill>
              <a:blip r:embed="rId2">
                <a:alphaModFix amt="0"/>
              </a:blip>
              <a:stretch>
                <a:fillRect l="0" t="-9533" r="23508" b="35628"/>
              </a:stretch>
            </a:blipFill>
          </p:spPr>
          <p:txBody>
            <a:bodyPr/>
            <a:p/>
          </p:txBody>
        </p:sp>
        <p:sp>
          <p:nvSpPr>
            <p:cNvPr name="TextBox 4" id="4"/>
            <p:cNvSpPr txBox="true"/>
            <p:nvPr/>
          </p:nvSpPr>
          <p:spPr>
            <a:xfrm>
              <a:off x="0" y="2736083"/>
              <a:ext cx="16093440" cy="2316480"/>
            </a:xfrm>
            <a:prstGeom prst="rect">
              <a:avLst/>
            </a:prstGeom>
          </p:spPr>
          <p:txBody>
            <a:bodyPr anchor="t" rtlCol="false" tIns="0" lIns="0" bIns="0" rIns="0"/>
            <a:lstStyle/>
            <a:p>
              <a:pPr algn="l">
                <a:lnSpc>
                  <a:spcPts val="5000"/>
                </a:lnSpc>
              </a:pPr>
              <a:r>
                <a:rPr lang="en-US" sz="4400" b="true">
                  <a:solidFill>
                    <a:srgbClr val="FFFFFF"/>
                  </a:solidFill>
                  <a:latin typeface="Cambria"/>
                  <a:ea typeface="Cambria"/>
                  <a:cs typeface="Cambria"/>
                  <a:sym typeface="Cambria"/>
                </a:rPr>
                <a:t>Automated Failure Detection &amp; Alert Notification for Containerized Applications</a:t>
              </a:r>
            </a:p>
          </p:txBody>
        </p:sp>
      </p:grpSp>
      <p:sp>
        <p:nvSpPr>
          <p:cNvPr name="TextBox 5" id="5"/>
          <p:cNvSpPr txBox="true"/>
          <p:nvPr/>
        </p:nvSpPr>
        <p:spPr>
          <a:xfrm rot="0">
            <a:off x="1253436" y="4251960"/>
            <a:ext cx="12070080" cy="685818"/>
          </a:xfrm>
          <a:prstGeom prst="rect">
            <a:avLst/>
          </a:prstGeom>
        </p:spPr>
        <p:txBody>
          <a:bodyPr anchor="t" rtlCol="false" tIns="0" lIns="0" bIns="0" rIns="0">
            <a:spAutoFit/>
          </a:bodyPr>
          <a:lstStyle/>
          <a:p>
            <a:pPr algn="l">
              <a:lnSpc>
                <a:spcPts val="3600"/>
              </a:lnSpc>
            </a:pPr>
            <a:r>
              <a:rPr lang="en-US" sz="3000">
                <a:solidFill>
                  <a:srgbClr val="E6522C"/>
                </a:solidFill>
                <a:latin typeface="Calibri"/>
                <a:ea typeface="Calibri"/>
                <a:cs typeface="Calibri"/>
                <a:sym typeface="Calibri"/>
              </a:rPr>
              <a:t>DevOps IA-2 Case Study, Tool: Prometheus and Alertmanager</a:t>
            </a:r>
          </a:p>
        </p:txBody>
      </p:sp>
      <p:sp>
        <p:nvSpPr>
          <p:cNvPr name="TextBox 6" id="6"/>
          <p:cNvSpPr txBox="true"/>
          <p:nvPr/>
        </p:nvSpPr>
        <p:spPr>
          <a:xfrm rot="0">
            <a:off x="1253436" y="5257800"/>
            <a:ext cx="8229600" cy="1466742"/>
          </a:xfrm>
          <a:prstGeom prst="rect">
            <a:avLst/>
          </a:prstGeom>
        </p:spPr>
        <p:txBody>
          <a:bodyPr anchor="t" rtlCol="false" tIns="0" lIns="0" bIns="0" rIns="0">
            <a:spAutoFit/>
          </a:bodyPr>
          <a:lstStyle/>
          <a:p>
            <a:pPr algn="l">
              <a:lnSpc>
                <a:spcPts val="3719"/>
              </a:lnSpc>
            </a:pPr>
            <a:r>
              <a:rPr lang="en-US" sz="3099">
                <a:solidFill>
                  <a:srgbClr val="F5F5F4"/>
                </a:solidFill>
                <a:latin typeface="Calibri"/>
                <a:ea typeface="Calibri"/>
                <a:cs typeface="Calibri"/>
                <a:sym typeface="Calibri"/>
              </a:rPr>
              <a:t>Yashasvi Gupta  ·  16010123341</a:t>
            </a:r>
          </a:p>
          <a:p>
            <a:pPr algn="l">
              <a:lnSpc>
                <a:spcPts val="3719"/>
              </a:lnSpc>
            </a:pPr>
            <a:r>
              <a:rPr lang="en-US" sz="3099">
                <a:solidFill>
                  <a:srgbClr val="F5F5F4"/>
                </a:solidFill>
                <a:latin typeface="Calibri"/>
                <a:ea typeface="Calibri"/>
                <a:cs typeface="Calibri"/>
                <a:sym typeface="Calibri"/>
              </a:rPr>
              <a:t>Shweta Karandikar  ·  16010123329</a:t>
            </a:r>
          </a:p>
          <a:p>
            <a:pPr algn="l">
              <a:lnSpc>
                <a:spcPts val="3719"/>
              </a:lnSpc>
            </a:pPr>
            <a:r>
              <a:rPr lang="en-US" sz="3099">
                <a:solidFill>
                  <a:srgbClr val="F5F5F4"/>
                </a:solidFill>
                <a:latin typeface="Calibri"/>
                <a:ea typeface="Calibri"/>
                <a:cs typeface="Calibri"/>
                <a:sym typeface="Calibri"/>
              </a:rPr>
              <a:t>Aditi Agrawal  ·  16010123018</a:t>
            </a:r>
          </a:p>
        </p:txBody>
      </p:sp>
      <p:grpSp>
        <p:nvGrpSpPr>
          <p:cNvPr name="Group 7" id="7"/>
          <p:cNvGrpSpPr/>
          <p:nvPr/>
        </p:nvGrpSpPr>
        <p:grpSpPr>
          <a:xfrm rot="0">
            <a:off x="13595042" y="4594860"/>
            <a:ext cx="3703320" cy="3703320"/>
            <a:chOff x="0" y="0"/>
            <a:chExt cx="4937760" cy="4937760"/>
          </a:xfrm>
        </p:grpSpPr>
        <p:sp>
          <p:nvSpPr>
            <p:cNvPr name="Freeform 8" id="8"/>
            <p:cNvSpPr/>
            <p:nvPr/>
          </p:nvSpPr>
          <p:spPr>
            <a:xfrm flipH="false" flipV="false" rot="0">
              <a:off x="0" y="0"/>
              <a:ext cx="4937760" cy="4937760"/>
            </a:xfrm>
            <a:custGeom>
              <a:avLst/>
              <a:gdLst/>
              <a:ahLst/>
              <a:cxnLst/>
              <a:rect r="r" b="b" t="t" l="l"/>
              <a:pathLst>
                <a:path h="4937760" w="4937760">
                  <a:moveTo>
                    <a:pt x="0" y="2468880"/>
                  </a:moveTo>
                  <a:cubicBezTo>
                    <a:pt x="0" y="1105408"/>
                    <a:pt x="1105408" y="0"/>
                    <a:pt x="2468880" y="0"/>
                  </a:cubicBezTo>
                  <a:cubicBezTo>
                    <a:pt x="3832352" y="0"/>
                    <a:pt x="4937760" y="1105408"/>
                    <a:pt x="4937760" y="2468880"/>
                  </a:cubicBezTo>
                  <a:cubicBezTo>
                    <a:pt x="4937760" y="3832352"/>
                    <a:pt x="3832352" y="4937760"/>
                    <a:pt x="2468880" y="4937760"/>
                  </a:cubicBezTo>
                  <a:cubicBezTo>
                    <a:pt x="1105408" y="4937760"/>
                    <a:pt x="0" y="3832352"/>
                    <a:pt x="0" y="2468880"/>
                  </a:cubicBezTo>
                  <a:close/>
                </a:path>
              </a:pathLst>
            </a:custGeom>
            <a:solidFill>
              <a:srgbClr val="E6522C"/>
            </a:solidFill>
          </p:spPr>
          <p:txBody>
            <a:bodyPr/>
            <a:p/>
          </p:txBody>
        </p:sp>
      </p:grpSp>
      <p:grpSp>
        <p:nvGrpSpPr>
          <p:cNvPr name="Group 9" id="9"/>
          <p:cNvGrpSpPr/>
          <p:nvPr/>
        </p:nvGrpSpPr>
        <p:grpSpPr>
          <a:xfrm rot="0">
            <a:off x="14486582" y="5486400"/>
            <a:ext cx="1920240" cy="1920240"/>
            <a:chOff x="0" y="0"/>
            <a:chExt cx="2560320" cy="2560320"/>
          </a:xfrm>
        </p:grpSpPr>
        <p:sp>
          <p:nvSpPr>
            <p:cNvPr name="Freeform 10" id="10" descr="preencoded.png"/>
            <p:cNvSpPr/>
            <p:nvPr/>
          </p:nvSpPr>
          <p:spPr>
            <a:xfrm flipH="false" flipV="false" rot="0">
              <a:off x="0" y="0"/>
              <a:ext cx="2560320" cy="2560320"/>
            </a:xfrm>
            <a:custGeom>
              <a:avLst/>
              <a:gdLst/>
              <a:ahLst/>
              <a:cxnLst/>
              <a:rect r="r" b="b" t="t" l="l"/>
              <a:pathLst>
                <a:path h="2560320" w="2560320">
                  <a:moveTo>
                    <a:pt x="0" y="0"/>
                  </a:moveTo>
                  <a:lnTo>
                    <a:pt x="2560320" y="0"/>
                  </a:lnTo>
                  <a:lnTo>
                    <a:pt x="2560320" y="2560320"/>
                  </a:lnTo>
                  <a:lnTo>
                    <a:pt x="0" y="2560320"/>
                  </a:lnTo>
                  <a:lnTo>
                    <a:pt x="0" y="0"/>
                  </a:lnTo>
                  <a:close/>
                </a:path>
              </a:pathLst>
            </a:custGeom>
            <a:blipFill>
              <a:blip r:embed="rId3"/>
              <a:stretch>
                <a:fillRect l="0" t="0" r="0" b="0"/>
              </a:stretch>
            </a:blipFill>
          </p:spPr>
          <p:txBody>
            <a:bodyPr/>
            <a:p/>
          </p:txBody>
        </p:sp>
      </p:grpSp>
      <p:grpSp>
        <p:nvGrpSpPr>
          <p:cNvPr name="Group 11" id="11"/>
          <p:cNvGrpSpPr>
            <a:grpSpLocks noChangeAspect="true"/>
          </p:cNvGrpSpPr>
          <p:nvPr/>
        </p:nvGrpSpPr>
        <p:grpSpPr>
          <a:xfrm rot="5400000">
            <a:off x="8583686" y="769601"/>
            <a:ext cx="1053624" cy="18354998"/>
            <a:chOff x="0" y="0"/>
            <a:chExt cx="1404832" cy="24473330"/>
          </a:xfrm>
        </p:grpSpPr>
        <p:sp>
          <p:nvSpPr>
            <p:cNvPr name="Freeform 12" id="12"/>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4"/>
              <a:stretch>
                <a:fillRect l="0" t="0" r="-226630" b="0"/>
              </a:stretch>
            </a:blipFill>
          </p:spPr>
          <p:txBody>
            <a:bodyPr/>
            <a:p/>
          </p:txBody>
        </p:sp>
      </p:grpSp>
      <p:grpSp>
        <p:nvGrpSpPr>
          <p:cNvPr name="Group 13" id="13"/>
          <p:cNvGrpSpPr>
            <a:grpSpLocks noChangeAspect="true"/>
          </p:cNvGrpSpPr>
          <p:nvPr/>
        </p:nvGrpSpPr>
        <p:grpSpPr>
          <a:xfrm rot="5400000">
            <a:off x="11132594" y="2264880"/>
            <a:ext cx="311239" cy="13999572"/>
            <a:chOff x="0" y="0"/>
            <a:chExt cx="414986" cy="18666096"/>
          </a:xfrm>
        </p:grpSpPr>
        <p:sp>
          <p:nvSpPr>
            <p:cNvPr name="Freeform 14" id="14"/>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5"/>
              <a:stretch>
                <a:fillRect l="0" t="0" r="-274183" b="0"/>
              </a:stretch>
            </a:blipFill>
          </p:spPr>
          <p:txBody>
            <a:bodyPr/>
            <a:p/>
          </p:txBody>
        </p:sp>
      </p:grpSp>
      <p:grpSp>
        <p:nvGrpSpPr>
          <p:cNvPr name="Group 15" id="15"/>
          <p:cNvGrpSpPr>
            <a:grpSpLocks noChangeAspect="true"/>
          </p:cNvGrpSpPr>
          <p:nvPr/>
        </p:nvGrpSpPr>
        <p:grpSpPr>
          <a:xfrm rot="0">
            <a:off x="16490259" y="140413"/>
            <a:ext cx="1616205" cy="888287"/>
            <a:chOff x="0" y="0"/>
            <a:chExt cx="2627014" cy="1443840"/>
          </a:xfrm>
        </p:grpSpPr>
        <p:sp>
          <p:nvSpPr>
            <p:cNvPr name="Freeform 16" id="16"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6"/>
              <a:stretch>
                <a:fillRect l="0" t="0" r="0" b="-35871"/>
              </a:stretch>
            </a:blipFill>
          </p:spPr>
          <p:txBody>
            <a:bodyPr/>
            <a:p/>
          </p:txBody>
        </p:sp>
      </p:grpSp>
      <p:sp>
        <p:nvSpPr>
          <p:cNvPr name="Freeform 17" id="17"/>
          <p:cNvSpPr/>
          <p:nvPr/>
        </p:nvSpPr>
        <p:spPr>
          <a:xfrm flipH="false" flipV="false" rot="0">
            <a:off x="218062" y="140413"/>
            <a:ext cx="3284221" cy="1211485"/>
          </a:xfrm>
          <a:custGeom>
            <a:avLst/>
            <a:gdLst/>
            <a:ahLst/>
            <a:cxnLst/>
            <a:rect r="r" b="b" t="t" l="l"/>
            <a:pathLst>
              <a:path h="1211485" w="3284221">
                <a:moveTo>
                  <a:pt x="0" y="0"/>
                </a:moveTo>
                <a:lnTo>
                  <a:pt x="3284221" y="0"/>
                </a:lnTo>
                <a:lnTo>
                  <a:pt x="3284221" y="1211486"/>
                </a:lnTo>
                <a:lnTo>
                  <a:pt x="0" y="1211486"/>
                </a:lnTo>
                <a:lnTo>
                  <a:pt x="0" y="0"/>
                </a:lnTo>
                <a:close/>
              </a:path>
            </a:pathLst>
          </a:custGeom>
          <a:blipFill>
            <a:blip r:embed="rId7"/>
            <a:stretch>
              <a:fillRect l="0" t="-47466" r="0" b="-24612"/>
            </a:stretch>
          </a:blipFill>
        </p:spPr>
        <p:txBody>
          <a:body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txBody>
            <a:bodyPr/>
            <a:p/>
          </p:txBody>
        </p:sp>
      </p:grpSp>
      <p:grpSp>
        <p:nvGrpSpPr>
          <p:cNvPr name="Group 4" id="4"/>
          <p:cNvGrpSpPr/>
          <p:nvPr/>
        </p:nvGrpSpPr>
        <p:grpSpPr>
          <a:xfrm rot="0">
            <a:off x="845820" y="166878"/>
            <a:ext cx="16596360" cy="1165860"/>
            <a:chOff x="0" y="0"/>
            <a:chExt cx="22128480" cy="1554480"/>
          </a:xfrm>
        </p:grpSpPr>
        <p:sp>
          <p:nvSpPr>
            <p:cNvPr name="Freeform 5" id="5"/>
            <p:cNvSpPr/>
            <p:nvPr/>
          </p:nvSpPr>
          <p:spPr>
            <a:xfrm flipH="false" flipV="false" rot="0">
              <a:off x="0" y="0"/>
              <a:ext cx="22128480" cy="1554480"/>
            </a:xfrm>
            <a:custGeom>
              <a:avLst/>
              <a:gdLst/>
              <a:ahLst/>
              <a:cxnLst/>
              <a:rect r="r" b="b" t="t" l="l"/>
              <a:pathLst>
                <a:path h="1554480" w="22128480">
                  <a:moveTo>
                    <a:pt x="0" y="0"/>
                  </a:moveTo>
                  <a:lnTo>
                    <a:pt x="22128480" y="0"/>
                  </a:lnTo>
                  <a:lnTo>
                    <a:pt x="22128480" y="1554480"/>
                  </a:lnTo>
                  <a:lnTo>
                    <a:pt x="0" y="1554480"/>
                  </a:lnTo>
                  <a:close/>
                </a:path>
              </a:pathLst>
            </a:custGeom>
            <a:blipFill>
              <a:blip r:embed="rId3">
                <a:alphaModFix amt="0"/>
              </a:blip>
              <a:stretch>
                <a:fillRect l="0" t="-227375" r="0" b="-227375"/>
              </a:stretch>
            </a:blipFill>
          </p:spPr>
          <p:txBody>
            <a:bodyPr/>
            <a:p/>
          </p:txBody>
        </p:sp>
        <p:sp>
          <p:nvSpPr>
            <p:cNvPr name="TextBox 6" id="6"/>
            <p:cNvSpPr txBox="true"/>
            <p:nvPr/>
          </p:nvSpPr>
          <p:spPr>
            <a:xfrm>
              <a:off x="0" y="-9525"/>
              <a:ext cx="22128480" cy="1564005"/>
            </a:xfrm>
            <a:prstGeom prst="rect">
              <a:avLst/>
            </a:prstGeom>
          </p:spPr>
          <p:txBody>
            <a:bodyPr anchor="ctr" rtlCol="false" tIns="0" lIns="0" bIns="0" rIns="0"/>
            <a:lstStyle/>
            <a:p>
              <a:pPr algn="ctr">
                <a:lnSpc>
                  <a:spcPts val="5759"/>
                </a:lnSpc>
              </a:pPr>
              <a:r>
                <a:rPr lang="en-US" sz="4800" b="true">
                  <a:solidFill>
                    <a:srgbClr val="1C1917"/>
                  </a:solidFill>
                  <a:latin typeface="Cambria"/>
                  <a:ea typeface="Cambria"/>
                  <a:cs typeface="Cambria"/>
                  <a:sym typeface="Cambria"/>
                </a:rPr>
                <a:t>Containers fail quietly</a:t>
              </a:r>
            </a:p>
          </p:txBody>
        </p:sp>
      </p:grpSp>
      <p:grpSp>
        <p:nvGrpSpPr>
          <p:cNvPr name="Group 7" id="7"/>
          <p:cNvGrpSpPr/>
          <p:nvPr/>
        </p:nvGrpSpPr>
        <p:grpSpPr>
          <a:xfrm rot="0">
            <a:off x="822960" y="1659636"/>
            <a:ext cx="1028700" cy="1028700"/>
            <a:chOff x="0" y="0"/>
            <a:chExt cx="1371600" cy="1371600"/>
          </a:xfrm>
        </p:grpSpPr>
        <p:sp>
          <p:nvSpPr>
            <p:cNvPr name="Freeform 8" id="8"/>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E6522C"/>
            </a:solidFill>
          </p:spPr>
          <p:txBody>
            <a:bodyPr/>
            <a:p/>
          </p:txBody>
        </p:sp>
      </p:grpSp>
      <p:grpSp>
        <p:nvGrpSpPr>
          <p:cNvPr name="Group 9" id="9"/>
          <p:cNvGrpSpPr/>
          <p:nvPr/>
        </p:nvGrpSpPr>
        <p:grpSpPr>
          <a:xfrm rot="0">
            <a:off x="1069848" y="1906524"/>
            <a:ext cx="534924" cy="534924"/>
            <a:chOff x="0" y="0"/>
            <a:chExt cx="713232" cy="713232"/>
          </a:xfrm>
        </p:grpSpPr>
        <p:sp>
          <p:nvSpPr>
            <p:cNvPr name="Freeform 10" id="10" descr="preencoded.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4"/>
              <a:stretch>
                <a:fillRect l="0" t="0" r="0" b="0"/>
              </a:stretch>
            </a:blipFill>
          </p:spPr>
          <p:txBody>
            <a:bodyPr/>
            <a:p/>
          </p:txBody>
        </p:sp>
      </p:grpSp>
      <p:grpSp>
        <p:nvGrpSpPr>
          <p:cNvPr name="Group 11" id="11"/>
          <p:cNvGrpSpPr/>
          <p:nvPr/>
        </p:nvGrpSpPr>
        <p:grpSpPr>
          <a:xfrm rot="0">
            <a:off x="2125980" y="1632204"/>
            <a:ext cx="7680960" cy="576072"/>
            <a:chOff x="0" y="0"/>
            <a:chExt cx="10241280" cy="768096"/>
          </a:xfrm>
        </p:grpSpPr>
        <p:sp>
          <p:nvSpPr>
            <p:cNvPr name="Freeform 12" id="12"/>
            <p:cNvSpPr/>
            <p:nvPr/>
          </p:nvSpPr>
          <p:spPr>
            <a:xfrm flipH="false" flipV="false" rot="0">
              <a:off x="0" y="0"/>
              <a:ext cx="10241280" cy="768096"/>
            </a:xfrm>
            <a:custGeom>
              <a:avLst/>
              <a:gdLst/>
              <a:ahLst/>
              <a:cxnLst/>
              <a:rect r="r" b="b" t="t" l="l"/>
              <a:pathLst>
                <a:path h="768096" w="10241280">
                  <a:moveTo>
                    <a:pt x="0" y="0"/>
                  </a:moveTo>
                  <a:lnTo>
                    <a:pt x="10241280" y="0"/>
                  </a:lnTo>
                  <a:lnTo>
                    <a:pt x="10241280" y="768096"/>
                  </a:lnTo>
                  <a:lnTo>
                    <a:pt x="0" y="768096"/>
                  </a:lnTo>
                  <a:close/>
                </a:path>
              </a:pathLst>
            </a:custGeom>
            <a:blipFill>
              <a:blip r:embed="rId3">
                <a:alphaModFix amt="0"/>
              </a:blip>
              <a:stretch>
                <a:fillRect l="0" t="-209800" r="0" b="-209800"/>
              </a:stretch>
            </a:blipFill>
          </p:spPr>
          <p:txBody>
            <a:bodyPr/>
            <a:p/>
          </p:txBody>
        </p:sp>
        <p:sp>
          <p:nvSpPr>
            <p:cNvPr name="TextBox 13" id="13"/>
            <p:cNvSpPr txBox="true"/>
            <p:nvPr/>
          </p:nvSpPr>
          <p:spPr>
            <a:xfrm>
              <a:off x="0" y="-57150"/>
              <a:ext cx="10241280" cy="825246"/>
            </a:xfrm>
            <a:prstGeom prst="rect">
              <a:avLst/>
            </a:prstGeom>
          </p:spPr>
          <p:txBody>
            <a:bodyPr anchor="ctr" rtlCol="false" tIns="0" lIns="0" bIns="0" rIns="0"/>
            <a:lstStyle/>
            <a:p>
              <a:pPr algn="l">
                <a:lnSpc>
                  <a:spcPts val="3240"/>
                </a:lnSpc>
              </a:pPr>
              <a:r>
                <a:rPr lang="en-US" sz="2700" b="true">
                  <a:solidFill>
                    <a:srgbClr val="1C1917"/>
                  </a:solidFill>
                  <a:latin typeface="Calibri"/>
                  <a:ea typeface="Calibri"/>
                  <a:cs typeface="Calibri"/>
                  <a:sym typeface="Calibri"/>
                </a:rPr>
                <a:t>A process hangs</a:t>
              </a:r>
            </a:p>
          </p:txBody>
        </p:sp>
      </p:grpSp>
      <p:grpSp>
        <p:nvGrpSpPr>
          <p:cNvPr name="Group 14" id="14"/>
          <p:cNvGrpSpPr/>
          <p:nvPr/>
        </p:nvGrpSpPr>
        <p:grpSpPr>
          <a:xfrm rot="0">
            <a:off x="2125980" y="2180844"/>
            <a:ext cx="7680960" cy="521208"/>
            <a:chOff x="0" y="0"/>
            <a:chExt cx="10241280" cy="694944"/>
          </a:xfrm>
        </p:grpSpPr>
        <p:sp>
          <p:nvSpPr>
            <p:cNvPr name="Freeform 15" id="15"/>
            <p:cNvSpPr/>
            <p:nvPr/>
          </p:nvSpPr>
          <p:spPr>
            <a:xfrm flipH="false" flipV="false" rot="0">
              <a:off x="0" y="0"/>
              <a:ext cx="10241280" cy="694944"/>
            </a:xfrm>
            <a:custGeom>
              <a:avLst/>
              <a:gdLst/>
              <a:ahLst/>
              <a:cxnLst/>
              <a:rect r="r" b="b" t="t" l="l"/>
              <a:pathLst>
                <a:path h="694944" w="10241280">
                  <a:moveTo>
                    <a:pt x="0" y="0"/>
                  </a:moveTo>
                  <a:lnTo>
                    <a:pt x="10241280" y="0"/>
                  </a:lnTo>
                  <a:lnTo>
                    <a:pt x="10241280" y="694944"/>
                  </a:lnTo>
                  <a:lnTo>
                    <a:pt x="0" y="694944"/>
                  </a:lnTo>
                  <a:close/>
                </a:path>
              </a:pathLst>
            </a:custGeom>
            <a:blipFill>
              <a:blip r:embed="rId3">
                <a:alphaModFix amt="0"/>
              </a:blip>
              <a:stretch>
                <a:fillRect l="0" t="-237147" r="0" b="-237147"/>
              </a:stretch>
            </a:blipFill>
          </p:spPr>
          <p:txBody>
            <a:bodyPr/>
            <a:p/>
          </p:txBody>
        </p:sp>
        <p:sp>
          <p:nvSpPr>
            <p:cNvPr name="TextBox 16" id="16"/>
            <p:cNvSpPr txBox="true"/>
            <p:nvPr/>
          </p:nvSpPr>
          <p:spPr>
            <a:xfrm>
              <a:off x="0" y="-57150"/>
              <a:ext cx="10241280" cy="752094"/>
            </a:xfrm>
            <a:prstGeom prst="rect">
              <a:avLst/>
            </a:prstGeom>
          </p:spPr>
          <p:txBody>
            <a:bodyPr anchor="ctr" rtlCol="false" tIns="0" lIns="0" bIns="0" rIns="0"/>
            <a:lstStyle/>
            <a:p>
              <a:pPr algn="l">
                <a:lnSpc>
                  <a:spcPts val="2700"/>
                </a:lnSpc>
              </a:pPr>
              <a:r>
                <a:rPr lang="en-US" sz="2250">
                  <a:solidFill>
                    <a:srgbClr val="57534E"/>
                  </a:solidFill>
                  <a:latin typeface="Calibri"/>
                  <a:ea typeface="Calibri"/>
                  <a:cs typeface="Calibri"/>
                  <a:sym typeface="Calibri"/>
                </a:rPr>
                <a:t>docker ps still says Up, but users time out</a:t>
              </a:r>
            </a:p>
          </p:txBody>
        </p:sp>
      </p:grpSp>
      <p:grpSp>
        <p:nvGrpSpPr>
          <p:cNvPr name="Group 17" id="17"/>
          <p:cNvGrpSpPr/>
          <p:nvPr/>
        </p:nvGrpSpPr>
        <p:grpSpPr>
          <a:xfrm rot="0">
            <a:off x="822960" y="3099816"/>
            <a:ext cx="1028700" cy="1028700"/>
            <a:chOff x="0" y="0"/>
            <a:chExt cx="1371600" cy="1371600"/>
          </a:xfrm>
        </p:grpSpPr>
        <p:sp>
          <p:nvSpPr>
            <p:cNvPr name="Freeform 18" id="18"/>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E6522C"/>
            </a:solidFill>
          </p:spPr>
          <p:txBody>
            <a:bodyPr/>
            <a:p/>
          </p:txBody>
        </p:sp>
      </p:grpSp>
      <p:grpSp>
        <p:nvGrpSpPr>
          <p:cNvPr name="Group 19" id="19"/>
          <p:cNvGrpSpPr/>
          <p:nvPr/>
        </p:nvGrpSpPr>
        <p:grpSpPr>
          <a:xfrm rot="0">
            <a:off x="1069848" y="3346704"/>
            <a:ext cx="534924" cy="534924"/>
            <a:chOff x="0" y="0"/>
            <a:chExt cx="713232" cy="713232"/>
          </a:xfrm>
        </p:grpSpPr>
        <p:sp>
          <p:nvSpPr>
            <p:cNvPr name="Freeform 20" id="20" descr="preencoded.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5"/>
              <a:stretch>
                <a:fillRect l="0" t="0" r="0" b="0"/>
              </a:stretch>
            </a:blipFill>
          </p:spPr>
          <p:txBody>
            <a:bodyPr/>
            <a:p/>
          </p:txBody>
        </p:sp>
      </p:grpSp>
      <p:grpSp>
        <p:nvGrpSpPr>
          <p:cNvPr name="Group 21" id="21"/>
          <p:cNvGrpSpPr/>
          <p:nvPr/>
        </p:nvGrpSpPr>
        <p:grpSpPr>
          <a:xfrm rot="0">
            <a:off x="2125980" y="3072384"/>
            <a:ext cx="7680960" cy="576072"/>
            <a:chOff x="0" y="0"/>
            <a:chExt cx="10241280" cy="768096"/>
          </a:xfrm>
        </p:grpSpPr>
        <p:sp>
          <p:nvSpPr>
            <p:cNvPr name="Freeform 22" id="22"/>
            <p:cNvSpPr/>
            <p:nvPr/>
          </p:nvSpPr>
          <p:spPr>
            <a:xfrm flipH="false" flipV="false" rot="0">
              <a:off x="0" y="0"/>
              <a:ext cx="10241280" cy="768096"/>
            </a:xfrm>
            <a:custGeom>
              <a:avLst/>
              <a:gdLst/>
              <a:ahLst/>
              <a:cxnLst/>
              <a:rect r="r" b="b" t="t" l="l"/>
              <a:pathLst>
                <a:path h="768096" w="10241280">
                  <a:moveTo>
                    <a:pt x="0" y="0"/>
                  </a:moveTo>
                  <a:lnTo>
                    <a:pt x="10241280" y="0"/>
                  </a:lnTo>
                  <a:lnTo>
                    <a:pt x="10241280" y="768096"/>
                  </a:lnTo>
                  <a:lnTo>
                    <a:pt x="0" y="768096"/>
                  </a:lnTo>
                  <a:close/>
                </a:path>
              </a:pathLst>
            </a:custGeom>
            <a:blipFill>
              <a:blip r:embed="rId3">
                <a:alphaModFix amt="0"/>
              </a:blip>
              <a:stretch>
                <a:fillRect l="0" t="-209800" r="0" b="-209800"/>
              </a:stretch>
            </a:blipFill>
          </p:spPr>
          <p:txBody>
            <a:bodyPr/>
            <a:p/>
          </p:txBody>
        </p:sp>
        <p:sp>
          <p:nvSpPr>
            <p:cNvPr name="TextBox 23" id="23"/>
            <p:cNvSpPr txBox="true"/>
            <p:nvPr/>
          </p:nvSpPr>
          <p:spPr>
            <a:xfrm>
              <a:off x="0" y="-57150"/>
              <a:ext cx="10241280" cy="825246"/>
            </a:xfrm>
            <a:prstGeom prst="rect">
              <a:avLst/>
            </a:prstGeom>
          </p:spPr>
          <p:txBody>
            <a:bodyPr anchor="ctr" rtlCol="false" tIns="0" lIns="0" bIns="0" rIns="0"/>
            <a:lstStyle/>
            <a:p>
              <a:pPr algn="l">
                <a:lnSpc>
                  <a:spcPts val="3240"/>
                </a:lnSpc>
              </a:pPr>
              <a:r>
                <a:rPr lang="en-US" sz="2700" b="true">
                  <a:solidFill>
                    <a:srgbClr val="1C1917"/>
                  </a:solidFill>
                  <a:latin typeface="Calibri"/>
                  <a:ea typeface="Calibri"/>
                  <a:cs typeface="Calibri"/>
                  <a:sym typeface="Calibri"/>
                </a:rPr>
                <a:t>A dependency dies</a:t>
              </a:r>
            </a:p>
          </p:txBody>
        </p:sp>
      </p:grpSp>
      <p:grpSp>
        <p:nvGrpSpPr>
          <p:cNvPr name="Group 24" id="24"/>
          <p:cNvGrpSpPr/>
          <p:nvPr/>
        </p:nvGrpSpPr>
        <p:grpSpPr>
          <a:xfrm rot="0">
            <a:off x="2125980" y="3621024"/>
            <a:ext cx="7680960" cy="521208"/>
            <a:chOff x="0" y="0"/>
            <a:chExt cx="10241280" cy="694944"/>
          </a:xfrm>
        </p:grpSpPr>
        <p:sp>
          <p:nvSpPr>
            <p:cNvPr name="Freeform 25" id="25"/>
            <p:cNvSpPr/>
            <p:nvPr/>
          </p:nvSpPr>
          <p:spPr>
            <a:xfrm flipH="false" flipV="false" rot="0">
              <a:off x="0" y="0"/>
              <a:ext cx="10241280" cy="694944"/>
            </a:xfrm>
            <a:custGeom>
              <a:avLst/>
              <a:gdLst/>
              <a:ahLst/>
              <a:cxnLst/>
              <a:rect r="r" b="b" t="t" l="l"/>
              <a:pathLst>
                <a:path h="694944" w="10241280">
                  <a:moveTo>
                    <a:pt x="0" y="0"/>
                  </a:moveTo>
                  <a:lnTo>
                    <a:pt x="10241280" y="0"/>
                  </a:lnTo>
                  <a:lnTo>
                    <a:pt x="10241280" y="694944"/>
                  </a:lnTo>
                  <a:lnTo>
                    <a:pt x="0" y="694944"/>
                  </a:lnTo>
                  <a:close/>
                </a:path>
              </a:pathLst>
            </a:custGeom>
            <a:blipFill>
              <a:blip r:embed="rId3">
                <a:alphaModFix amt="0"/>
              </a:blip>
              <a:stretch>
                <a:fillRect l="0" t="-237147" r="0" b="-237147"/>
              </a:stretch>
            </a:blipFill>
          </p:spPr>
          <p:txBody>
            <a:bodyPr/>
            <a:p/>
          </p:txBody>
        </p:sp>
        <p:sp>
          <p:nvSpPr>
            <p:cNvPr name="TextBox 26" id="26"/>
            <p:cNvSpPr txBox="true"/>
            <p:nvPr/>
          </p:nvSpPr>
          <p:spPr>
            <a:xfrm>
              <a:off x="0" y="-57150"/>
              <a:ext cx="10241280" cy="752094"/>
            </a:xfrm>
            <a:prstGeom prst="rect">
              <a:avLst/>
            </a:prstGeom>
          </p:spPr>
          <p:txBody>
            <a:bodyPr anchor="ctr" rtlCol="false" tIns="0" lIns="0" bIns="0" rIns="0"/>
            <a:lstStyle/>
            <a:p>
              <a:pPr algn="l">
                <a:lnSpc>
                  <a:spcPts val="2700"/>
                </a:lnSpc>
              </a:pPr>
              <a:r>
                <a:rPr lang="en-US" sz="2250">
                  <a:solidFill>
                    <a:srgbClr val="57534E"/>
                  </a:solidFill>
                  <a:latin typeface="Calibri"/>
                  <a:ea typeface="Calibri"/>
                  <a:cs typeface="Calibri"/>
                  <a:sym typeface="Calibri"/>
                </a:rPr>
                <a:t>the web service keeps answering, with errors</a:t>
              </a:r>
            </a:p>
          </p:txBody>
        </p:sp>
      </p:grpSp>
      <p:grpSp>
        <p:nvGrpSpPr>
          <p:cNvPr name="Group 27" id="27"/>
          <p:cNvGrpSpPr/>
          <p:nvPr/>
        </p:nvGrpSpPr>
        <p:grpSpPr>
          <a:xfrm rot="0">
            <a:off x="822960" y="4539996"/>
            <a:ext cx="1028700" cy="1028700"/>
            <a:chOff x="0" y="0"/>
            <a:chExt cx="1371600" cy="1371600"/>
          </a:xfrm>
        </p:grpSpPr>
        <p:sp>
          <p:nvSpPr>
            <p:cNvPr name="Freeform 28" id="28"/>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E6522C"/>
            </a:solidFill>
          </p:spPr>
          <p:txBody>
            <a:bodyPr/>
            <a:p/>
          </p:txBody>
        </p:sp>
      </p:grpSp>
      <p:grpSp>
        <p:nvGrpSpPr>
          <p:cNvPr name="Group 29" id="29"/>
          <p:cNvGrpSpPr/>
          <p:nvPr/>
        </p:nvGrpSpPr>
        <p:grpSpPr>
          <a:xfrm rot="0">
            <a:off x="1069848" y="4786884"/>
            <a:ext cx="534924" cy="534924"/>
            <a:chOff x="0" y="0"/>
            <a:chExt cx="713232" cy="713232"/>
          </a:xfrm>
        </p:grpSpPr>
        <p:sp>
          <p:nvSpPr>
            <p:cNvPr name="Freeform 30" id="30" descr="preencoded.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6"/>
              <a:stretch>
                <a:fillRect l="0" t="0" r="0" b="0"/>
              </a:stretch>
            </a:blipFill>
          </p:spPr>
          <p:txBody>
            <a:bodyPr/>
            <a:p/>
          </p:txBody>
        </p:sp>
      </p:grpSp>
      <p:grpSp>
        <p:nvGrpSpPr>
          <p:cNvPr name="Group 31" id="31"/>
          <p:cNvGrpSpPr/>
          <p:nvPr/>
        </p:nvGrpSpPr>
        <p:grpSpPr>
          <a:xfrm rot="0">
            <a:off x="2125980" y="4512564"/>
            <a:ext cx="7680960" cy="576072"/>
            <a:chOff x="0" y="0"/>
            <a:chExt cx="10241280" cy="768096"/>
          </a:xfrm>
        </p:grpSpPr>
        <p:sp>
          <p:nvSpPr>
            <p:cNvPr name="Freeform 32" id="32"/>
            <p:cNvSpPr/>
            <p:nvPr/>
          </p:nvSpPr>
          <p:spPr>
            <a:xfrm flipH="false" flipV="false" rot="0">
              <a:off x="0" y="0"/>
              <a:ext cx="10241280" cy="768096"/>
            </a:xfrm>
            <a:custGeom>
              <a:avLst/>
              <a:gdLst/>
              <a:ahLst/>
              <a:cxnLst/>
              <a:rect r="r" b="b" t="t" l="l"/>
              <a:pathLst>
                <a:path h="768096" w="10241280">
                  <a:moveTo>
                    <a:pt x="0" y="0"/>
                  </a:moveTo>
                  <a:lnTo>
                    <a:pt x="10241280" y="0"/>
                  </a:lnTo>
                  <a:lnTo>
                    <a:pt x="10241280" y="768096"/>
                  </a:lnTo>
                  <a:lnTo>
                    <a:pt x="0" y="768096"/>
                  </a:lnTo>
                  <a:close/>
                </a:path>
              </a:pathLst>
            </a:custGeom>
            <a:blipFill>
              <a:blip r:embed="rId3">
                <a:alphaModFix amt="0"/>
              </a:blip>
              <a:stretch>
                <a:fillRect l="0" t="-209800" r="0" b="-209800"/>
              </a:stretch>
            </a:blipFill>
          </p:spPr>
          <p:txBody>
            <a:bodyPr/>
            <a:p/>
          </p:txBody>
        </p:sp>
        <p:sp>
          <p:nvSpPr>
            <p:cNvPr name="TextBox 33" id="33"/>
            <p:cNvSpPr txBox="true"/>
            <p:nvPr/>
          </p:nvSpPr>
          <p:spPr>
            <a:xfrm>
              <a:off x="0" y="-57150"/>
              <a:ext cx="10241280" cy="825246"/>
            </a:xfrm>
            <a:prstGeom prst="rect">
              <a:avLst/>
            </a:prstGeom>
          </p:spPr>
          <p:txBody>
            <a:bodyPr anchor="ctr" rtlCol="false" tIns="0" lIns="0" bIns="0" rIns="0"/>
            <a:lstStyle/>
            <a:p>
              <a:pPr algn="l">
                <a:lnSpc>
                  <a:spcPts val="3240"/>
                </a:lnSpc>
              </a:pPr>
              <a:r>
                <a:rPr lang="en-US" sz="2700" b="true">
                  <a:solidFill>
                    <a:srgbClr val="1C1917"/>
                  </a:solidFill>
                  <a:latin typeface="Calibri"/>
                  <a:ea typeface="Calibri"/>
                  <a:cs typeface="Calibri"/>
                  <a:sym typeface="Calibri"/>
                </a:rPr>
                <a:t>Memory leaks</a:t>
              </a:r>
            </a:p>
          </p:txBody>
        </p:sp>
      </p:grpSp>
      <p:grpSp>
        <p:nvGrpSpPr>
          <p:cNvPr name="Group 34" id="34"/>
          <p:cNvGrpSpPr/>
          <p:nvPr/>
        </p:nvGrpSpPr>
        <p:grpSpPr>
          <a:xfrm rot="0">
            <a:off x="2125980" y="5061204"/>
            <a:ext cx="7680960" cy="521208"/>
            <a:chOff x="0" y="0"/>
            <a:chExt cx="10241280" cy="694944"/>
          </a:xfrm>
        </p:grpSpPr>
        <p:sp>
          <p:nvSpPr>
            <p:cNvPr name="Freeform 35" id="35"/>
            <p:cNvSpPr/>
            <p:nvPr/>
          </p:nvSpPr>
          <p:spPr>
            <a:xfrm flipH="false" flipV="false" rot="0">
              <a:off x="0" y="0"/>
              <a:ext cx="10241280" cy="694944"/>
            </a:xfrm>
            <a:custGeom>
              <a:avLst/>
              <a:gdLst/>
              <a:ahLst/>
              <a:cxnLst/>
              <a:rect r="r" b="b" t="t" l="l"/>
              <a:pathLst>
                <a:path h="694944" w="10241280">
                  <a:moveTo>
                    <a:pt x="0" y="0"/>
                  </a:moveTo>
                  <a:lnTo>
                    <a:pt x="10241280" y="0"/>
                  </a:lnTo>
                  <a:lnTo>
                    <a:pt x="10241280" y="694944"/>
                  </a:lnTo>
                  <a:lnTo>
                    <a:pt x="0" y="694944"/>
                  </a:lnTo>
                  <a:close/>
                </a:path>
              </a:pathLst>
            </a:custGeom>
            <a:blipFill>
              <a:blip r:embed="rId3">
                <a:alphaModFix amt="0"/>
              </a:blip>
              <a:stretch>
                <a:fillRect l="0" t="-237147" r="0" b="-237147"/>
              </a:stretch>
            </a:blipFill>
          </p:spPr>
          <p:txBody>
            <a:bodyPr/>
            <a:p/>
          </p:txBody>
        </p:sp>
        <p:sp>
          <p:nvSpPr>
            <p:cNvPr name="TextBox 36" id="36"/>
            <p:cNvSpPr txBox="true"/>
            <p:nvPr/>
          </p:nvSpPr>
          <p:spPr>
            <a:xfrm>
              <a:off x="0" y="-57150"/>
              <a:ext cx="10241280" cy="752094"/>
            </a:xfrm>
            <a:prstGeom prst="rect">
              <a:avLst/>
            </a:prstGeom>
          </p:spPr>
          <p:txBody>
            <a:bodyPr anchor="ctr" rtlCol="false" tIns="0" lIns="0" bIns="0" rIns="0"/>
            <a:lstStyle/>
            <a:p>
              <a:pPr algn="l">
                <a:lnSpc>
                  <a:spcPts val="2700"/>
                </a:lnSpc>
              </a:pPr>
              <a:r>
                <a:rPr lang="en-US" sz="2250">
                  <a:solidFill>
                    <a:srgbClr val="57534E"/>
                  </a:solidFill>
                  <a:latin typeface="Calibri"/>
                  <a:ea typeface="Calibri"/>
                  <a:cs typeface="Calibri"/>
                  <a:sym typeface="Calibri"/>
                </a:rPr>
                <a:t>until the kernel's OOM killer stops the process</a:t>
              </a:r>
            </a:p>
          </p:txBody>
        </p:sp>
      </p:grpSp>
      <p:grpSp>
        <p:nvGrpSpPr>
          <p:cNvPr name="Group 37" id="37"/>
          <p:cNvGrpSpPr/>
          <p:nvPr/>
        </p:nvGrpSpPr>
        <p:grpSpPr>
          <a:xfrm rot="0">
            <a:off x="822960" y="5980176"/>
            <a:ext cx="1028700" cy="1028700"/>
            <a:chOff x="0" y="0"/>
            <a:chExt cx="1371600" cy="1371600"/>
          </a:xfrm>
        </p:grpSpPr>
        <p:sp>
          <p:nvSpPr>
            <p:cNvPr name="Freeform 38" id="38"/>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E6522C"/>
            </a:solidFill>
          </p:spPr>
          <p:txBody>
            <a:bodyPr/>
            <a:p/>
          </p:txBody>
        </p:sp>
      </p:grpSp>
      <p:grpSp>
        <p:nvGrpSpPr>
          <p:cNvPr name="Group 39" id="39"/>
          <p:cNvGrpSpPr/>
          <p:nvPr/>
        </p:nvGrpSpPr>
        <p:grpSpPr>
          <a:xfrm rot="0">
            <a:off x="1069848" y="6227064"/>
            <a:ext cx="534924" cy="534924"/>
            <a:chOff x="0" y="0"/>
            <a:chExt cx="713232" cy="713232"/>
          </a:xfrm>
        </p:grpSpPr>
        <p:sp>
          <p:nvSpPr>
            <p:cNvPr name="Freeform 40" id="40" descr="preencoded.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7"/>
              <a:stretch>
                <a:fillRect l="0" t="0" r="0" b="0"/>
              </a:stretch>
            </a:blipFill>
          </p:spPr>
          <p:txBody>
            <a:bodyPr/>
            <a:p/>
          </p:txBody>
        </p:sp>
      </p:grpSp>
      <p:grpSp>
        <p:nvGrpSpPr>
          <p:cNvPr name="Group 41" id="41"/>
          <p:cNvGrpSpPr/>
          <p:nvPr/>
        </p:nvGrpSpPr>
        <p:grpSpPr>
          <a:xfrm rot="0">
            <a:off x="2125980" y="5952744"/>
            <a:ext cx="7680960" cy="576072"/>
            <a:chOff x="0" y="0"/>
            <a:chExt cx="10241280" cy="768096"/>
          </a:xfrm>
        </p:grpSpPr>
        <p:sp>
          <p:nvSpPr>
            <p:cNvPr name="Freeform 42" id="42"/>
            <p:cNvSpPr/>
            <p:nvPr/>
          </p:nvSpPr>
          <p:spPr>
            <a:xfrm flipH="false" flipV="false" rot="0">
              <a:off x="0" y="0"/>
              <a:ext cx="10241280" cy="768096"/>
            </a:xfrm>
            <a:custGeom>
              <a:avLst/>
              <a:gdLst/>
              <a:ahLst/>
              <a:cxnLst/>
              <a:rect r="r" b="b" t="t" l="l"/>
              <a:pathLst>
                <a:path h="768096" w="10241280">
                  <a:moveTo>
                    <a:pt x="0" y="0"/>
                  </a:moveTo>
                  <a:lnTo>
                    <a:pt x="10241280" y="0"/>
                  </a:lnTo>
                  <a:lnTo>
                    <a:pt x="10241280" y="768096"/>
                  </a:lnTo>
                  <a:lnTo>
                    <a:pt x="0" y="768096"/>
                  </a:lnTo>
                  <a:close/>
                </a:path>
              </a:pathLst>
            </a:custGeom>
            <a:blipFill>
              <a:blip r:embed="rId3">
                <a:alphaModFix amt="0"/>
              </a:blip>
              <a:stretch>
                <a:fillRect l="0" t="-209800" r="0" b="-209800"/>
              </a:stretch>
            </a:blipFill>
          </p:spPr>
          <p:txBody>
            <a:bodyPr/>
            <a:p/>
          </p:txBody>
        </p:sp>
        <p:sp>
          <p:nvSpPr>
            <p:cNvPr name="TextBox 43" id="43"/>
            <p:cNvSpPr txBox="true"/>
            <p:nvPr/>
          </p:nvSpPr>
          <p:spPr>
            <a:xfrm>
              <a:off x="0" y="-57150"/>
              <a:ext cx="10241280" cy="825246"/>
            </a:xfrm>
            <a:prstGeom prst="rect">
              <a:avLst/>
            </a:prstGeom>
          </p:spPr>
          <p:txBody>
            <a:bodyPr anchor="ctr" rtlCol="false" tIns="0" lIns="0" bIns="0" rIns="0"/>
            <a:lstStyle/>
            <a:p>
              <a:pPr algn="l">
                <a:lnSpc>
                  <a:spcPts val="3240"/>
                </a:lnSpc>
              </a:pPr>
              <a:r>
                <a:rPr lang="en-US" sz="2700" b="true">
                  <a:solidFill>
                    <a:srgbClr val="1C1917"/>
                  </a:solidFill>
                  <a:latin typeface="Calibri"/>
                  <a:ea typeface="Calibri"/>
                  <a:cs typeface="Calibri"/>
                  <a:sym typeface="Calibri"/>
                </a:rPr>
                <a:t>CPU hits its limit</a:t>
              </a:r>
            </a:p>
          </p:txBody>
        </p:sp>
      </p:grpSp>
      <p:grpSp>
        <p:nvGrpSpPr>
          <p:cNvPr name="Group 44" id="44"/>
          <p:cNvGrpSpPr/>
          <p:nvPr/>
        </p:nvGrpSpPr>
        <p:grpSpPr>
          <a:xfrm rot="0">
            <a:off x="2125980" y="6501384"/>
            <a:ext cx="7680960" cy="521208"/>
            <a:chOff x="0" y="0"/>
            <a:chExt cx="10241280" cy="694944"/>
          </a:xfrm>
        </p:grpSpPr>
        <p:sp>
          <p:nvSpPr>
            <p:cNvPr name="Freeform 45" id="45"/>
            <p:cNvSpPr/>
            <p:nvPr/>
          </p:nvSpPr>
          <p:spPr>
            <a:xfrm flipH="false" flipV="false" rot="0">
              <a:off x="0" y="0"/>
              <a:ext cx="10241280" cy="694944"/>
            </a:xfrm>
            <a:custGeom>
              <a:avLst/>
              <a:gdLst/>
              <a:ahLst/>
              <a:cxnLst/>
              <a:rect r="r" b="b" t="t" l="l"/>
              <a:pathLst>
                <a:path h="694944" w="10241280">
                  <a:moveTo>
                    <a:pt x="0" y="0"/>
                  </a:moveTo>
                  <a:lnTo>
                    <a:pt x="10241280" y="0"/>
                  </a:lnTo>
                  <a:lnTo>
                    <a:pt x="10241280" y="694944"/>
                  </a:lnTo>
                  <a:lnTo>
                    <a:pt x="0" y="694944"/>
                  </a:lnTo>
                  <a:close/>
                </a:path>
              </a:pathLst>
            </a:custGeom>
            <a:blipFill>
              <a:blip r:embed="rId3">
                <a:alphaModFix amt="0"/>
              </a:blip>
              <a:stretch>
                <a:fillRect l="0" t="-237147" r="0" b="-237147"/>
              </a:stretch>
            </a:blipFill>
          </p:spPr>
          <p:txBody>
            <a:bodyPr/>
            <a:p/>
          </p:txBody>
        </p:sp>
        <p:sp>
          <p:nvSpPr>
            <p:cNvPr name="TextBox 46" id="46"/>
            <p:cNvSpPr txBox="true"/>
            <p:nvPr/>
          </p:nvSpPr>
          <p:spPr>
            <a:xfrm>
              <a:off x="0" y="-57150"/>
              <a:ext cx="10241280" cy="752094"/>
            </a:xfrm>
            <a:prstGeom prst="rect">
              <a:avLst/>
            </a:prstGeom>
          </p:spPr>
          <p:txBody>
            <a:bodyPr anchor="ctr" rtlCol="false" tIns="0" lIns="0" bIns="0" rIns="0"/>
            <a:lstStyle/>
            <a:p>
              <a:pPr algn="l">
                <a:lnSpc>
                  <a:spcPts val="2700"/>
                </a:lnSpc>
              </a:pPr>
              <a:r>
                <a:rPr lang="en-US" sz="2250">
                  <a:solidFill>
                    <a:srgbClr val="57534E"/>
                  </a:solidFill>
                  <a:latin typeface="Calibri"/>
                  <a:ea typeface="Calibri"/>
                  <a:cs typeface="Calibri"/>
                  <a:sym typeface="Calibri"/>
                </a:rPr>
                <a:t>the container is throttled and everything slows</a:t>
              </a:r>
            </a:p>
          </p:txBody>
        </p:sp>
      </p:grpSp>
      <p:grpSp>
        <p:nvGrpSpPr>
          <p:cNvPr name="Group 47" id="47"/>
          <p:cNvGrpSpPr/>
          <p:nvPr/>
        </p:nvGrpSpPr>
        <p:grpSpPr>
          <a:xfrm rot="0">
            <a:off x="822960" y="7420356"/>
            <a:ext cx="1028700" cy="1028700"/>
            <a:chOff x="0" y="0"/>
            <a:chExt cx="1371600" cy="1371600"/>
          </a:xfrm>
        </p:grpSpPr>
        <p:sp>
          <p:nvSpPr>
            <p:cNvPr name="Freeform 48" id="48"/>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E6522C"/>
            </a:solidFill>
          </p:spPr>
          <p:txBody>
            <a:bodyPr/>
            <a:p/>
          </p:txBody>
        </p:sp>
      </p:grpSp>
      <p:grpSp>
        <p:nvGrpSpPr>
          <p:cNvPr name="Group 49" id="49"/>
          <p:cNvGrpSpPr/>
          <p:nvPr/>
        </p:nvGrpSpPr>
        <p:grpSpPr>
          <a:xfrm rot="0">
            <a:off x="1069848" y="7667244"/>
            <a:ext cx="534924" cy="534924"/>
            <a:chOff x="0" y="0"/>
            <a:chExt cx="713232" cy="713232"/>
          </a:xfrm>
        </p:grpSpPr>
        <p:sp>
          <p:nvSpPr>
            <p:cNvPr name="Freeform 50" id="50" descr="preencoded.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8"/>
              <a:stretch>
                <a:fillRect l="0" t="0" r="0" b="0"/>
              </a:stretch>
            </a:blipFill>
          </p:spPr>
          <p:txBody>
            <a:bodyPr/>
            <a:p/>
          </p:txBody>
        </p:sp>
      </p:grpSp>
      <p:grpSp>
        <p:nvGrpSpPr>
          <p:cNvPr name="Group 51" id="51"/>
          <p:cNvGrpSpPr/>
          <p:nvPr/>
        </p:nvGrpSpPr>
        <p:grpSpPr>
          <a:xfrm rot="0">
            <a:off x="2125980" y="7392924"/>
            <a:ext cx="7680960" cy="576072"/>
            <a:chOff x="0" y="0"/>
            <a:chExt cx="10241280" cy="768096"/>
          </a:xfrm>
        </p:grpSpPr>
        <p:sp>
          <p:nvSpPr>
            <p:cNvPr name="Freeform 52" id="52"/>
            <p:cNvSpPr/>
            <p:nvPr/>
          </p:nvSpPr>
          <p:spPr>
            <a:xfrm flipH="false" flipV="false" rot="0">
              <a:off x="0" y="0"/>
              <a:ext cx="10241280" cy="768096"/>
            </a:xfrm>
            <a:custGeom>
              <a:avLst/>
              <a:gdLst/>
              <a:ahLst/>
              <a:cxnLst/>
              <a:rect r="r" b="b" t="t" l="l"/>
              <a:pathLst>
                <a:path h="768096" w="10241280">
                  <a:moveTo>
                    <a:pt x="0" y="0"/>
                  </a:moveTo>
                  <a:lnTo>
                    <a:pt x="10241280" y="0"/>
                  </a:lnTo>
                  <a:lnTo>
                    <a:pt x="10241280" y="768096"/>
                  </a:lnTo>
                  <a:lnTo>
                    <a:pt x="0" y="768096"/>
                  </a:lnTo>
                  <a:close/>
                </a:path>
              </a:pathLst>
            </a:custGeom>
            <a:blipFill>
              <a:blip r:embed="rId3">
                <a:alphaModFix amt="0"/>
              </a:blip>
              <a:stretch>
                <a:fillRect l="0" t="-209800" r="0" b="-209800"/>
              </a:stretch>
            </a:blipFill>
          </p:spPr>
          <p:txBody>
            <a:bodyPr/>
            <a:p/>
          </p:txBody>
        </p:sp>
        <p:sp>
          <p:nvSpPr>
            <p:cNvPr name="TextBox 53" id="53"/>
            <p:cNvSpPr txBox="true"/>
            <p:nvPr/>
          </p:nvSpPr>
          <p:spPr>
            <a:xfrm>
              <a:off x="0" y="-57150"/>
              <a:ext cx="10241280" cy="825246"/>
            </a:xfrm>
            <a:prstGeom prst="rect">
              <a:avLst/>
            </a:prstGeom>
          </p:spPr>
          <p:txBody>
            <a:bodyPr anchor="ctr" rtlCol="false" tIns="0" lIns="0" bIns="0" rIns="0"/>
            <a:lstStyle/>
            <a:p>
              <a:pPr algn="l">
                <a:lnSpc>
                  <a:spcPts val="3240"/>
                </a:lnSpc>
              </a:pPr>
              <a:r>
                <a:rPr lang="en-US" sz="2700" b="true">
                  <a:solidFill>
                    <a:srgbClr val="1C1917"/>
                  </a:solidFill>
                  <a:latin typeface="Calibri"/>
                  <a:ea typeface="Calibri"/>
                  <a:cs typeface="Calibri"/>
                  <a:sym typeface="Calibri"/>
                </a:rPr>
                <a:t>It crashes and restarts</a:t>
              </a:r>
            </a:p>
          </p:txBody>
        </p:sp>
      </p:grpSp>
      <p:grpSp>
        <p:nvGrpSpPr>
          <p:cNvPr name="Group 54" id="54"/>
          <p:cNvGrpSpPr/>
          <p:nvPr/>
        </p:nvGrpSpPr>
        <p:grpSpPr>
          <a:xfrm rot="0">
            <a:off x="2125980" y="7941564"/>
            <a:ext cx="7680960" cy="521208"/>
            <a:chOff x="0" y="0"/>
            <a:chExt cx="10241280" cy="694944"/>
          </a:xfrm>
        </p:grpSpPr>
        <p:sp>
          <p:nvSpPr>
            <p:cNvPr name="Freeform 55" id="55"/>
            <p:cNvSpPr/>
            <p:nvPr/>
          </p:nvSpPr>
          <p:spPr>
            <a:xfrm flipH="false" flipV="false" rot="0">
              <a:off x="0" y="0"/>
              <a:ext cx="10241280" cy="694944"/>
            </a:xfrm>
            <a:custGeom>
              <a:avLst/>
              <a:gdLst/>
              <a:ahLst/>
              <a:cxnLst/>
              <a:rect r="r" b="b" t="t" l="l"/>
              <a:pathLst>
                <a:path h="694944" w="10241280">
                  <a:moveTo>
                    <a:pt x="0" y="0"/>
                  </a:moveTo>
                  <a:lnTo>
                    <a:pt x="10241280" y="0"/>
                  </a:lnTo>
                  <a:lnTo>
                    <a:pt x="10241280" y="694944"/>
                  </a:lnTo>
                  <a:lnTo>
                    <a:pt x="0" y="694944"/>
                  </a:lnTo>
                  <a:close/>
                </a:path>
              </a:pathLst>
            </a:custGeom>
            <a:blipFill>
              <a:blip r:embed="rId3">
                <a:alphaModFix amt="0"/>
              </a:blip>
              <a:stretch>
                <a:fillRect l="0" t="-237147" r="0" b="-237147"/>
              </a:stretch>
            </a:blipFill>
          </p:spPr>
          <p:txBody>
            <a:bodyPr/>
            <a:p/>
          </p:txBody>
        </p:sp>
        <p:sp>
          <p:nvSpPr>
            <p:cNvPr name="TextBox 56" id="56"/>
            <p:cNvSpPr txBox="true"/>
            <p:nvPr/>
          </p:nvSpPr>
          <p:spPr>
            <a:xfrm>
              <a:off x="0" y="-57150"/>
              <a:ext cx="10241280" cy="752094"/>
            </a:xfrm>
            <a:prstGeom prst="rect">
              <a:avLst/>
            </a:prstGeom>
          </p:spPr>
          <p:txBody>
            <a:bodyPr anchor="ctr" rtlCol="false" tIns="0" lIns="0" bIns="0" rIns="0"/>
            <a:lstStyle/>
            <a:p>
              <a:pPr algn="l">
                <a:lnSpc>
                  <a:spcPts val="2700"/>
                </a:lnSpc>
              </a:pPr>
              <a:r>
                <a:rPr lang="en-US" sz="2250">
                  <a:solidFill>
                    <a:srgbClr val="57534E"/>
                  </a:solidFill>
                  <a:latin typeface="Calibri"/>
                  <a:ea typeface="Calibri"/>
                  <a:cs typeface="Calibri"/>
                  <a:sym typeface="Calibri"/>
                </a:rPr>
                <a:t>the restart hides the problem</a:t>
              </a:r>
            </a:p>
          </p:txBody>
        </p:sp>
      </p:grpSp>
      <p:grpSp>
        <p:nvGrpSpPr>
          <p:cNvPr name="Group 57" id="57"/>
          <p:cNvGrpSpPr/>
          <p:nvPr/>
        </p:nvGrpSpPr>
        <p:grpSpPr>
          <a:xfrm rot="0">
            <a:off x="10561320" y="1659636"/>
            <a:ext cx="6858000" cy="6995160"/>
            <a:chOff x="0" y="0"/>
            <a:chExt cx="9144000" cy="9326880"/>
          </a:xfrm>
        </p:grpSpPr>
        <p:sp>
          <p:nvSpPr>
            <p:cNvPr name="Freeform 58" id="58"/>
            <p:cNvSpPr/>
            <p:nvPr/>
          </p:nvSpPr>
          <p:spPr>
            <a:xfrm flipH="false" flipV="false" rot="0">
              <a:off x="0" y="0"/>
              <a:ext cx="9144000" cy="9326880"/>
            </a:xfrm>
            <a:custGeom>
              <a:avLst/>
              <a:gdLst/>
              <a:ahLst/>
              <a:cxnLst/>
              <a:rect r="r" b="b" t="t" l="l"/>
              <a:pathLst>
                <a:path h="9326880" w="9144000">
                  <a:moveTo>
                    <a:pt x="0" y="219456"/>
                  </a:moveTo>
                  <a:cubicBezTo>
                    <a:pt x="0" y="98298"/>
                    <a:pt x="98298" y="0"/>
                    <a:pt x="219456" y="0"/>
                  </a:cubicBezTo>
                  <a:lnTo>
                    <a:pt x="8924544" y="0"/>
                  </a:lnTo>
                  <a:cubicBezTo>
                    <a:pt x="9045702" y="0"/>
                    <a:pt x="9144000" y="98298"/>
                    <a:pt x="9144000" y="219456"/>
                  </a:cubicBezTo>
                  <a:lnTo>
                    <a:pt x="9144000" y="9107424"/>
                  </a:lnTo>
                  <a:cubicBezTo>
                    <a:pt x="9144000" y="9228582"/>
                    <a:pt x="9045702" y="9326880"/>
                    <a:pt x="8924544" y="9326880"/>
                  </a:cubicBezTo>
                  <a:lnTo>
                    <a:pt x="219456" y="9326880"/>
                  </a:lnTo>
                  <a:cubicBezTo>
                    <a:pt x="98298" y="9326880"/>
                    <a:pt x="0" y="9228582"/>
                    <a:pt x="0" y="9107424"/>
                  </a:cubicBezTo>
                  <a:close/>
                </a:path>
              </a:pathLst>
            </a:custGeom>
            <a:solidFill>
              <a:srgbClr val="F5F5F4"/>
            </a:solidFill>
          </p:spPr>
          <p:txBody>
            <a:bodyPr/>
            <a:p/>
          </p:txBody>
        </p:sp>
      </p:grpSp>
      <p:grpSp>
        <p:nvGrpSpPr>
          <p:cNvPr name="Group 59" id="59"/>
          <p:cNvGrpSpPr/>
          <p:nvPr/>
        </p:nvGrpSpPr>
        <p:grpSpPr>
          <a:xfrm rot="0">
            <a:off x="11041380" y="2002536"/>
            <a:ext cx="5897880" cy="685800"/>
            <a:chOff x="0" y="0"/>
            <a:chExt cx="7863840" cy="914400"/>
          </a:xfrm>
        </p:grpSpPr>
        <p:sp>
          <p:nvSpPr>
            <p:cNvPr name="Freeform 60" id="60"/>
            <p:cNvSpPr/>
            <p:nvPr/>
          </p:nvSpPr>
          <p:spPr>
            <a:xfrm flipH="false" flipV="false" rot="0">
              <a:off x="0" y="0"/>
              <a:ext cx="7863840" cy="914400"/>
            </a:xfrm>
            <a:custGeom>
              <a:avLst/>
              <a:gdLst/>
              <a:ahLst/>
              <a:cxnLst/>
              <a:rect r="r" b="b" t="t" l="l"/>
              <a:pathLst>
                <a:path h="914400" w="7863840">
                  <a:moveTo>
                    <a:pt x="0" y="0"/>
                  </a:moveTo>
                  <a:lnTo>
                    <a:pt x="7863840" y="0"/>
                  </a:lnTo>
                  <a:lnTo>
                    <a:pt x="7863840" y="914400"/>
                  </a:lnTo>
                  <a:lnTo>
                    <a:pt x="0" y="914400"/>
                  </a:lnTo>
                  <a:close/>
                </a:path>
              </a:pathLst>
            </a:custGeom>
            <a:blipFill>
              <a:blip r:embed="rId3">
                <a:alphaModFix amt="0"/>
              </a:blip>
              <a:stretch>
                <a:fillRect l="0" t="-117571" r="0" b="-117571"/>
              </a:stretch>
            </a:blipFill>
          </p:spPr>
          <p:txBody>
            <a:bodyPr/>
            <a:p/>
          </p:txBody>
        </p:sp>
        <p:sp>
          <p:nvSpPr>
            <p:cNvPr name="TextBox 61" id="61"/>
            <p:cNvSpPr txBox="true"/>
            <p:nvPr/>
          </p:nvSpPr>
          <p:spPr>
            <a:xfrm>
              <a:off x="0" y="-66675"/>
              <a:ext cx="7863840" cy="981075"/>
            </a:xfrm>
            <a:prstGeom prst="rect">
              <a:avLst/>
            </a:prstGeom>
          </p:spPr>
          <p:txBody>
            <a:bodyPr anchor="ctr" rtlCol="false" tIns="0" lIns="0" bIns="0" rIns="0"/>
            <a:lstStyle/>
            <a:p>
              <a:pPr algn="l">
                <a:lnSpc>
                  <a:spcPts val="3960"/>
                </a:lnSpc>
              </a:pPr>
              <a:r>
                <a:rPr lang="en-US" sz="3300" b="true">
                  <a:solidFill>
                    <a:srgbClr val="E6522C"/>
                  </a:solidFill>
                  <a:latin typeface="Calibri"/>
                  <a:ea typeface="Calibri"/>
                  <a:cs typeface="Calibri"/>
                  <a:sym typeface="Calibri"/>
                </a:rPr>
                <a:t>Our goal</a:t>
              </a:r>
            </a:p>
          </p:txBody>
        </p:sp>
      </p:grpSp>
      <p:sp>
        <p:nvSpPr>
          <p:cNvPr name="TextBox 62" id="62"/>
          <p:cNvSpPr txBox="true"/>
          <p:nvPr/>
        </p:nvSpPr>
        <p:spPr>
          <a:xfrm rot="0">
            <a:off x="11041380" y="2846451"/>
            <a:ext cx="6035040" cy="3108960"/>
          </a:xfrm>
          <a:prstGeom prst="rect">
            <a:avLst/>
          </a:prstGeom>
        </p:spPr>
        <p:txBody>
          <a:bodyPr anchor="t" rtlCol="false" tIns="0" lIns="0" bIns="0" rIns="0">
            <a:spAutoFit/>
          </a:bodyPr>
          <a:lstStyle/>
          <a:p>
            <a:pPr algn="l" marL="457200" indent="-457200" lvl="1">
              <a:lnSpc>
                <a:spcPts val="3060"/>
              </a:lnSpc>
              <a:buAutoNum type="arabicPeriod" startAt="1"/>
            </a:pPr>
            <a:r>
              <a:rPr lang="en-US" sz="2550">
                <a:solidFill>
                  <a:srgbClr val="1C1917"/>
                </a:solidFill>
                <a:latin typeface="Calibri"/>
                <a:ea typeface="Calibri"/>
                <a:cs typeface="Calibri"/>
                <a:sym typeface="Calibri"/>
              </a:rPr>
              <a:t>Detect each of these automatically</a:t>
            </a:r>
          </a:p>
          <a:p>
            <a:pPr algn="l" marL="457200" indent="-457200" lvl="1">
              <a:lnSpc>
                <a:spcPts val="3060"/>
              </a:lnSpc>
              <a:buAutoNum type="arabicPeriod" startAt="1"/>
            </a:pPr>
            <a:r>
              <a:rPr lang="en-US" sz="2550">
                <a:solidFill>
                  <a:srgbClr val="1C1917"/>
                </a:solidFill>
                <a:latin typeface="Calibri"/>
                <a:ea typeface="Calibri"/>
                <a:cs typeface="Calibri"/>
                <a:sym typeface="Calibri"/>
              </a:rPr>
              <a:t>Notify the right person within about a minute</a:t>
            </a:r>
          </a:p>
          <a:p>
            <a:pPr algn="l" marL="457200" indent="-457200" lvl="1">
              <a:lnSpc>
                <a:spcPts val="3060"/>
              </a:lnSpc>
              <a:buAutoNum type="arabicPeriod" startAt="1"/>
            </a:pPr>
            <a:r>
              <a:rPr lang="en-US" sz="2550">
                <a:solidFill>
                  <a:srgbClr val="1C1917"/>
                </a:solidFill>
                <a:latin typeface="Calibri"/>
                <a:ea typeface="Calibri"/>
                <a:cs typeface="Calibri"/>
                <a:sym typeface="Calibri"/>
              </a:rPr>
              <a:t>One message per incident, not a flood</a:t>
            </a:r>
          </a:p>
          <a:p>
            <a:pPr algn="l" marL="457200" indent="-457200" lvl="1">
              <a:lnSpc>
                <a:spcPts val="3060"/>
              </a:lnSpc>
              <a:buAutoNum type="arabicPeriod" startAt="1"/>
            </a:pPr>
            <a:r>
              <a:rPr lang="en-US" sz="2550">
                <a:solidFill>
                  <a:srgbClr val="1C1917"/>
                </a:solidFill>
                <a:latin typeface="Calibri"/>
                <a:ea typeface="Calibri"/>
                <a:cs typeface="Calibri"/>
                <a:sym typeface="Calibri"/>
              </a:rPr>
              <a:t>Say when it is fixed</a:t>
            </a:r>
          </a:p>
          <a:p>
            <a:pPr algn="l" marL="457200" indent="-457200" lvl="1">
              <a:lnSpc>
                <a:spcPts val="3060"/>
              </a:lnSpc>
              <a:buAutoNum type="arabicPeriod" startAt="1"/>
            </a:pPr>
            <a:r>
              <a:rPr lang="en-US" sz="2550">
                <a:solidFill>
                  <a:srgbClr val="1C1917"/>
                </a:solidFill>
                <a:latin typeface="Calibri"/>
                <a:ea typeface="Calibri"/>
                <a:cs typeface="Calibri"/>
                <a:sym typeface="Calibri"/>
              </a:rPr>
              <a:t>Measure how well the tool does it</a:t>
            </a:r>
          </a:p>
        </p:txBody>
      </p:sp>
      <p:sp>
        <p:nvSpPr>
          <p:cNvPr name="TextBox 63" id="63"/>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2</a:t>
            </a:r>
          </a:p>
        </p:txBody>
      </p:sp>
      <p:grpSp>
        <p:nvGrpSpPr>
          <p:cNvPr name="Group 64" id="64"/>
          <p:cNvGrpSpPr/>
          <p:nvPr/>
        </p:nvGrpSpPr>
        <p:grpSpPr>
          <a:xfrm rot="0">
            <a:off x="125707" y="43858"/>
            <a:ext cx="3471606" cy="1028700"/>
            <a:chOff x="0" y="0"/>
            <a:chExt cx="2742997" cy="812800"/>
          </a:xfrm>
        </p:grpSpPr>
        <p:sp>
          <p:nvSpPr>
            <p:cNvPr name="Freeform 65" id="65"/>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9"/>
              <a:stretch>
                <a:fillRect l="-833" t="0" r="-833" b="0"/>
              </a:stretch>
            </a:blipFill>
          </p:spPr>
          <p:txBody>
            <a:bodyPr/>
            <a:p/>
          </p:txBody>
        </p:sp>
      </p:grpSp>
      <p:grpSp>
        <p:nvGrpSpPr>
          <p:cNvPr name="Group 66" id="66"/>
          <p:cNvGrpSpPr>
            <a:grpSpLocks noChangeAspect="true"/>
          </p:cNvGrpSpPr>
          <p:nvPr/>
        </p:nvGrpSpPr>
        <p:grpSpPr>
          <a:xfrm rot="5400000">
            <a:off x="11132594" y="2264880"/>
            <a:ext cx="311239" cy="13999572"/>
            <a:chOff x="0" y="0"/>
            <a:chExt cx="414986" cy="18666096"/>
          </a:xfrm>
        </p:grpSpPr>
        <p:sp>
          <p:nvSpPr>
            <p:cNvPr name="Freeform 67" id="67"/>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10"/>
              <a:stretch>
                <a:fillRect l="0" t="0" r="-274183" b="0"/>
              </a:stretch>
            </a:blipFill>
          </p:spPr>
          <p:txBody>
            <a:bodyPr/>
            <a:p/>
          </p:txBody>
        </p:sp>
      </p:grpSp>
      <p:grpSp>
        <p:nvGrpSpPr>
          <p:cNvPr name="Group 68" id="68"/>
          <p:cNvGrpSpPr>
            <a:grpSpLocks noChangeAspect="true"/>
          </p:cNvGrpSpPr>
          <p:nvPr/>
        </p:nvGrpSpPr>
        <p:grpSpPr>
          <a:xfrm rot="0">
            <a:off x="16490259" y="140413"/>
            <a:ext cx="1616205" cy="888287"/>
            <a:chOff x="0" y="0"/>
            <a:chExt cx="2627014" cy="1443840"/>
          </a:xfrm>
        </p:grpSpPr>
        <p:sp>
          <p:nvSpPr>
            <p:cNvPr name="Freeform 69" id="69"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11"/>
              <a:stretch>
                <a:fillRect l="0" t="0" r="0" b="-35871"/>
              </a:stretch>
            </a:blipFill>
          </p:spPr>
          <p:txBody>
            <a:bodyPr/>
            <a:p/>
          </p:txBody>
        </p:sp>
      </p:grpSp>
      <p:sp>
        <p:nvSpPr>
          <p:cNvPr id="70" name="story line"/>
          <p:cNvSpPr txBox="1"/>
          <p:nvPr/>
        </p:nvSpPr>
        <p:spPr>
          <a:xfrm>
            <a:off x="11036808" y="5623560"/>
            <a:ext cx="5989320" cy="2011680"/>
          </a:xfrm>
          <a:prstGeom prst="rect">
            <a:avLst/>
          </a:prstGeom>
          <a:noFill/>
        </p:spPr>
        <p:txBody>
          <a:bodyPr wrap="square" lIns="0" rIns="0" tIns="0" bIns="0">
            <a:spAutoFit/>
          </a:bodyPr>
          <a:lstStyle/>
          <a:p>
            <a:r>
              <a:rPr sz="2100" b="0" i="1">
                <a:solidFill>
                  <a:srgbClr val="57534E"/>
                </a:solidFill>
                <a:latin typeface="Calibri"/>
              </a:rPr>
              <a:t>Our setting: a hospital's ordering system. If it fails at 2 am and nobody is told, a ward waits for insulin that never comes.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sp>
      </p:grpSp>
      <p:grpSp>
        <p:nvGrpSpPr>
          <p:cNvPr name="Group 4" id="4"/>
          <p:cNvGrpSpPr/>
          <p:nvPr/>
        </p:nvGrpSpPr>
        <p:grpSpPr>
          <a:xfrm rot="0">
            <a:off x="845820" y="140413"/>
            <a:ext cx="16596360" cy="1165860"/>
            <a:chOff x="0" y="0"/>
            <a:chExt cx="22128480" cy="1554480"/>
          </a:xfrm>
        </p:grpSpPr>
        <p:sp>
          <p:nvSpPr>
            <p:cNvPr name="Freeform 5" id="5"/>
            <p:cNvSpPr/>
            <p:nvPr/>
          </p:nvSpPr>
          <p:spPr>
            <a:xfrm flipH="false" flipV="false" rot="0">
              <a:off x="0" y="0"/>
              <a:ext cx="22128480" cy="1554480"/>
            </a:xfrm>
            <a:custGeom>
              <a:avLst/>
              <a:gdLst/>
              <a:ahLst/>
              <a:cxnLst/>
              <a:rect r="r" b="b" t="t" l="l"/>
              <a:pathLst>
                <a:path h="1554480" w="22128480">
                  <a:moveTo>
                    <a:pt x="0" y="0"/>
                  </a:moveTo>
                  <a:lnTo>
                    <a:pt x="22128480" y="0"/>
                  </a:lnTo>
                  <a:lnTo>
                    <a:pt x="22128480" y="1554480"/>
                  </a:lnTo>
                  <a:lnTo>
                    <a:pt x="0" y="1554480"/>
                  </a:lnTo>
                  <a:close/>
                </a:path>
              </a:pathLst>
            </a:custGeom>
            <a:blipFill>
              <a:blip r:embed="rId3">
                <a:alphaModFix amt="0"/>
              </a:blip>
              <a:stretch>
                <a:fillRect l="0" t="-227375" r="0" b="-227375"/>
              </a:stretch>
            </a:blipFill>
          </p:spPr>
        </p:sp>
        <p:sp>
          <p:nvSpPr>
            <p:cNvPr name="TextBox 6" id="6"/>
            <p:cNvSpPr txBox="true"/>
            <p:nvPr/>
          </p:nvSpPr>
          <p:spPr>
            <a:xfrm>
              <a:off x="0" y="-9525"/>
              <a:ext cx="22128480" cy="1564005"/>
            </a:xfrm>
            <a:prstGeom prst="rect">
              <a:avLst/>
            </a:prstGeom>
          </p:spPr>
          <p:txBody>
            <a:bodyPr anchor="ctr" rtlCol="false" tIns="0" lIns="0" bIns="0" rIns="0"/>
            <a:lstStyle/>
            <a:p>
              <a:pPr algn="ctr">
                <a:lnSpc>
                  <a:spcPts val="5759"/>
                </a:lnSpc>
              </a:pPr>
              <a:r>
                <a:rPr lang="en-US" sz="4800" b="true">
                  <a:solidFill>
                    <a:srgbClr val="1C1917"/>
                  </a:solidFill>
                  <a:latin typeface="Cambria"/>
                  <a:ea typeface="Cambria"/>
                  <a:cs typeface="Cambria"/>
                  <a:sym typeface="Cambria"/>
                </a:rPr>
                <a:t>Why Prometheus and Alertmanager</a:t>
              </a:r>
            </a:p>
          </p:txBody>
        </p:sp>
      </p:grpSp>
      <p:grpSp>
        <p:nvGrpSpPr>
          <p:cNvPr name="Group 7" id="7"/>
          <p:cNvGrpSpPr/>
          <p:nvPr/>
        </p:nvGrpSpPr>
        <p:grpSpPr>
          <a:xfrm rot="0">
            <a:off x="822960" y="1609725"/>
            <a:ext cx="5280660" cy="3017520"/>
            <a:chOff x="0" y="0"/>
            <a:chExt cx="7040880" cy="4023360"/>
          </a:xfrm>
        </p:grpSpPr>
        <p:sp>
          <p:nvSpPr>
            <p:cNvPr name="Freeform 8" id="8"/>
            <p:cNvSpPr/>
            <p:nvPr/>
          </p:nvSpPr>
          <p:spPr>
            <a:xfrm flipH="false" flipV="false" rot="0">
              <a:off x="0" y="0"/>
              <a:ext cx="7040880" cy="4023360"/>
            </a:xfrm>
            <a:custGeom>
              <a:avLst/>
              <a:gdLst/>
              <a:ahLst/>
              <a:cxnLst/>
              <a:rect r="r" b="b" t="t" l="l"/>
              <a:pathLst>
                <a:path h="4023360" w="7040880">
                  <a:moveTo>
                    <a:pt x="0" y="219456"/>
                  </a:moveTo>
                  <a:cubicBezTo>
                    <a:pt x="0" y="98298"/>
                    <a:pt x="98298" y="0"/>
                    <a:pt x="219456" y="0"/>
                  </a:cubicBezTo>
                  <a:lnTo>
                    <a:pt x="6821424" y="0"/>
                  </a:lnTo>
                  <a:cubicBezTo>
                    <a:pt x="6942582" y="0"/>
                    <a:pt x="7040880" y="98298"/>
                    <a:pt x="7040880" y="219456"/>
                  </a:cubicBezTo>
                  <a:lnTo>
                    <a:pt x="7040880" y="3803904"/>
                  </a:lnTo>
                  <a:cubicBezTo>
                    <a:pt x="7040880" y="3925062"/>
                    <a:pt x="6942582" y="4023360"/>
                    <a:pt x="6821424" y="4023360"/>
                  </a:cubicBezTo>
                  <a:lnTo>
                    <a:pt x="219456" y="4023360"/>
                  </a:lnTo>
                  <a:cubicBezTo>
                    <a:pt x="98298" y="4023360"/>
                    <a:pt x="0" y="3925062"/>
                    <a:pt x="0" y="3803904"/>
                  </a:cubicBezTo>
                  <a:close/>
                </a:path>
              </a:pathLst>
            </a:custGeom>
            <a:solidFill>
              <a:srgbClr val="F5F5F4"/>
            </a:solidFill>
          </p:spPr>
        </p:sp>
      </p:grpSp>
      <p:grpSp>
        <p:nvGrpSpPr>
          <p:cNvPr name="Group 9" id="9"/>
          <p:cNvGrpSpPr/>
          <p:nvPr/>
        </p:nvGrpSpPr>
        <p:grpSpPr>
          <a:xfrm rot="0">
            <a:off x="1234440" y="2021205"/>
            <a:ext cx="960120" cy="960120"/>
            <a:chOff x="0" y="0"/>
            <a:chExt cx="1280160" cy="1280160"/>
          </a:xfrm>
        </p:grpSpPr>
        <p:sp>
          <p:nvSpPr>
            <p:cNvPr name="Freeform 10" id="10"/>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E6522C"/>
            </a:solidFill>
          </p:spPr>
        </p:sp>
      </p:grpSp>
      <p:grpSp>
        <p:nvGrpSpPr>
          <p:cNvPr name="Group 11" id="11"/>
          <p:cNvGrpSpPr/>
          <p:nvPr/>
        </p:nvGrpSpPr>
        <p:grpSpPr>
          <a:xfrm rot="0">
            <a:off x="1464869" y="2251634"/>
            <a:ext cx="499262" cy="499262"/>
            <a:chOff x="0" y="0"/>
            <a:chExt cx="665683" cy="665683"/>
          </a:xfrm>
        </p:grpSpPr>
        <p:sp>
          <p:nvSpPr>
            <p:cNvPr name="Freeform 12" id="12" descr="preencoded.png"/>
            <p:cNvSpPr/>
            <p:nvPr/>
          </p:nvSpPr>
          <p:spPr>
            <a:xfrm flipH="false" flipV="false" rot="0">
              <a:off x="0" y="0"/>
              <a:ext cx="665734" cy="665734"/>
            </a:xfrm>
            <a:custGeom>
              <a:avLst/>
              <a:gdLst/>
              <a:ahLst/>
              <a:cxnLst/>
              <a:rect r="r" b="b" t="t" l="l"/>
              <a:pathLst>
                <a:path h="665734" w="665734">
                  <a:moveTo>
                    <a:pt x="0" y="0"/>
                  </a:moveTo>
                  <a:lnTo>
                    <a:pt x="665734" y="0"/>
                  </a:lnTo>
                  <a:lnTo>
                    <a:pt x="665734" y="665734"/>
                  </a:lnTo>
                  <a:lnTo>
                    <a:pt x="0" y="665734"/>
                  </a:lnTo>
                  <a:lnTo>
                    <a:pt x="0" y="0"/>
                  </a:lnTo>
                  <a:close/>
                </a:path>
              </a:pathLst>
            </a:custGeom>
            <a:blipFill>
              <a:blip r:embed="rId4"/>
              <a:stretch>
                <a:fillRect l="0" t="0" r="7" b="7"/>
              </a:stretch>
            </a:blipFill>
          </p:spPr>
        </p:sp>
      </p:grpSp>
      <p:grpSp>
        <p:nvGrpSpPr>
          <p:cNvPr name="Group 13" id="13"/>
          <p:cNvGrpSpPr/>
          <p:nvPr/>
        </p:nvGrpSpPr>
        <p:grpSpPr>
          <a:xfrm rot="0">
            <a:off x="2400300" y="2048637"/>
            <a:ext cx="3497580" cy="905256"/>
            <a:chOff x="0" y="0"/>
            <a:chExt cx="4663440" cy="1207008"/>
          </a:xfrm>
        </p:grpSpPr>
        <p:sp>
          <p:nvSpPr>
            <p:cNvPr name="Freeform 14" id="14"/>
            <p:cNvSpPr/>
            <p:nvPr/>
          </p:nvSpPr>
          <p:spPr>
            <a:xfrm flipH="false" flipV="false" rot="0">
              <a:off x="0" y="0"/>
              <a:ext cx="4663440" cy="1207008"/>
            </a:xfrm>
            <a:custGeom>
              <a:avLst/>
              <a:gdLst/>
              <a:ahLst/>
              <a:cxnLst/>
              <a:rect r="r" b="b" t="t" l="l"/>
              <a:pathLst>
                <a:path h="1207008" w="4663440">
                  <a:moveTo>
                    <a:pt x="0" y="0"/>
                  </a:moveTo>
                  <a:lnTo>
                    <a:pt x="4663440" y="0"/>
                  </a:lnTo>
                  <a:lnTo>
                    <a:pt x="4663440" y="1207008"/>
                  </a:lnTo>
                  <a:lnTo>
                    <a:pt x="0" y="1207008"/>
                  </a:lnTo>
                  <a:close/>
                </a:path>
              </a:pathLst>
            </a:custGeom>
            <a:blipFill>
              <a:blip r:embed="rId3">
                <a:alphaModFix amt="0"/>
              </a:blip>
              <a:stretch>
                <a:fillRect l="0" t="-25283" r="0" b="-25283"/>
              </a:stretch>
            </a:blipFill>
          </p:spPr>
        </p:sp>
        <p:sp>
          <p:nvSpPr>
            <p:cNvPr name="TextBox 15" id="15"/>
            <p:cNvSpPr txBox="true"/>
            <p:nvPr/>
          </p:nvSpPr>
          <p:spPr>
            <a:xfrm>
              <a:off x="0" y="-57150"/>
              <a:ext cx="4663440" cy="1264158"/>
            </a:xfrm>
            <a:prstGeom prst="rect">
              <a:avLst/>
            </a:prstGeom>
          </p:spPr>
          <p:txBody>
            <a:bodyPr anchor="ctr" rtlCol="false" tIns="0" lIns="0" bIns="0" rIns="0"/>
            <a:lstStyle/>
            <a:p>
              <a:pPr algn="l">
                <a:lnSpc>
                  <a:spcPts val="3240"/>
                </a:lnSpc>
              </a:pPr>
              <a:r>
                <a:rPr lang="en-US" sz="2700" b="true">
                  <a:solidFill>
                    <a:srgbClr val="1C1917"/>
                  </a:solidFill>
                  <a:latin typeface="Calibri"/>
                  <a:ea typeface="Calibri"/>
                  <a:cs typeface="Calibri"/>
                  <a:sym typeface="Calibri"/>
                </a:rPr>
                <a:t>Built for containers</a:t>
              </a:r>
            </a:p>
          </p:txBody>
        </p:sp>
      </p:grpSp>
      <p:sp>
        <p:nvSpPr>
          <p:cNvPr name="TextBox 16" id="16"/>
          <p:cNvSpPr txBox="true"/>
          <p:nvPr/>
        </p:nvSpPr>
        <p:spPr>
          <a:xfrm rot="0">
            <a:off x="1234440" y="3129915"/>
            <a:ext cx="4526280" cy="1291590"/>
          </a:xfrm>
          <a:prstGeom prst="rect">
            <a:avLst/>
          </a:prstGeom>
        </p:spPr>
        <p:txBody>
          <a:bodyPr anchor="t" rtlCol="false" tIns="0" lIns="0" bIns="0" rIns="0">
            <a:spAutoFit/>
          </a:bodyPr>
          <a:lstStyle/>
          <a:p>
            <a:pPr algn="l">
              <a:lnSpc>
                <a:spcPts val="2700"/>
              </a:lnSpc>
            </a:pPr>
            <a:r>
              <a:rPr lang="en-US" sz="2250">
                <a:solidFill>
                  <a:srgbClr val="57534E"/>
                </a:solidFill>
                <a:latin typeface="Calibri"/>
                <a:ea typeface="Calibri"/>
                <a:cs typeface="Calibri"/>
                <a:sym typeface="Calibri"/>
              </a:rPr>
              <a:t>CNCF graduated; discovers Docker and Kubernetes targets</a:t>
            </a:r>
          </a:p>
        </p:txBody>
      </p:sp>
      <p:grpSp>
        <p:nvGrpSpPr>
          <p:cNvPr name="Group 17" id="17"/>
          <p:cNvGrpSpPr/>
          <p:nvPr/>
        </p:nvGrpSpPr>
        <p:grpSpPr>
          <a:xfrm rot="0">
            <a:off x="6446520" y="1609725"/>
            <a:ext cx="5280660" cy="3017520"/>
            <a:chOff x="0" y="0"/>
            <a:chExt cx="7040880" cy="4023360"/>
          </a:xfrm>
        </p:grpSpPr>
        <p:sp>
          <p:nvSpPr>
            <p:cNvPr name="Freeform 18" id="18"/>
            <p:cNvSpPr/>
            <p:nvPr/>
          </p:nvSpPr>
          <p:spPr>
            <a:xfrm flipH="false" flipV="false" rot="0">
              <a:off x="0" y="0"/>
              <a:ext cx="7040880" cy="4023360"/>
            </a:xfrm>
            <a:custGeom>
              <a:avLst/>
              <a:gdLst/>
              <a:ahLst/>
              <a:cxnLst/>
              <a:rect r="r" b="b" t="t" l="l"/>
              <a:pathLst>
                <a:path h="4023360" w="7040880">
                  <a:moveTo>
                    <a:pt x="0" y="219456"/>
                  </a:moveTo>
                  <a:cubicBezTo>
                    <a:pt x="0" y="98298"/>
                    <a:pt x="98298" y="0"/>
                    <a:pt x="219456" y="0"/>
                  </a:cubicBezTo>
                  <a:lnTo>
                    <a:pt x="6821424" y="0"/>
                  </a:lnTo>
                  <a:cubicBezTo>
                    <a:pt x="6942582" y="0"/>
                    <a:pt x="7040880" y="98298"/>
                    <a:pt x="7040880" y="219456"/>
                  </a:cubicBezTo>
                  <a:lnTo>
                    <a:pt x="7040880" y="3803904"/>
                  </a:lnTo>
                  <a:cubicBezTo>
                    <a:pt x="7040880" y="3925062"/>
                    <a:pt x="6942582" y="4023360"/>
                    <a:pt x="6821424" y="4023360"/>
                  </a:cubicBezTo>
                  <a:lnTo>
                    <a:pt x="219456" y="4023360"/>
                  </a:lnTo>
                  <a:cubicBezTo>
                    <a:pt x="98298" y="4023360"/>
                    <a:pt x="0" y="3925062"/>
                    <a:pt x="0" y="3803904"/>
                  </a:cubicBezTo>
                  <a:close/>
                </a:path>
              </a:pathLst>
            </a:custGeom>
            <a:solidFill>
              <a:srgbClr val="F5F5F4"/>
            </a:solidFill>
          </p:spPr>
        </p:sp>
      </p:grpSp>
      <p:grpSp>
        <p:nvGrpSpPr>
          <p:cNvPr name="Group 19" id="19"/>
          <p:cNvGrpSpPr/>
          <p:nvPr/>
        </p:nvGrpSpPr>
        <p:grpSpPr>
          <a:xfrm rot="0">
            <a:off x="6858000" y="2021205"/>
            <a:ext cx="960120" cy="960120"/>
            <a:chOff x="0" y="0"/>
            <a:chExt cx="1280160" cy="1280160"/>
          </a:xfrm>
        </p:grpSpPr>
        <p:sp>
          <p:nvSpPr>
            <p:cNvPr name="Freeform 20" id="20"/>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E6522C"/>
            </a:solidFill>
          </p:spPr>
        </p:sp>
      </p:grpSp>
      <p:grpSp>
        <p:nvGrpSpPr>
          <p:cNvPr name="Group 21" id="21"/>
          <p:cNvGrpSpPr/>
          <p:nvPr/>
        </p:nvGrpSpPr>
        <p:grpSpPr>
          <a:xfrm rot="0">
            <a:off x="7088429" y="2251634"/>
            <a:ext cx="499262" cy="499262"/>
            <a:chOff x="0" y="0"/>
            <a:chExt cx="665683" cy="665683"/>
          </a:xfrm>
        </p:grpSpPr>
        <p:sp>
          <p:nvSpPr>
            <p:cNvPr name="Freeform 22" id="22" descr="preencoded.png"/>
            <p:cNvSpPr/>
            <p:nvPr/>
          </p:nvSpPr>
          <p:spPr>
            <a:xfrm flipH="false" flipV="false" rot="0">
              <a:off x="0" y="0"/>
              <a:ext cx="665734" cy="665734"/>
            </a:xfrm>
            <a:custGeom>
              <a:avLst/>
              <a:gdLst/>
              <a:ahLst/>
              <a:cxnLst/>
              <a:rect r="r" b="b" t="t" l="l"/>
              <a:pathLst>
                <a:path h="665734" w="665734">
                  <a:moveTo>
                    <a:pt x="0" y="0"/>
                  </a:moveTo>
                  <a:lnTo>
                    <a:pt x="665734" y="0"/>
                  </a:lnTo>
                  <a:lnTo>
                    <a:pt x="665734" y="665734"/>
                  </a:lnTo>
                  <a:lnTo>
                    <a:pt x="0" y="665734"/>
                  </a:lnTo>
                  <a:lnTo>
                    <a:pt x="0" y="0"/>
                  </a:lnTo>
                  <a:close/>
                </a:path>
              </a:pathLst>
            </a:custGeom>
            <a:blipFill>
              <a:blip r:embed="rId5"/>
              <a:stretch>
                <a:fillRect l="0" t="0" r="7" b="7"/>
              </a:stretch>
            </a:blipFill>
          </p:spPr>
        </p:sp>
      </p:grpSp>
      <p:grpSp>
        <p:nvGrpSpPr>
          <p:cNvPr name="Group 23" id="23"/>
          <p:cNvGrpSpPr/>
          <p:nvPr/>
        </p:nvGrpSpPr>
        <p:grpSpPr>
          <a:xfrm rot="0">
            <a:off x="8023860" y="2048637"/>
            <a:ext cx="3497580" cy="905256"/>
            <a:chOff x="0" y="0"/>
            <a:chExt cx="4663440" cy="1207008"/>
          </a:xfrm>
        </p:grpSpPr>
        <p:sp>
          <p:nvSpPr>
            <p:cNvPr name="Freeform 24" id="24"/>
            <p:cNvSpPr/>
            <p:nvPr/>
          </p:nvSpPr>
          <p:spPr>
            <a:xfrm flipH="false" flipV="false" rot="0">
              <a:off x="0" y="0"/>
              <a:ext cx="4663440" cy="1207008"/>
            </a:xfrm>
            <a:custGeom>
              <a:avLst/>
              <a:gdLst/>
              <a:ahLst/>
              <a:cxnLst/>
              <a:rect r="r" b="b" t="t" l="l"/>
              <a:pathLst>
                <a:path h="1207008" w="4663440">
                  <a:moveTo>
                    <a:pt x="0" y="0"/>
                  </a:moveTo>
                  <a:lnTo>
                    <a:pt x="4663440" y="0"/>
                  </a:lnTo>
                  <a:lnTo>
                    <a:pt x="4663440" y="1207008"/>
                  </a:lnTo>
                  <a:lnTo>
                    <a:pt x="0" y="1207008"/>
                  </a:lnTo>
                  <a:close/>
                </a:path>
              </a:pathLst>
            </a:custGeom>
            <a:blipFill>
              <a:blip r:embed="rId3">
                <a:alphaModFix amt="0"/>
              </a:blip>
              <a:stretch>
                <a:fillRect l="0" t="-25283" r="0" b="-25283"/>
              </a:stretch>
            </a:blipFill>
          </p:spPr>
        </p:sp>
        <p:sp>
          <p:nvSpPr>
            <p:cNvPr name="TextBox 25" id="25"/>
            <p:cNvSpPr txBox="true"/>
            <p:nvPr/>
          </p:nvSpPr>
          <p:spPr>
            <a:xfrm>
              <a:off x="0" y="-57150"/>
              <a:ext cx="4663440" cy="1264158"/>
            </a:xfrm>
            <a:prstGeom prst="rect">
              <a:avLst/>
            </a:prstGeom>
          </p:spPr>
          <p:txBody>
            <a:bodyPr anchor="ctr" rtlCol="false" tIns="0" lIns="0" bIns="0" rIns="0"/>
            <a:lstStyle/>
            <a:p>
              <a:pPr algn="l">
                <a:lnSpc>
                  <a:spcPts val="3240"/>
                </a:lnSpc>
              </a:pPr>
              <a:r>
                <a:rPr lang="en-US" sz="2700" b="true">
                  <a:solidFill>
                    <a:srgbClr val="1C1917"/>
                  </a:solidFill>
                  <a:latin typeface="Calibri"/>
                  <a:ea typeface="Calibri"/>
                  <a:cs typeface="Calibri"/>
                  <a:sym typeface="Calibri"/>
                </a:rPr>
                <a:t>PromQL</a:t>
              </a:r>
            </a:p>
          </p:txBody>
        </p:sp>
      </p:grpSp>
      <p:sp>
        <p:nvSpPr>
          <p:cNvPr name="TextBox 26" id="26"/>
          <p:cNvSpPr txBox="true"/>
          <p:nvPr/>
        </p:nvSpPr>
        <p:spPr>
          <a:xfrm rot="0">
            <a:off x="6858000" y="3129915"/>
            <a:ext cx="4526280" cy="1291590"/>
          </a:xfrm>
          <a:prstGeom prst="rect">
            <a:avLst/>
          </a:prstGeom>
        </p:spPr>
        <p:txBody>
          <a:bodyPr anchor="t" rtlCol="false" tIns="0" lIns="0" bIns="0" rIns="0">
            <a:spAutoFit/>
          </a:bodyPr>
          <a:lstStyle/>
          <a:p>
            <a:pPr algn="l">
              <a:lnSpc>
                <a:spcPts val="2700"/>
              </a:lnSpc>
            </a:pPr>
            <a:r>
              <a:rPr lang="en-US" sz="2250">
                <a:solidFill>
                  <a:srgbClr val="57534E"/>
                </a:solidFill>
                <a:latin typeface="Calibri"/>
                <a:ea typeface="Calibri"/>
                <a:cs typeface="Calibri"/>
                <a:sym typeface="Calibri"/>
              </a:rPr>
              <a:t>rates, ratios and percentiles in one query language</a:t>
            </a:r>
          </a:p>
        </p:txBody>
      </p:sp>
      <p:grpSp>
        <p:nvGrpSpPr>
          <p:cNvPr name="Group 27" id="27"/>
          <p:cNvGrpSpPr/>
          <p:nvPr/>
        </p:nvGrpSpPr>
        <p:grpSpPr>
          <a:xfrm rot="0">
            <a:off x="12070080" y="1609725"/>
            <a:ext cx="5280660" cy="3017520"/>
            <a:chOff x="0" y="0"/>
            <a:chExt cx="7040880" cy="4023360"/>
          </a:xfrm>
        </p:grpSpPr>
        <p:sp>
          <p:nvSpPr>
            <p:cNvPr name="Freeform 28" id="28"/>
            <p:cNvSpPr/>
            <p:nvPr/>
          </p:nvSpPr>
          <p:spPr>
            <a:xfrm flipH="false" flipV="false" rot="0">
              <a:off x="0" y="0"/>
              <a:ext cx="7040880" cy="4023360"/>
            </a:xfrm>
            <a:custGeom>
              <a:avLst/>
              <a:gdLst/>
              <a:ahLst/>
              <a:cxnLst/>
              <a:rect r="r" b="b" t="t" l="l"/>
              <a:pathLst>
                <a:path h="4023360" w="7040880">
                  <a:moveTo>
                    <a:pt x="0" y="219456"/>
                  </a:moveTo>
                  <a:cubicBezTo>
                    <a:pt x="0" y="98298"/>
                    <a:pt x="98298" y="0"/>
                    <a:pt x="219456" y="0"/>
                  </a:cubicBezTo>
                  <a:lnTo>
                    <a:pt x="6821424" y="0"/>
                  </a:lnTo>
                  <a:cubicBezTo>
                    <a:pt x="6942582" y="0"/>
                    <a:pt x="7040880" y="98298"/>
                    <a:pt x="7040880" y="219456"/>
                  </a:cubicBezTo>
                  <a:lnTo>
                    <a:pt x="7040880" y="3803904"/>
                  </a:lnTo>
                  <a:cubicBezTo>
                    <a:pt x="7040880" y="3925062"/>
                    <a:pt x="6942582" y="4023360"/>
                    <a:pt x="6821424" y="4023360"/>
                  </a:cubicBezTo>
                  <a:lnTo>
                    <a:pt x="219456" y="4023360"/>
                  </a:lnTo>
                  <a:cubicBezTo>
                    <a:pt x="98298" y="4023360"/>
                    <a:pt x="0" y="3925062"/>
                    <a:pt x="0" y="3803904"/>
                  </a:cubicBezTo>
                  <a:close/>
                </a:path>
              </a:pathLst>
            </a:custGeom>
            <a:solidFill>
              <a:srgbClr val="F5F5F4"/>
            </a:solidFill>
          </p:spPr>
        </p:sp>
      </p:grpSp>
      <p:grpSp>
        <p:nvGrpSpPr>
          <p:cNvPr name="Group 29" id="29"/>
          <p:cNvGrpSpPr/>
          <p:nvPr/>
        </p:nvGrpSpPr>
        <p:grpSpPr>
          <a:xfrm rot="0">
            <a:off x="12481560" y="2021205"/>
            <a:ext cx="960120" cy="960120"/>
            <a:chOff x="0" y="0"/>
            <a:chExt cx="1280160" cy="1280160"/>
          </a:xfrm>
        </p:grpSpPr>
        <p:sp>
          <p:nvSpPr>
            <p:cNvPr name="Freeform 30" id="30"/>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E6522C"/>
            </a:solidFill>
          </p:spPr>
        </p:sp>
      </p:grpSp>
      <p:grpSp>
        <p:nvGrpSpPr>
          <p:cNvPr name="Group 31" id="31"/>
          <p:cNvGrpSpPr/>
          <p:nvPr/>
        </p:nvGrpSpPr>
        <p:grpSpPr>
          <a:xfrm rot="0">
            <a:off x="12711989" y="2251634"/>
            <a:ext cx="499262" cy="499262"/>
            <a:chOff x="0" y="0"/>
            <a:chExt cx="665683" cy="665683"/>
          </a:xfrm>
        </p:grpSpPr>
        <p:sp>
          <p:nvSpPr>
            <p:cNvPr name="Freeform 32" id="32" descr="preencoded.png"/>
            <p:cNvSpPr/>
            <p:nvPr/>
          </p:nvSpPr>
          <p:spPr>
            <a:xfrm flipH="false" flipV="false" rot="0">
              <a:off x="0" y="0"/>
              <a:ext cx="665734" cy="665734"/>
            </a:xfrm>
            <a:custGeom>
              <a:avLst/>
              <a:gdLst/>
              <a:ahLst/>
              <a:cxnLst/>
              <a:rect r="r" b="b" t="t" l="l"/>
              <a:pathLst>
                <a:path h="665734" w="665734">
                  <a:moveTo>
                    <a:pt x="0" y="0"/>
                  </a:moveTo>
                  <a:lnTo>
                    <a:pt x="665734" y="0"/>
                  </a:lnTo>
                  <a:lnTo>
                    <a:pt x="665734" y="665734"/>
                  </a:lnTo>
                  <a:lnTo>
                    <a:pt x="0" y="665734"/>
                  </a:lnTo>
                  <a:lnTo>
                    <a:pt x="0" y="0"/>
                  </a:lnTo>
                  <a:close/>
                </a:path>
              </a:pathLst>
            </a:custGeom>
            <a:blipFill>
              <a:blip r:embed="rId6"/>
              <a:stretch>
                <a:fillRect l="0" t="0" r="7" b="7"/>
              </a:stretch>
            </a:blipFill>
          </p:spPr>
        </p:sp>
      </p:grpSp>
      <p:grpSp>
        <p:nvGrpSpPr>
          <p:cNvPr name="Group 33" id="33"/>
          <p:cNvGrpSpPr/>
          <p:nvPr/>
        </p:nvGrpSpPr>
        <p:grpSpPr>
          <a:xfrm rot="0">
            <a:off x="13647420" y="2048637"/>
            <a:ext cx="3497580" cy="905256"/>
            <a:chOff x="0" y="0"/>
            <a:chExt cx="4663440" cy="1207008"/>
          </a:xfrm>
        </p:grpSpPr>
        <p:sp>
          <p:nvSpPr>
            <p:cNvPr name="Freeform 34" id="34"/>
            <p:cNvSpPr/>
            <p:nvPr/>
          </p:nvSpPr>
          <p:spPr>
            <a:xfrm flipH="false" flipV="false" rot="0">
              <a:off x="0" y="0"/>
              <a:ext cx="4663440" cy="1207008"/>
            </a:xfrm>
            <a:custGeom>
              <a:avLst/>
              <a:gdLst/>
              <a:ahLst/>
              <a:cxnLst/>
              <a:rect r="r" b="b" t="t" l="l"/>
              <a:pathLst>
                <a:path h="1207008" w="4663440">
                  <a:moveTo>
                    <a:pt x="0" y="0"/>
                  </a:moveTo>
                  <a:lnTo>
                    <a:pt x="4663440" y="0"/>
                  </a:lnTo>
                  <a:lnTo>
                    <a:pt x="4663440" y="1207008"/>
                  </a:lnTo>
                  <a:lnTo>
                    <a:pt x="0" y="1207008"/>
                  </a:lnTo>
                  <a:close/>
                </a:path>
              </a:pathLst>
            </a:custGeom>
            <a:blipFill>
              <a:blip r:embed="rId3">
                <a:alphaModFix amt="0"/>
              </a:blip>
              <a:stretch>
                <a:fillRect l="0" t="-25283" r="0" b="-25283"/>
              </a:stretch>
            </a:blipFill>
          </p:spPr>
        </p:sp>
        <p:sp>
          <p:nvSpPr>
            <p:cNvPr name="TextBox 35" id="35"/>
            <p:cNvSpPr txBox="true"/>
            <p:nvPr/>
          </p:nvSpPr>
          <p:spPr>
            <a:xfrm>
              <a:off x="0" y="-57150"/>
              <a:ext cx="4663440" cy="1264158"/>
            </a:xfrm>
            <a:prstGeom prst="rect">
              <a:avLst/>
            </a:prstGeom>
          </p:spPr>
          <p:txBody>
            <a:bodyPr anchor="ctr" rtlCol="false" tIns="0" lIns="0" bIns="0" rIns="0"/>
            <a:lstStyle/>
            <a:p>
              <a:pPr algn="l">
                <a:lnSpc>
                  <a:spcPts val="3240"/>
                </a:lnSpc>
              </a:pPr>
              <a:r>
                <a:rPr lang="en-US" sz="2700" b="true">
                  <a:solidFill>
                    <a:srgbClr val="1C1917"/>
                  </a:solidFill>
                  <a:latin typeface="Calibri"/>
                  <a:ea typeface="Calibri"/>
                  <a:cs typeface="Calibri"/>
                  <a:sym typeface="Calibri"/>
                </a:rPr>
                <a:t>Noise control</a:t>
              </a:r>
            </a:p>
          </p:txBody>
        </p:sp>
      </p:grpSp>
      <p:sp>
        <p:nvSpPr>
          <p:cNvPr name="TextBox 36" id="36"/>
          <p:cNvSpPr txBox="true"/>
          <p:nvPr/>
        </p:nvSpPr>
        <p:spPr>
          <a:xfrm rot="0">
            <a:off x="12481560" y="3129915"/>
            <a:ext cx="4526280" cy="1291590"/>
          </a:xfrm>
          <a:prstGeom prst="rect">
            <a:avLst/>
          </a:prstGeom>
        </p:spPr>
        <p:txBody>
          <a:bodyPr anchor="t" rtlCol="false" tIns="0" lIns="0" bIns="0" rIns="0">
            <a:spAutoFit/>
          </a:bodyPr>
          <a:lstStyle/>
          <a:p>
            <a:pPr algn="l">
              <a:lnSpc>
                <a:spcPts val="2700"/>
              </a:lnSpc>
            </a:pPr>
            <a:r>
              <a:rPr lang="en-US" sz="2250">
                <a:solidFill>
                  <a:srgbClr val="57534E"/>
                </a:solidFill>
                <a:latin typeface="Calibri"/>
                <a:ea typeface="Calibri"/>
                <a:cs typeface="Calibri"/>
                <a:sym typeface="Calibri"/>
              </a:rPr>
              <a:t>grouping, routing, inhibition and silences</a:t>
            </a:r>
          </a:p>
        </p:txBody>
      </p:sp>
      <p:grpSp>
        <p:nvGrpSpPr>
          <p:cNvPr name="Group 37" id="37"/>
          <p:cNvGrpSpPr/>
          <p:nvPr/>
        </p:nvGrpSpPr>
        <p:grpSpPr>
          <a:xfrm rot="0">
            <a:off x="822960" y="4970145"/>
            <a:ext cx="5280660" cy="3017520"/>
            <a:chOff x="0" y="0"/>
            <a:chExt cx="7040880" cy="4023360"/>
          </a:xfrm>
        </p:grpSpPr>
        <p:sp>
          <p:nvSpPr>
            <p:cNvPr name="Freeform 38" id="38"/>
            <p:cNvSpPr/>
            <p:nvPr/>
          </p:nvSpPr>
          <p:spPr>
            <a:xfrm flipH="false" flipV="false" rot="0">
              <a:off x="0" y="0"/>
              <a:ext cx="7040880" cy="4023360"/>
            </a:xfrm>
            <a:custGeom>
              <a:avLst/>
              <a:gdLst/>
              <a:ahLst/>
              <a:cxnLst/>
              <a:rect r="r" b="b" t="t" l="l"/>
              <a:pathLst>
                <a:path h="4023360" w="7040880">
                  <a:moveTo>
                    <a:pt x="0" y="219456"/>
                  </a:moveTo>
                  <a:cubicBezTo>
                    <a:pt x="0" y="98298"/>
                    <a:pt x="98298" y="0"/>
                    <a:pt x="219456" y="0"/>
                  </a:cubicBezTo>
                  <a:lnTo>
                    <a:pt x="6821424" y="0"/>
                  </a:lnTo>
                  <a:cubicBezTo>
                    <a:pt x="6942582" y="0"/>
                    <a:pt x="7040880" y="98298"/>
                    <a:pt x="7040880" y="219456"/>
                  </a:cubicBezTo>
                  <a:lnTo>
                    <a:pt x="7040880" y="3803904"/>
                  </a:lnTo>
                  <a:cubicBezTo>
                    <a:pt x="7040880" y="3925062"/>
                    <a:pt x="6942582" y="4023360"/>
                    <a:pt x="6821424" y="4023360"/>
                  </a:cubicBezTo>
                  <a:lnTo>
                    <a:pt x="219456" y="4023360"/>
                  </a:lnTo>
                  <a:cubicBezTo>
                    <a:pt x="98298" y="4023360"/>
                    <a:pt x="0" y="3925062"/>
                    <a:pt x="0" y="3803904"/>
                  </a:cubicBezTo>
                  <a:close/>
                </a:path>
              </a:pathLst>
            </a:custGeom>
            <a:solidFill>
              <a:srgbClr val="F5F5F4"/>
            </a:solidFill>
          </p:spPr>
        </p:sp>
      </p:grpSp>
      <p:grpSp>
        <p:nvGrpSpPr>
          <p:cNvPr name="Group 39" id="39"/>
          <p:cNvGrpSpPr/>
          <p:nvPr/>
        </p:nvGrpSpPr>
        <p:grpSpPr>
          <a:xfrm rot="0">
            <a:off x="1234440" y="5381625"/>
            <a:ext cx="960120" cy="960120"/>
            <a:chOff x="0" y="0"/>
            <a:chExt cx="1280160" cy="1280160"/>
          </a:xfrm>
        </p:grpSpPr>
        <p:sp>
          <p:nvSpPr>
            <p:cNvPr name="Freeform 40" id="40"/>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E6522C"/>
            </a:solidFill>
          </p:spPr>
        </p:sp>
      </p:grpSp>
      <p:grpSp>
        <p:nvGrpSpPr>
          <p:cNvPr name="Group 41" id="41"/>
          <p:cNvGrpSpPr/>
          <p:nvPr/>
        </p:nvGrpSpPr>
        <p:grpSpPr>
          <a:xfrm rot="0">
            <a:off x="1464869" y="5612054"/>
            <a:ext cx="499262" cy="499262"/>
            <a:chOff x="0" y="0"/>
            <a:chExt cx="665683" cy="665683"/>
          </a:xfrm>
        </p:grpSpPr>
        <p:sp>
          <p:nvSpPr>
            <p:cNvPr name="Freeform 42" id="42" descr="preencoded.png"/>
            <p:cNvSpPr/>
            <p:nvPr/>
          </p:nvSpPr>
          <p:spPr>
            <a:xfrm flipH="false" flipV="false" rot="0">
              <a:off x="0" y="0"/>
              <a:ext cx="665734" cy="665734"/>
            </a:xfrm>
            <a:custGeom>
              <a:avLst/>
              <a:gdLst/>
              <a:ahLst/>
              <a:cxnLst/>
              <a:rect r="r" b="b" t="t" l="l"/>
              <a:pathLst>
                <a:path h="665734" w="665734">
                  <a:moveTo>
                    <a:pt x="0" y="0"/>
                  </a:moveTo>
                  <a:lnTo>
                    <a:pt x="665734" y="0"/>
                  </a:lnTo>
                  <a:lnTo>
                    <a:pt x="665734" y="665734"/>
                  </a:lnTo>
                  <a:lnTo>
                    <a:pt x="0" y="665734"/>
                  </a:lnTo>
                  <a:lnTo>
                    <a:pt x="0" y="0"/>
                  </a:lnTo>
                  <a:close/>
                </a:path>
              </a:pathLst>
            </a:custGeom>
            <a:blipFill>
              <a:blip r:embed="rId7"/>
              <a:stretch>
                <a:fillRect l="0" t="0" r="7" b="7"/>
              </a:stretch>
            </a:blipFill>
          </p:spPr>
        </p:sp>
      </p:grpSp>
      <p:grpSp>
        <p:nvGrpSpPr>
          <p:cNvPr name="Group 43" id="43"/>
          <p:cNvGrpSpPr/>
          <p:nvPr/>
        </p:nvGrpSpPr>
        <p:grpSpPr>
          <a:xfrm rot="0">
            <a:off x="2400300" y="5409057"/>
            <a:ext cx="3497580" cy="905256"/>
            <a:chOff x="0" y="0"/>
            <a:chExt cx="4663440" cy="1207008"/>
          </a:xfrm>
        </p:grpSpPr>
        <p:sp>
          <p:nvSpPr>
            <p:cNvPr name="Freeform 44" id="44"/>
            <p:cNvSpPr/>
            <p:nvPr/>
          </p:nvSpPr>
          <p:spPr>
            <a:xfrm flipH="false" flipV="false" rot="0">
              <a:off x="0" y="0"/>
              <a:ext cx="4663440" cy="1207008"/>
            </a:xfrm>
            <a:custGeom>
              <a:avLst/>
              <a:gdLst/>
              <a:ahLst/>
              <a:cxnLst/>
              <a:rect r="r" b="b" t="t" l="l"/>
              <a:pathLst>
                <a:path h="1207008" w="4663440">
                  <a:moveTo>
                    <a:pt x="0" y="0"/>
                  </a:moveTo>
                  <a:lnTo>
                    <a:pt x="4663440" y="0"/>
                  </a:lnTo>
                  <a:lnTo>
                    <a:pt x="4663440" y="1207008"/>
                  </a:lnTo>
                  <a:lnTo>
                    <a:pt x="0" y="1207008"/>
                  </a:lnTo>
                  <a:close/>
                </a:path>
              </a:pathLst>
            </a:custGeom>
            <a:blipFill>
              <a:blip r:embed="rId3">
                <a:alphaModFix amt="0"/>
              </a:blip>
              <a:stretch>
                <a:fillRect l="0" t="-25283" r="0" b="-25283"/>
              </a:stretch>
            </a:blipFill>
          </p:spPr>
        </p:sp>
        <p:sp>
          <p:nvSpPr>
            <p:cNvPr name="TextBox 45" id="45"/>
            <p:cNvSpPr txBox="true"/>
            <p:nvPr/>
          </p:nvSpPr>
          <p:spPr>
            <a:xfrm>
              <a:off x="0" y="-57150"/>
              <a:ext cx="4663440" cy="1264158"/>
            </a:xfrm>
            <a:prstGeom prst="rect">
              <a:avLst/>
            </a:prstGeom>
          </p:spPr>
          <p:txBody>
            <a:bodyPr anchor="ctr" rtlCol="false" tIns="0" lIns="0" bIns="0" rIns="0"/>
            <a:lstStyle/>
            <a:p>
              <a:pPr algn="l">
                <a:lnSpc>
                  <a:spcPts val="3240"/>
                </a:lnSpc>
              </a:pPr>
              <a:r>
                <a:rPr lang="en-US" sz="2700" b="true">
                  <a:solidFill>
                    <a:srgbClr val="1C1917"/>
                  </a:solidFill>
                  <a:latin typeface="Calibri"/>
                  <a:ea typeface="Calibri"/>
                  <a:cs typeface="Calibri"/>
                  <a:sym typeface="Calibri"/>
                </a:rPr>
                <a:t>Configuration as code</a:t>
              </a:r>
            </a:p>
          </p:txBody>
        </p:sp>
      </p:grpSp>
      <p:sp>
        <p:nvSpPr>
          <p:cNvPr name="TextBox 46" id="46"/>
          <p:cNvSpPr txBox="true"/>
          <p:nvPr/>
        </p:nvSpPr>
        <p:spPr>
          <a:xfrm rot="0">
            <a:off x="1234440" y="6490335"/>
            <a:ext cx="4526280" cy="1291590"/>
          </a:xfrm>
          <a:prstGeom prst="rect">
            <a:avLst/>
          </a:prstGeom>
        </p:spPr>
        <p:txBody>
          <a:bodyPr anchor="t" rtlCol="false" tIns="0" lIns="0" bIns="0" rIns="0">
            <a:spAutoFit/>
          </a:bodyPr>
          <a:lstStyle/>
          <a:p>
            <a:pPr algn="l">
              <a:lnSpc>
                <a:spcPts val="2700"/>
              </a:lnSpc>
            </a:pPr>
            <a:r>
              <a:rPr lang="en-US" sz="2250">
                <a:solidFill>
                  <a:srgbClr val="57534E"/>
                </a:solidFill>
                <a:latin typeface="Calibri"/>
                <a:ea typeface="Calibri"/>
                <a:cs typeface="Calibri"/>
                <a:sym typeface="Calibri"/>
              </a:rPr>
              <a:t>YAML in Git, unit-tested with promtool and amtool</a:t>
            </a:r>
          </a:p>
        </p:txBody>
      </p:sp>
      <p:grpSp>
        <p:nvGrpSpPr>
          <p:cNvPr name="Group 47" id="47"/>
          <p:cNvGrpSpPr/>
          <p:nvPr/>
        </p:nvGrpSpPr>
        <p:grpSpPr>
          <a:xfrm rot="0">
            <a:off x="6446520" y="4970145"/>
            <a:ext cx="5280660" cy="3017520"/>
            <a:chOff x="0" y="0"/>
            <a:chExt cx="7040880" cy="4023360"/>
          </a:xfrm>
        </p:grpSpPr>
        <p:sp>
          <p:nvSpPr>
            <p:cNvPr name="Freeform 48" id="48"/>
            <p:cNvSpPr/>
            <p:nvPr/>
          </p:nvSpPr>
          <p:spPr>
            <a:xfrm flipH="false" flipV="false" rot="0">
              <a:off x="0" y="0"/>
              <a:ext cx="7040880" cy="4023360"/>
            </a:xfrm>
            <a:custGeom>
              <a:avLst/>
              <a:gdLst/>
              <a:ahLst/>
              <a:cxnLst/>
              <a:rect r="r" b="b" t="t" l="l"/>
              <a:pathLst>
                <a:path h="4023360" w="7040880">
                  <a:moveTo>
                    <a:pt x="0" y="219456"/>
                  </a:moveTo>
                  <a:cubicBezTo>
                    <a:pt x="0" y="98298"/>
                    <a:pt x="98298" y="0"/>
                    <a:pt x="219456" y="0"/>
                  </a:cubicBezTo>
                  <a:lnTo>
                    <a:pt x="6821424" y="0"/>
                  </a:lnTo>
                  <a:cubicBezTo>
                    <a:pt x="6942582" y="0"/>
                    <a:pt x="7040880" y="98298"/>
                    <a:pt x="7040880" y="219456"/>
                  </a:cubicBezTo>
                  <a:lnTo>
                    <a:pt x="7040880" y="3803904"/>
                  </a:lnTo>
                  <a:cubicBezTo>
                    <a:pt x="7040880" y="3925062"/>
                    <a:pt x="6942582" y="4023360"/>
                    <a:pt x="6821424" y="4023360"/>
                  </a:cubicBezTo>
                  <a:lnTo>
                    <a:pt x="219456" y="4023360"/>
                  </a:lnTo>
                  <a:cubicBezTo>
                    <a:pt x="98298" y="4023360"/>
                    <a:pt x="0" y="3925062"/>
                    <a:pt x="0" y="3803904"/>
                  </a:cubicBezTo>
                  <a:close/>
                </a:path>
              </a:pathLst>
            </a:custGeom>
            <a:solidFill>
              <a:srgbClr val="F5F5F4"/>
            </a:solidFill>
          </p:spPr>
        </p:sp>
      </p:grpSp>
      <p:grpSp>
        <p:nvGrpSpPr>
          <p:cNvPr name="Group 49" id="49"/>
          <p:cNvGrpSpPr/>
          <p:nvPr/>
        </p:nvGrpSpPr>
        <p:grpSpPr>
          <a:xfrm rot="0">
            <a:off x="6858000" y="5381625"/>
            <a:ext cx="960120" cy="960120"/>
            <a:chOff x="0" y="0"/>
            <a:chExt cx="1280160" cy="1280160"/>
          </a:xfrm>
        </p:grpSpPr>
        <p:sp>
          <p:nvSpPr>
            <p:cNvPr name="Freeform 50" id="50"/>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E6522C"/>
            </a:solidFill>
          </p:spPr>
        </p:sp>
      </p:grpSp>
      <p:grpSp>
        <p:nvGrpSpPr>
          <p:cNvPr name="Group 51" id="51"/>
          <p:cNvGrpSpPr/>
          <p:nvPr/>
        </p:nvGrpSpPr>
        <p:grpSpPr>
          <a:xfrm rot="0">
            <a:off x="7088429" y="5612054"/>
            <a:ext cx="499262" cy="499262"/>
            <a:chOff x="0" y="0"/>
            <a:chExt cx="665683" cy="665683"/>
          </a:xfrm>
        </p:grpSpPr>
        <p:sp>
          <p:nvSpPr>
            <p:cNvPr name="Freeform 52" id="52" descr="preencoded.png"/>
            <p:cNvSpPr/>
            <p:nvPr/>
          </p:nvSpPr>
          <p:spPr>
            <a:xfrm flipH="false" flipV="false" rot="0">
              <a:off x="0" y="0"/>
              <a:ext cx="665734" cy="665734"/>
            </a:xfrm>
            <a:custGeom>
              <a:avLst/>
              <a:gdLst/>
              <a:ahLst/>
              <a:cxnLst/>
              <a:rect r="r" b="b" t="t" l="l"/>
              <a:pathLst>
                <a:path h="665734" w="665734">
                  <a:moveTo>
                    <a:pt x="0" y="0"/>
                  </a:moveTo>
                  <a:lnTo>
                    <a:pt x="665734" y="0"/>
                  </a:lnTo>
                  <a:lnTo>
                    <a:pt x="665734" y="665734"/>
                  </a:lnTo>
                  <a:lnTo>
                    <a:pt x="0" y="665734"/>
                  </a:lnTo>
                  <a:lnTo>
                    <a:pt x="0" y="0"/>
                  </a:lnTo>
                  <a:close/>
                </a:path>
              </a:pathLst>
            </a:custGeom>
            <a:blipFill>
              <a:blip r:embed="rId8"/>
              <a:stretch>
                <a:fillRect l="0" t="0" r="7" b="7"/>
              </a:stretch>
            </a:blipFill>
          </p:spPr>
        </p:sp>
      </p:grpSp>
      <p:grpSp>
        <p:nvGrpSpPr>
          <p:cNvPr name="Group 53" id="53"/>
          <p:cNvGrpSpPr/>
          <p:nvPr/>
        </p:nvGrpSpPr>
        <p:grpSpPr>
          <a:xfrm rot="0">
            <a:off x="8023860" y="5409057"/>
            <a:ext cx="3497580" cy="905256"/>
            <a:chOff x="0" y="0"/>
            <a:chExt cx="4663440" cy="1207008"/>
          </a:xfrm>
        </p:grpSpPr>
        <p:sp>
          <p:nvSpPr>
            <p:cNvPr name="Freeform 54" id="54"/>
            <p:cNvSpPr/>
            <p:nvPr/>
          </p:nvSpPr>
          <p:spPr>
            <a:xfrm flipH="false" flipV="false" rot="0">
              <a:off x="0" y="0"/>
              <a:ext cx="4663440" cy="1207008"/>
            </a:xfrm>
            <a:custGeom>
              <a:avLst/>
              <a:gdLst/>
              <a:ahLst/>
              <a:cxnLst/>
              <a:rect r="r" b="b" t="t" l="l"/>
              <a:pathLst>
                <a:path h="1207008" w="4663440">
                  <a:moveTo>
                    <a:pt x="0" y="0"/>
                  </a:moveTo>
                  <a:lnTo>
                    <a:pt x="4663440" y="0"/>
                  </a:lnTo>
                  <a:lnTo>
                    <a:pt x="4663440" y="1207008"/>
                  </a:lnTo>
                  <a:lnTo>
                    <a:pt x="0" y="1207008"/>
                  </a:lnTo>
                  <a:close/>
                </a:path>
              </a:pathLst>
            </a:custGeom>
            <a:blipFill>
              <a:blip r:embed="rId3">
                <a:alphaModFix amt="0"/>
              </a:blip>
              <a:stretch>
                <a:fillRect l="0" t="-25283" r="0" b="-25283"/>
              </a:stretch>
            </a:blipFill>
          </p:spPr>
        </p:sp>
        <p:sp>
          <p:nvSpPr>
            <p:cNvPr name="TextBox 55" id="55"/>
            <p:cNvSpPr txBox="true"/>
            <p:nvPr/>
          </p:nvSpPr>
          <p:spPr>
            <a:xfrm>
              <a:off x="0" y="-57150"/>
              <a:ext cx="4663440" cy="1264158"/>
            </a:xfrm>
            <a:prstGeom prst="rect">
              <a:avLst/>
            </a:prstGeom>
          </p:spPr>
          <p:txBody>
            <a:bodyPr anchor="ctr" rtlCol="false" tIns="0" lIns="0" bIns="0" rIns="0"/>
            <a:lstStyle/>
            <a:p>
              <a:pPr algn="l">
                <a:lnSpc>
                  <a:spcPts val="3240"/>
                </a:lnSpc>
              </a:pPr>
              <a:r>
                <a:rPr lang="en-US" sz="2700" b="true">
                  <a:solidFill>
                    <a:srgbClr val="1C1917"/>
                  </a:solidFill>
                  <a:latin typeface="Calibri"/>
                  <a:ea typeface="Calibri"/>
                  <a:cs typeface="Calibri"/>
                  <a:sym typeface="Calibri"/>
                </a:rPr>
                <a:t>Free and open source</a:t>
              </a:r>
            </a:p>
          </p:txBody>
        </p:sp>
      </p:grpSp>
      <p:sp>
        <p:nvSpPr>
          <p:cNvPr name="TextBox 56" id="56"/>
          <p:cNvSpPr txBox="true"/>
          <p:nvPr/>
        </p:nvSpPr>
        <p:spPr>
          <a:xfrm rot="0">
            <a:off x="6858000" y="6490335"/>
            <a:ext cx="4526280" cy="1291590"/>
          </a:xfrm>
          <a:prstGeom prst="rect">
            <a:avLst/>
          </a:prstGeom>
        </p:spPr>
        <p:txBody>
          <a:bodyPr anchor="t" rtlCol="false" tIns="0" lIns="0" bIns="0" rIns="0">
            <a:spAutoFit/>
          </a:bodyPr>
          <a:lstStyle/>
          <a:p>
            <a:pPr algn="l">
              <a:lnSpc>
                <a:spcPts val="2700"/>
              </a:lnSpc>
            </a:pPr>
            <a:r>
              <a:rPr lang="en-US" sz="2250">
                <a:solidFill>
                  <a:srgbClr val="57534E"/>
                </a:solidFill>
                <a:latin typeface="Calibri"/>
                <a:ea typeface="Calibri"/>
                <a:cs typeface="Calibri"/>
                <a:sym typeface="Calibri"/>
              </a:rPr>
              <a:t>Apache 2.0, self-hosted, no per-host pricing</a:t>
            </a:r>
          </a:p>
        </p:txBody>
      </p:sp>
      <p:grpSp>
        <p:nvGrpSpPr>
          <p:cNvPr name="Group 57" id="57"/>
          <p:cNvGrpSpPr/>
          <p:nvPr/>
        </p:nvGrpSpPr>
        <p:grpSpPr>
          <a:xfrm rot="0">
            <a:off x="12070080" y="4970145"/>
            <a:ext cx="5280660" cy="3017520"/>
            <a:chOff x="0" y="0"/>
            <a:chExt cx="7040880" cy="4023360"/>
          </a:xfrm>
        </p:grpSpPr>
        <p:sp>
          <p:nvSpPr>
            <p:cNvPr name="Freeform 58" id="58"/>
            <p:cNvSpPr/>
            <p:nvPr/>
          </p:nvSpPr>
          <p:spPr>
            <a:xfrm flipH="false" flipV="false" rot="0">
              <a:off x="0" y="0"/>
              <a:ext cx="7040880" cy="4023360"/>
            </a:xfrm>
            <a:custGeom>
              <a:avLst/>
              <a:gdLst/>
              <a:ahLst/>
              <a:cxnLst/>
              <a:rect r="r" b="b" t="t" l="l"/>
              <a:pathLst>
                <a:path h="4023360" w="7040880">
                  <a:moveTo>
                    <a:pt x="0" y="219456"/>
                  </a:moveTo>
                  <a:cubicBezTo>
                    <a:pt x="0" y="98298"/>
                    <a:pt x="98298" y="0"/>
                    <a:pt x="219456" y="0"/>
                  </a:cubicBezTo>
                  <a:lnTo>
                    <a:pt x="6821424" y="0"/>
                  </a:lnTo>
                  <a:cubicBezTo>
                    <a:pt x="6942582" y="0"/>
                    <a:pt x="7040880" y="98298"/>
                    <a:pt x="7040880" y="219456"/>
                  </a:cubicBezTo>
                  <a:lnTo>
                    <a:pt x="7040880" y="3803904"/>
                  </a:lnTo>
                  <a:cubicBezTo>
                    <a:pt x="7040880" y="3925062"/>
                    <a:pt x="6942582" y="4023360"/>
                    <a:pt x="6821424" y="4023360"/>
                  </a:cubicBezTo>
                  <a:lnTo>
                    <a:pt x="219456" y="4023360"/>
                  </a:lnTo>
                  <a:cubicBezTo>
                    <a:pt x="98298" y="4023360"/>
                    <a:pt x="0" y="3925062"/>
                    <a:pt x="0" y="3803904"/>
                  </a:cubicBezTo>
                  <a:close/>
                </a:path>
              </a:pathLst>
            </a:custGeom>
            <a:solidFill>
              <a:srgbClr val="F5F5F4"/>
            </a:solidFill>
          </p:spPr>
        </p:sp>
      </p:grpSp>
      <p:grpSp>
        <p:nvGrpSpPr>
          <p:cNvPr name="Group 59" id="59"/>
          <p:cNvGrpSpPr/>
          <p:nvPr/>
        </p:nvGrpSpPr>
        <p:grpSpPr>
          <a:xfrm rot="0">
            <a:off x="12481560" y="5381625"/>
            <a:ext cx="960120" cy="960120"/>
            <a:chOff x="0" y="0"/>
            <a:chExt cx="1280160" cy="1280160"/>
          </a:xfrm>
        </p:grpSpPr>
        <p:sp>
          <p:nvSpPr>
            <p:cNvPr name="Freeform 60" id="60"/>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E6522C"/>
            </a:solidFill>
          </p:spPr>
        </p:sp>
      </p:grpSp>
      <p:grpSp>
        <p:nvGrpSpPr>
          <p:cNvPr name="Group 61" id="61"/>
          <p:cNvGrpSpPr/>
          <p:nvPr/>
        </p:nvGrpSpPr>
        <p:grpSpPr>
          <a:xfrm rot="0">
            <a:off x="12711989" y="5612054"/>
            <a:ext cx="499262" cy="499262"/>
            <a:chOff x="0" y="0"/>
            <a:chExt cx="665683" cy="665683"/>
          </a:xfrm>
        </p:grpSpPr>
        <p:sp>
          <p:nvSpPr>
            <p:cNvPr name="Freeform 62" id="62" descr="preencoded.png"/>
            <p:cNvSpPr/>
            <p:nvPr/>
          </p:nvSpPr>
          <p:spPr>
            <a:xfrm flipH="false" flipV="false" rot="0">
              <a:off x="0" y="0"/>
              <a:ext cx="665734" cy="665734"/>
            </a:xfrm>
            <a:custGeom>
              <a:avLst/>
              <a:gdLst/>
              <a:ahLst/>
              <a:cxnLst/>
              <a:rect r="r" b="b" t="t" l="l"/>
              <a:pathLst>
                <a:path h="665734" w="665734">
                  <a:moveTo>
                    <a:pt x="0" y="0"/>
                  </a:moveTo>
                  <a:lnTo>
                    <a:pt x="665734" y="0"/>
                  </a:lnTo>
                  <a:lnTo>
                    <a:pt x="665734" y="665734"/>
                  </a:lnTo>
                  <a:lnTo>
                    <a:pt x="0" y="665734"/>
                  </a:lnTo>
                  <a:lnTo>
                    <a:pt x="0" y="0"/>
                  </a:lnTo>
                  <a:close/>
                </a:path>
              </a:pathLst>
            </a:custGeom>
            <a:blipFill>
              <a:blip r:embed="rId9"/>
              <a:stretch>
                <a:fillRect l="0" t="0" r="7" b="7"/>
              </a:stretch>
            </a:blipFill>
          </p:spPr>
        </p:sp>
      </p:grpSp>
      <p:grpSp>
        <p:nvGrpSpPr>
          <p:cNvPr name="Group 63" id="63"/>
          <p:cNvGrpSpPr/>
          <p:nvPr/>
        </p:nvGrpSpPr>
        <p:grpSpPr>
          <a:xfrm rot="0">
            <a:off x="13647420" y="5409057"/>
            <a:ext cx="3497580" cy="905256"/>
            <a:chOff x="0" y="0"/>
            <a:chExt cx="4663440" cy="1207008"/>
          </a:xfrm>
        </p:grpSpPr>
        <p:sp>
          <p:nvSpPr>
            <p:cNvPr name="Freeform 64" id="64"/>
            <p:cNvSpPr/>
            <p:nvPr/>
          </p:nvSpPr>
          <p:spPr>
            <a:xfrm flipH="false" flipV="false" rot="0">
              <a:off x="0" y="0"/>
              <a:ext cx="4663440" cy="1207008"/>
            </a:xfrm>
            <a:custGeom>
              <a:avLst/>
              <a:gdLst/>
              <a:ahLst/>
              <a:cxnLst/>
              <a:rect r="r" b="b" t="t" l="l"/>
              <a:pathLst>
                <a:path h="1207008" w="4663440">
                  <a:moveTo>
                    <a:pt x="0" y="0"/>
                  </a:moveTo>
                  <a:lnTo>
                    <a:pt x="4663440" y="0"/>
                  </a:lnTo>
                  <a:lnTo>
                    <a:pt x="4663440" y="1207008"/>
                  </a:lnTo>
                  <a:lnTo>
                    <a:pt x="0" y="1207008"/>
                  </a:lnTo>
                  <a:close/>
                </a:path>
              </a:pathLst>
            </a:custGeom>
            <a:blipFill>
              <a:blip r:embed="rId3">
                <a:alphaModFix amt="0"/>
              </a:blip>
              <a:stretch>
                <a:fillRect l="0" t="-25283" r="0" b="-25283"/>
              </a:stretch>
            </a:blipFill>
          </p:spPr>
        </p:sp>
        <p:sp>
          <p:nvSpPr>
            <p:cNvPr name="TextBox 65" id="65"/>
            <p:cNvSpPr txBox="true"/>
            <p:nvPr/>
          </p:nvSpPr>
          <p:spPr>
            <a:xfrm>
              <a:off x="0" y="-57150"/>
              <a:ext cx="4663440" cy="1264158"/>
            </a:xfrm>
            <a:prstGeom prst="rect">
              <a:avLst/>
            </a:prstGeom>
          </p:spPr>
          <p:txBody>
            <a:bodyPr anchor="ctr" rtlCol="false" tIns="0" lIns="0" bIns="0" rIns="0"/>
            <a:lstStyle/>
            <a:p>
              <a:pPr algn="l">
                <a:lnSpc>
                  <a:spcPts val="3240"/>
                </a:lnSpc>
              </a:pPr>
              <a:r>
                <a:rPr lang="en-US" sz="2700" b="true">
                  <a:solidFill>
                    <a:srgbClr val="1C1917"/>
                  </a:solidFill>
                  <a:latin typeface="Calibri"/>
                  <a:ea typeface="Calibri"/>
                  <a:cs typeface="Calibri"/>
                  <a:sym typeface="Calibri"/>
                </a:rPr>
                <a:t>Light</a:t>
              </a:r>
            </a:p>
          </p:txBody>
        </p:sp>
      </p:grpSp>
      <p:sp>
        <p:nvSpPr>
          <p:cNvPr name="TextBox 66" id="66"/>
          <p:cNvSpPr txBox="true"/>
          <p:nvPr/>
        </p:nvSpPr>
        <p:spPr>
          <a:xfrm rot="0">
            <a:off x="12481560" y="6490335"/>
            <a:ext cx="4526280" cy="1291590"/>
          </a:xfrm>
          <a:prstGeom prst="rect">
            <a:avLst/>
          </a:prstGeom>
        </p:spPr>
        <p:txBody>
          <a:bodyPr anchor="t" rtlCol="false" tIns="0" lIns="0" bIns="0" rIns="0">
            <a:spAutoFit/>
          </a:bodyPr>
          <a:lstStyle/>
          <a:p>
            <a:pPr algn="l">
              <a:lnSpc>
                <a:spcPts val="2700"/>
              </a:lnSpc>
            </a:pPr>
            <a:r>
              <a:rPr lang="en-US" sz="2250">
                <a:solidFill>
                  <a:srgbClr val="57534E"/>
                </a:solidFill>
                <a:latin typeface="Calibri"/>
                <a:ea typeface="Calibri"/>
                <a:cs typeface="Calibri"/>
                <a:sym typeface="Calibri"/>
              </a:rPr>
              <a:t>the whole monitoring side used about 180 MiB</a:t>
            </a:r>
          </a:p>
        </p:txBody>
      </p:sp>
      <p:grpSp>
        <p:nvGrpSpPr>
          <p:cNvPr name="Group 67" id="67"/>
          <p:cNvGrpSpPr/>
          <p:nvPr/>
        </p:nvGrpSpPr>
        <p:grpSpPr>
          <a:xfrm rot="0">
            <a:off x="845820" y="8197215"/>
            <a:ext cx="16596360" cy="480060"/>
            <a:chOff x="0" y="0"/>
            <a:chExt cx="22128480" cy="640080"/>
          </a:xfrm>
        </p:grpSpPr>
        <p:sp>
          <p:nvSpPr>
            <p:cNvPr name="Freeform 68" id="68"/>
            <p:cNvSpPr/>
            <p:nvPr/>
          </p:nvSpPr>
          <p:spPr>
            <a:xfrm flipH="false" flipV="false" rot="0">
              <a:off x="0" y="0"/>
              <a:ext cx="22128480" cy="640080"/>
            </a:xfrm>
            <a:custGeom>
              <a:avLst/>
              <a:gdLst/>
              <a:ahLst/>
              <a:cxnLst/>
              <a:rect r="r" b="b" t="t" l="l"/>
              <a:pathLst>
                <a:path h="640080" w="22128480">
                  <a:moveTo>
                    <a:pt x="0" y="0"/>
                  </a:moveTo>
                  <a:lnTo>
                    <a:pt x="22128480" y="0"/>
                  </a:lnTo>
                  <a:lnTo>
                    <a:pt x="22128480" y="640080"/>
                  </a:lnTo>
                  <a:lnTo>
                    <a:pt x="0" y="640080"/>
                  </a:lnTo>
                  <a:close/>
                </a:path>
              </a:pathLst>
            </a:custGeom>
            <a:blipFill>
              <a:blip r:embed="rId3">
                <a:alphaModFix amt="0"/>
              </a:blip>
              <a:stretch>
                <a:fillRect l="0" t="-623625" r="0" b="-623625"/>
              </a:stretch>
            </a:blipFill>
          </p:spPr>
        </p:sp>
        <p:sp>
          <p:nvSpPr>
            <p:cNvPr name="TextBox 69" id="69"/>
            <p:cNvSpPr txBox="true"/>
            <p:nvPr/>
          </p:nvSpPr>
          <p:spPr>
            <a:xfrm>
              <a:off x="0" y="-47625"/>
              <a:ext cx="22128480" cy="687705"/>
            </a:xfrm>
            <a:prstGeom prst="rect">
              <a:avLst/>
            </a:prstGeom>
          </p:spPr>
          <p:txBody>
            <a:bodyPr anchor="ctr" rtlCol="false" tIns="0" lIns="0" bIns="0" rIns="0"/>
            <a:lstStyle/>
            <a:p>
              <a:pPr algn="l">
                <a:lnSpc>
                  <a:spcPts val="2340"/>
                </a:lnSpc>
              </a:pPr>
              <a:r>
                <a:rPr lang="en-US" sz="1950" i="true">
                  <a:solidFill>
                    <a:srgbClr val="57534E"/>
                  </a:solidFill>
                  <a:latin typeface="Calibri"/>
                  <a:ea typeface="Calibri"/>
                  <a:cs typeface="Calibri"/>
                  <a:sym typeface="Calibri"/>
                </a:rPr>
                <a:t>Also considered: Nagios, Zabbix, Datadog, Grafana Alerting, AWS CloudWatch (compared later)</a:t>
              </a:r>
            </a:p>
          </p:txBody>
        </p:sp>
      </p:grpSp>
      <p:sp>
        <p:nvSpPr>
          <p:cNvPr name="TextBox 70" id="70"/>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3</a:t>
            </a:r>
          </a:p>
        </p:txBody>
      </p:sp>
      <p:grpSp>
        <p:nvGrpSpPr>
          <p:cNvPr name="Group 71" id="71"/>
          <p:cNvGrpSpPr/>
          <p:nvPr/>
        </p:nvGrpSpPr>
        <p:grpSpPr>
          <a:xfrm rot="0">
            <a:off x="125707" y="43858"/>
            <a:ext cx="3471606" cy="1028700"/>
            <a:chOff x="0" y="0"/>
            <a:chExt cx="2742997" cy="812800"/>
          </a:xfrm>
        </p:grpSpPr>
        <p:sp>
          <p:nvSpPr>
            <p:cNvPr name="Freeform 72" id="72"/>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10"/>
              <a:stretch>
                <a:fillRect l="-833" t="0" r="-833" b="0"/>
              </a:stretch>
            </a:blipFill>
          </p:spPr>
        </p:sp>
      </p:grpSp>
      <p:grpSp>
        <p:nvGrpSpPr>
          <p:cNvPr name="Group 73" id="73"/>
          <p:cNvGrpSpPr>
            <a:grpSpLocks noChangeAspect="true"/>
          </p:cNvGrpSpPr>
          <p:nvPr/>
        </p:nvGrpSpPr>
        <p:grpSpPr>
          <a:xfrm rot="5400000">
            <a:off x="11132594" y="2264880"/>
            <a:ext cx="311239" cy="13999572"/>
            <a:chOff x="0" y="0"/>
            <a:chExt cx="414986" cy="18666096"/>
          </a:xfrm>
        </p:grpSpPr>
        <p:sp>
          <p:nvSpPr>
            <p:cNvPr name="Freeform 74" id="74"/>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11"/>
              <a:stretch>
                <a:fillRect l="0" t="0" r="-274183" b="0"/>
              </a:stretch>
            </a:blipFill>
          </p:spPr>
        </p:sp>
      </p:grpSp>
      <p:grpSp>
        <p:nvGrpSpPr>
          <p:cNvPr name="Group 75" id="75"/>
          <p:cNvGrpSpPr>
            <a:grpSpLocks noChangeAspect="true"/>
          </p:cNvGrpSpPr>
          <p:nvPr/>
        </p:nvGrpSpPr>
        <p:grpSpPr>
          <a:xfrm rot="0">
            <a:off x="16490259" y="140413"/>
            <a:ext cx="1616205" cy="888287"/>
            <a:chOff x="0" y="0"/>
            <a:chExt cx="2627014" cy="1443840"/>
          </a:xfrm>
        </p:grpSpPr>
        <p:sp>
          <p:nvSpPr>
            <p:cNvPr name="Freeform 76" id="76"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12"/>
              <a:stretch>
                <a:fillRect l="0" t="0" r="0" b="-35871"/>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txBody>
            <a:bodyPr/>
            <a:p/>
          </p:txBody>
        </p:sp>
      </p:grpSp>
      <p:grpSp>
        <p:nvGrpSpPr>
          <p:cNvPr name="Group 4" id="4"/>
          <p:cNvGrpSpPr/>
          <p:nvPr/>
        </p:nvGrpSpPr>
        <p:grpSpPr>
          <a:xfrm rot="0">
            <a:off x="3786754" y="-1245525"/>
            <a:ext cx="12207240" cy="4134195"/>
            <a:chOff x="0" y="0"/>
            <a:chExt cx="16276320" cy="5512260"/>
          </a:xfrm>
        </p:grpSpPr>
        <p:sp>
          <p:nvSpPr>
            <p:cNvPr name="Freeform 5" id="5"/>
            <p:cNvSpPr/>
            <p:nvPr/>
          </p:nvSpPr>
          <p:spPr>
            <a:xfrm flipH="false" flipV="false" rot="0">
              <a:off x="0" y="0"/>
              <a:ext cx="16276320" cy="5512260"/>
            </a:xfrm>
            <a:custGeom>
              <a:avLst/>
              <a:gdLst/>
              <a:ahLst/>
              <a:cxnLst/>
              <a:rect r="r" b="b" t="t" l="l"/>
              <a:pathLst>
                <a:path h="5512260" w="16276320">
                  <a:moveTo>
                    <a:pt x="0" y="0"/>
                  </a:moveTo>
                  <a:lnTo>
                    <a:pt x="16276320" y="0"/>
                  </a:lnTo>
                  <a:lnTo>
                    <a:pt x="16276320" y="5512260"/>
                  </a:lnTo>
                  <a:lnTo>
                    <a:pt x="0" y="5512260"/>
                  </a:lnTo>
                  <a:close/>
                </a:path>
              </a:pathLst>
            </a:custGeom>
            <a:blipFill>
              <a:blip r:embed="rId3">
                <a:alphaModFix amt="0"/>
              </a:blip>
              <a:stretch>
                <a:fillRect l="0" t="-64120" r="-35955" b="7678"/>
              </a:stretch>
            </a:blipFill>
          </p:spPr>
          <p:txBody>
            <a:bodyPr/>
            <a:p/>
          </p:txBody>
        </p:sp>
        <p:sp>
          <p:nvSpPr>
            <p:cNvPr name="TextBox 6" id="6"/>
            <p:cNvSpPr txBox="true"/>
            <p:nvPr/>
          </p:nvSpPr>
          <p:spPr>
            <a:xfrm>
              <a:off x="0" y="66675"/>
              <a:ext cx="16276320" cy="5445585"/>
            </a:xfrm>
            <a:prstGeom prst="rect">
              <a:avLst/>
            </a:prstGeom>
          </p:spPr>
          <p:txBody>
            <a:bodyPr anchor="ctr" rtlCol="false" tIns="0" lIns="0" bIns="0" rIns="0"/>
            <a:lstStyle/>
            <a:p>
              <a:pPr algn="ctr">
                <a:lnSpc>
                  <a:spcPts val="4944"/>
                </a:lnSpc>
              </a:pPr>
              <a:r>
                <a:rPr lang="en-US" sz="4800" b="true">
                  <a:solidFill>
                    <a:srgbClr val="1C1917"/>
                  </a:solidFill>
                  <a:latin typeface="Cambria"/>
                  <a:ea typeface="Cambria"/>
                  <a:cs typeface="Cambria"/>
                  <a:sym typeface="Cambria"/>
                </a:rPr>
                <a:t>How Prometheus works</a:t>
              </a:r>
            </a:p>
          </p:txBody>
        </p:sp>
      </p:grpSp>
      <p:grpSp>
        <p:nvGrpSpPr>
          <p:cNvPr name="Group 7" id="7"/>
          <p:cNvGrpSpPr/>
          <p:nvPr/>
        </p:nvGrpSpPr>
        <p:grpSpPr>
          <a:xfrm rot="0">
            <a:off x="800100" y="1748790"/>
            <a:ext cx="3771900" cy="2880360"/>
            <a:chOff x="0" y="0"/>
            <a:chExt cx="5029200" cy="3840480"/>
          </a:xfrm>
        </p:grpSpPr>
        <p:sp>
          <p:nvSpPr>
            <p:cNvPr name="Freeform 8" id="8"/>
            <p:cNvSpPr/>
            <p:nvPr/>
          </p:nvSpPr>
          <p:spPr>
            <a:xfrm flipH="false" flipV="false" rot="0">
              <a:off x="0" y="0"/>
              <a:ext cx="5029200" cy="3840480"/>
            </a:xfrm>
            <a:custGeom>
              <a:avLst/>
              <a:gdLst/>
              <a:ahLst/>
              <a:cxnLst/>
              <a:rect r="r" b="b" t="t" l="l"/>
              <a:pathLst>
                <a:path h="3840480" w="5029200">
                  <a:moveTo>
                    <a:pt x="0" y="219456"/>
                  </a:moveTo>
                  <a:cubicBezTo>
                    <a:pt x="0" y="98298"/>
                    <a:pt x="98298" y="0"/>
                    <a:pt x="219456" y="0"/>
                  </a:cubicBezTo>
                  <a:lnTo>
                    <a:pt x="4809744" y="0"/>
                  </a:lnTo>
                  <a:cubicBezTo>
                    <a:pt x="4930902" y="0"/>
                    <a:pt x="5029200" y="98298"/>
                    <a:pt x="5029200" y="219456"/>
                  </a:cubicBezTo>
                  <a:lnTo>
                    <a:pt x="5029200" y="3621024"/>
                  </a:lnTo>
                  <a:cubicBezTo>
                    <a:pt x="5029200" y="3742182"/>
                    <a:pt x="4930902" y="3840480"/>
                    <a:pt x="4809744" y="3840480"/>
                  </a:cubicBezTo>
                  <a:lnTo>
                    <a:pt x="219456" y="3840480"/>
                  </a:lnTo>
                  <a:cubicBezTo>
                    <a:pt x="98298" y="3840480"/>
                    <a:pt x="0" y="3742182"/>
                    <a:pt x="0" y="3621024"/>
                  </a:cubicBezTo>
                  <a:close/>
                </a:path>
              </a:pathLst>
            </a:custGeom>
            <a:solidFill>
              <a:srgbClr val="F5F5F4"/>
            </a:solidFill>
          </p:spPr>
          <p:txBody>
            <a:bodyPr/>
            <a:p/>
          </p:txBody>
        </p:sp>
      </p:grpSp>
      <p:grpSp>
        <p:nvGrpSpPr>
          <p:cNvPr name="Group 9" id="9"/>
          <p:cNvGrpSpPr/>
          <p:nvPr/>
        </p:nvGrpSpPr>
        <p:grpSpPr>
          <a:xfrm rot="0">
            <a:off x="1143000" y="1954530"/>
            <a:ext cx="3154680" cy="685800"/>
            <a:chOff x="0" y="0"/>
            <a:chExt cx="4206240" cy="914400"/>
          </a:xfrm>
        </p:grpSpPr>
        <p:sp>
          <p:nvSpPr>
            <p:cNvPr name="Freeform 10" id="10"/>
            <p:cNvSpPr/>
            <p:nvPr/>
          </p:nvSpPr>
          <p:spPr>
            <a:xfrm flipH="false" flipV="false" rot="0">
              <a:off x="0" y="0"/>
              <a:ext cx="4206240" cy="914400"/>
            </a:xfrm>
            <a:custGeom>
              <a:avLst/>
              <a:gdLst/>
              <a:ahLst/>
              <a:cxnLst/>
              <a:rect r="r" b="b" t="t" l="l"/>
              <a:pathLst>
                <a:path h="914400" w="4206240">
                  <a:moveTo>
                    <a:pt x="0" y="0"/>
                  </a:moveTo>
                  <a:lnTo>
                    <a:pt x="4206240" y="0"/>
                  </a:lnTo>
                  <a:lnTo>
                    <a:pt x="4206240" y="914400"/>
                  </a:lnTo>
                  <a:lnTo>
                    <a:pt x="0" y="914400"/>
                  </a:lnTo>
                  <a:close/>
                </a:path>
              </a:pathLst>
            </a:custGeom>
            <a:blipFill>
              <a:blip r:embed="rId3">
                <a:alphaModFix amt="0"/>
              </a:blip>
              <a:stretch>
                <a:fillRect l="0" t="-39631" r="0" b="-39631"/>
              </a:stretch>
            </a:blipFill>
          </p:spPr>
          <p:txBody>
            <a:bodyPr/>
            <a:p/>
          </p:txBody>
        </p:sp>
        <p:sp>
          <p:nvSpPr>
            <p:cNvPr name="TextBox 11" id="11"/>
            <p:cNvSpPr txBox="true"/>
            <p:nvPr/>
          </p:nvSpPr>
          <p:spPr>
            <a:xfrm>
              <a:off x="0" y="-66675"/>
              <a:ext cx="4206240" cy="981075"/>
            </a:xfrm>
            <a:prstGeom prst="rect">
              <a:avLst/>
            </a:prstGeom>
          </p:spPr>
          <p:txBody>
            <a:bodyPr anchor="ctr" rtlCol="false" tIns="0" lIns="0" bIns="0" rIns="0"/>
            <a:lstStyle/>
            <a:p>
              <a:pPr algn="l">
                <a:lnSpc>
                  <a:spcPts val="3600"/>
                </a:lnSpc>
              </a:pPr>
              <a:r>
                <a:rPr lang="en-US" sz="3000" b="true">
                  <a:solidFill>
                    <a:srgbClr val="1C1917"/>
                  </a:solidFill>
                  <a:latin typeface="Calibri"/>
                  <a:ea typeface="Calibri"/>
                  <a:cs typeface="Calibri"/>
                  <a:sym typeface="Calibri"/>
                </a:rPr>
                <a:t>Targets</a:t>
              </a:r>
            </a:p>
          </p:txBody>
        </p:sp>
      </p:grpSp>
      <p:sp>
        <p:nvSpPr>
          <p:cNvPr name="TextBox 12" id="12"/>
          <p:cNvSpPr txBox="true"/>
          <p:nvPr/>
        </p:nvSpPr>
        <p:spPr>
          <a:xfrm rot="0">
            <a:off x="1143000" y="2651760"/>
            <a:ext cx="3154680" cy="1771650"/>
          </a:xfrm>
          <a:prstGeom prst="rect">
            <a:avLst/>
          </a:prstGeom>
        </p:spPr>
        <p:txBody>
          <a:bodyPr anchor="t" rtlCol="false" tIns="0" lIns="0" bIns="0" rIns="0">
            <a:spAutoFit/>
          </a:bodyPr>
          <a:lstStyle/>
          <a:p>
            <a:pPr algn="l">
              <a:lnSpc>
                <a:spcPts val="2700"/>
              </a:lnSpc>
            </a:pPr>
            <a:r>
              <a:rPr lang="en-US" sz="2250">
                <a:solidFill>
                  <a:srgbClr val="1C1917"/>
                </a:solidFill>
                <a:latin typeface="Calibri"/>
                <a:ea typeface="Calibri"/>
                <a:cs typeface="Calibri"/>
                <a:sym typeface="Calibri"/>
              </a:rPr>
              <a:t>apps and exporters expose /metrics</a:t>
            </a:r>
          </a:p>
        </p:txBody>
      </p:sp>
      <p:grpSp>
        <p:nvGrpSpPr>
          <p:cNvPr name="Group 13" id="13"/>
          <p:cNvGrpSpPr/>
          <p:nvPr/>
        </p:nvGrpSpPr>
        <p:grpSpPr>
          <a:xfrm rot="0">
            <a:off x="4640580" y="2914650"/>
            <a:ext cx="384048" cy="548640"/>
            <a:chOff x="0" y="0"/>
            <a:chExt cx="512064" cy="731520"/>
          </a:xfrm>
        </p:grpSpPr>
        <p:sp>
          <p:nvSpPr>
            <p:cNvPr name="Freeform 14" id="14"/>
            <p:cNvSpPr/>
            <p:nvPr/>
          </p:nvSpPr>
          <p:spPr>
            <a:xfrm flipH="false" flipV="false" rot="0">
              <a:off x="0" y="0"/>
              <a:ext cx="512064" cy="731520"/>
            </a:xfrm>
            <a:custGeom>
              <a:avLst/>
              <a:gdLst/>
              <a:ahLst/>
              <a:cxnLst/>
              <a:rect r="r" b="b" t="t" l="l"/>
              <a:pathLst>
                <a:path h="731520" w="512064">
                  <a:moveTo>
                    <a:pt x="0" y="182880"/>
                  </a:moveTo>
                  <a:lnTo>
                    <a:pt x="256032" y="182880"/>
                  </a:lnTo>
                  <a:lnTo>
                    <a:pt x="256032" y="0"/>
                  </a:lnTo>
                  <a:lnTo>
                    <a:pt x="512064" y="365760"/>
                  </a:lnTo>
                  <a:lnTo>
                    <a:pt x="256032" y="731520"/>
                  </a:lnTo>
                  <a:lnTo>
                    <a:pt x="256032" y="548640"/>
                  </a:lnTo>
                  <a:lnTo>
                    <a:pt x="0" y="548640"/>
                  </a:lnTo>
                  <a:close/>
                </a:path>
              </a:pathLst>
            </a:custGeom>
            <a:solidFill>
              <a:srgbClr val="57534E"/>
            </a:solidFill>
          </p:spPr>
          <p:txBody>
            <a:bodyPr/>
            <a:p/>
          </p:txBody>
        </p:sp>
      </p:grpSp>
      <p:grpSp>
        <p:nvGrpSpPr>
          <p:cNvPr name="Group 15" id="15"/>
          <p:cNvGrpSpPr/>
          <p:nvPr/>
        </p:nvGrpSpPr>
        <p:grpSpPr>
          <a:xfrm rot="0">
            <a:off x="5052060" y="1748790"/>
            <a:ext cx="3771900" cy="2880360"/>
            <a:chOff x="0" y="0"/>
            <a:chExt cx="5029200" cy="3840480"/>
          </a:xfrm>
        </p:grpSpPr>
        <p:sp>
          <p:nvSpPr>
            <p:cNvPr name="Freeform 16" id="16"/>
            <p:cNvSpPr/>
            <p:nvPr/>
          </p:nvSpPr>
          <p:spPr>
            <a:xfrm flipH="false" flipV="false" rot="0">
              <a:off x="0" y="0"/>
              <a:ext cx="5029200" cy="3840480"/>
            </a:xfrm>
            <a:custGeom>
              <a:avLst/>
              <a:gdLst/>
              <a:ahLst/>
              <a:cxnLst/>
              <a:rect r="r" b="b" t="t" l="l"/>
              <a:pathLst>
                <a:path h="3840480" w="5029200">
                  <a:moveTo>
                    <a:pt x="0" y="219456"/>
                  </a:moveTo>
                  <a:cubicBezTo>
                    <a:pt x="0" y="98298"/>
                    <a:pt x="98298" y="0"/>
                    <a:pt x="219456" y="0"/>
                  </a:cubicBezTo>
                  <a:lnTo>
                    <a:pt x="4809744" y="0"/>
                  </a:lnTo>
                  <a:cubicBezTo>
                    <a:pt x="4930902" y="0"/>
                    <a:pt x="5029200" y="98298"/>
                    <a:pt x="5029200" y="219456"/>
                  </a:cubicBezTo>
                  <a:lnTo>
                    <a:pt x="5029200" y="3621024"/>
                  </a:lnTo>
                  <a:cubicBezTo>
                    <a:pt x="5029200" y="3742182"/>
                    <a:pt x="4930902" y="3840480"/>
                    <a:pt x="4809744" y="3840480"/>
                  </a:cubicBezTo>
                  <a:lnTo>
                    <a:pt x="219456" y="3840480"/>
                  </a:lnTo>
                  <a:cubicBezTo>
                    <a:pt x="98298" y="3840480"/>
                    <a:pt x="0" y="3742182"/>
                    <a:pt x="0" y="3621024"/>
                  </a:cubicBezTo>
                  <a:close/>
                </a:path>
              </a:pathLst>
            </a:custGeom>
            <a:solidFill>
              <a:srgbClr val="F5F5F4"/>
            </a:solidFill>
          </p:spPr>
          <p:txBody>
            <a:bodyPr/>
            <a:p/>
          </p:txBody>
        </p:sp>
      </p:grpSp>
      <p:grpSp>
        <p:nvGrpSpPr>
          <p:cNvPr name="Group 17" id="17"/>
          <p:cNvGrpSpPr/>
          <p:nvPr/>
        </p:nvGrpSpPr>
        <p:grpSpPr>
          <a:xfrm rot="0">
            <a:off x="5394960" y="1954530"/>
            <a:ext cx="3154680" cy="685800"/>
            <a:chOff x="0" y="0"/>
            <a:chExt cx="4206240" cy="914400"/>
          </a:xfrm>
        </p:grpSpPr>
        <p:sp>
          <p:nvSpPr>
            <p:cNvPr name="Freeform 18" id="18"/>
            <p:cNvSpPr/>
            <p:nvPr/>
          </p:nvSpPr>
          <p:spPr>
            <a:xfrm flipH="false" flipV="false" rot="0">
              <a:off x="0" y="0"/>
              <a:ext cx="4206240" cy="914400"/>
            </a:xfrm>
            <a:custGeom>
              <a:avLst/>
              <a:gdLst/>
              <a:ahLst/>
              <a:cxnLst/>
              <a:rect r="r" b="b" t="t" l="l"/>
              <a:pathLst>
                <a:path h="914400" w="4206240">
                  <a:moveTo>
                    <a:pt x="0" y="0"/>
                  </a:moveTo>
                  <a:lnTo>
                    <a:pt x="4206240" y="0"/>
                  </a:lnTo>
                  <a:lnTo>
                    <a:pt x="4206240" y="914400"/>
                  </a:lnTo>
                  <a:lnTo>
                    <a:pt x="0" y="914400"/>
                  </a:lnTo>
                  <a:close/>
                </a:path>
              </a:pathLst>
            </a:custGeom>
            <a:blipFill>
              <a:blip r:embed="rId3">
                <a:alphaModFix amt="0"/>
              </a:blip>
              <a:stretch>
                <a:fillRect l="0" t="-39631" r="0" b="-39631"/>
              </a:stretch>
            </a:blipFill>
          </p:spPr>
          <p:txBody>
            <a:bodyPr/>
            <a:p/>
          </p:txBody>
        </p:sp>
        <p:sp>
          <p:nvSpPr>
            <p:cNvPr name="TextBox 19" id="19"/>
            <p:cNvSpPr txBox="true"/>
            <p:nvPr/>
          </p:nvSpPr>
          <p:spPr>
            <a:xfrm>
              <a:off x="0" y="-66675"/>
              <a:ext cx="4206240" cy="981075"/>
            </a:xfrm>
            <a:prstGeom prst="rect">
              <a:avLst/>
            </a:prstGeom>
          </p:spPr>
          <p:txBody>
            <a:bodyPr anchor="ctr" rtlCol="false" tIns="0" lIns="0" bIns="0" rIns="0"/>
            <a:lstStyle/>
            <a:p>
              <a:pPr algn="l">
                <a:lnSpc>
                  <a:spcPts val="3600"/>
                </a:lnSpc>
              </a:pPr>
              <a:r>
                <a:rPr lang="en-US" sz="3000" b="true">
                  <a:solidFill>
                    <a:srgbClr val="1C1917"/>
                  </a:solidFill>
                  <a:latin typeface="Calibri"/>
                  <a:ea typeface="Calibri"/>
                  <a:cs typeface="Calibri"/>
                  <a:sym typeface="Calibri"/>
                </a:rPr>
                <a:t>Scrape</a:t>
              </a:r>
            </a:p>
          </p:txBody>
        </p:sp>
      </p:grpSp>
      <p:sp>
        <p:nvSpPr>
          <p:cNvPr name="TextBox 20" id="20"/>
          <p:cNvSpPr txBox="true"/>
          <p:nvPr/>
        </p:nvSpPr>
        <p:spPr>
          <a:xfrm rot="0">
            <a:off x="5394960" y="2651760"/>
            <a:ext cx="3154680" cy="1771650"/>
          </a:xfrm>
          <a:prstGeom prst="rect">
            <a:avLst/>
          </a:prstGeom>
        </p:spPr>
        <p:txBody>
          <a:bodyPr anchor="t" rtlCol="false" tIns="0" lIns="0" bIns="0" rIns="0">
            <a:spAutoFit/>
          </a:bodyPr>
          <a:lstStyle/>
          <a:p>
            <a:pPr algn="l">
              <a:lnSpc>
                <a:spcPts val="2700"/>
              </a:lnSpc>
            </a:pPr>
            <a:r>
              <a:rPr lang="en-US" sz="2250">
                <a:solidFill>
                  <a:srgbClr val="1C1917"/>
                </a:solidFill>
                <a:latin typeface="Calibri"/>
                <a:ea typeface="Calibri"/>
                <a:cs typeface="Calibri"/>
                <a:sym typeface="Calibri"/>
              </a:rPr>
              <a:t>Prometheus pulls every 5 s; a failed pull sets up = 0</a:t>
            </a:r>
          </a:p>
        </p:txBody>
      </p:sp>
      <p:grpSp>
        <p:nvGrpSpPr>
          <p:cNvPr name="Group 21" id="21"/>
          <p:cNvGrpSpPr/>
          <p:nvPr/>
        </p:nvGrpSpPr>
        <p:grpSpPr>
          <a:xfrm rot="0">
            <a:off x="8892540" y="2914650"/>
            <a:ext cx="384048" cy="548640"/>
            <a:chOff x="0" y="0"/>
            <a:chExt cx="512064" cy="731520"/>
          </a:xfrm>
        </p:grpSpPr>
        <p:sp>
          <p:nvSpPr>
            <p:cNvPr name="Freeform 22" id="22"/>
            <p:cNvSpPr/>
            <p:nvPr/>
          </p:nvSpPr>
          <p:spPr>
            <a:xfrm flipH="false" flipV="false" rot="0">
              <a:off x="0" y="0"/>
              <a:ext cx="512064" cy="731520"/>
            </a:xfrm>
            <a:custGeom>
              <a:avLst/>
              <a:gdLst/>
              <a:ahLst/>
              <a:cxnLst/>
              <a:rect r="r" b="b" t="t" l="l"/>
              <a:pathLst>
                <a:path h="731520" w="512064">
                  <a:moveTo>
                    <a:pt x="0" y="182880"/>
                  </a:moveTo>
                  <a:lnTo>
                    <a:pt x="256032" y="182880"/>
                  </a:lnTo>
                  <a:lnTo>
                    <a:pt x="256032" y="0"/>
                  </a:lnTo>
                  <a:lnTo>
                    <a:pt x="512064" y="365760"/>
                  </a:lnTo>
                  <a:lnTo>
                    <a:pt x="256032" y="731520"/>
                  </a:lnTo>
                  <a:lnTo>
                    <a:pt x="256032" y="548640"/>
                  </a:lnTo>
                  <a:lnTo>
                    <a:pt x="0" y="548640"/>
                  </a:lnTo>
                  <a:close/>
                </a:path>
              </a:pathLst>
            </a:custGeom>
            <a:solidFill>
              <a:srgbClr val="57534E"/>
            </a:solidFill>
          </p:spPr>
          <p:txBody>
            <a:bodyPr/>
            <a:p/>
          </p:txBody>
        </p:sp>
      </p:grpSp>
      <p:grpSp>
        <p:nvGrpSpPr>
          <p:cNvPr name="Group 23" id="23"/>
          <p:cNvGrpSpPr/>
          <p:nvPr/>
        </p:nvGrpSpPr>
        <p:grpSpPr>
          <a:xfrm rot="0">
            <a:off x="9304020" y="1748790"/>
            <a:ext cx="3771900" cy="2880360"/>
            <a:chOff x="0" y="0"/>
            <a:chExt cx="5029200" cy="3840480"/>
          </a:xfrm>
        </p:grpSpPr>
        <p:sp>
          <p:nvSpPr>
            <p:cNvPr name="Freeform 24" id="24"/>
            <p:cNvSpPr/>
            <p:nvPr/>
          </p:nvSpPr>
          <p:spPr>
            <a:xfrm flipH="false" flipV="false" rot="0">
              <a:off x="0" y="0"/>
              <a:ext cx="5029200" cy="3840480"/>
            </a:xfrm>
            <a:custGeom>
              <a:avLst/>
              <a:gdLst/>
              <a:ahLst/>
              <a:cxnLst/>
              <a:rect r="r" b="b" t="t" l="l"/>
              <a:pathLst>
                <a:path h="3840480" w="5029200">
                  <a:moveTo>
                    <a:pt x="0" y="219456"/>
                  </a:moveTo>
                  <a:cubicBezTo>
                    <a:pt x="0" y="98298"/>
                    <a:pt x="98298" y="0"/>
                    <a:pt x="219456" y="0"/>
                  </a:cubicBezTo>
                  <a:lnTo>
                    <a:pt x="4809744" y="0"/>
                  </a:lnTo>
                  <a:cubicBezTo>
                    <a:pt x="4930902" y="0"/>
                    <a:pt x="5029200" y="98298"/>
                    <a:pt x="5029200" y="219456"/>
                  </a:cubicBezTo>
                  <a:lnTo>
                    <a:pt x="5029200" y="3621024"/>
                  </a:lnTo>
                  <a:cubicBezTo>
                    <a:pt x="5029200" y="3742182"/>
                    <a:pt x="4930902" y="3840480"/>
                    <a:pt x="4809744" y="3840480"/>
                  </a:cubicBezTo>
                  <a:lnTo>
                    <a:pt x="219456" y="3840480"/>
                  </a:lnTo>
                  <a:cubicBezTo>
                    <a:pt x="98298" y="3840480"/>
                    <a:pt x="0" y="3742182"/>
                    <a:pt x="0" y="3621024"/>
                  </a:cubicBezTo>
                  <a:close/>
                </a:path>
              </a:pathLst>
            </a:custGeom>
            <a:solidFill>
              <a:srgbClr val="F5F5F4"/>
            </a:solidFill>
          </p:spPr>
          <p:txBody>
            <a:bodyPr/>
            <a:p/>
          </p:txBody>
        </p:sp>
      </p:grpSp>
      <p:grpSp>
        <p:nvGrpSpPr>
          <p:cNvPr name="Group 25" id="25"/>
          <p:cNvGrpSpPr/>
          <p:nvPr/>
        </p:nvGrpSpPr>
        <p:grpSpPr>
          <a:xfrm rot="0">
            <a:off x="9646920" y="1954530"/>
            <a:ext cx="3154680" cy="685800"/>
            <a:chOff x="0" y="0"/>
            <a:chExt cx="4206240" cy="914400"/>
          </a:xfrm>
        </p:grpSpPr>
        <p:sp>
          <p:nvSpPr>
            <p:cNvPr name="Freeform 26" id="26"/>
            <p:cNvSpPr/>
            <p:nvPr/>
          </p:nvSpPr>
          <p:spPr>
            <a:xfrm flipH="false" flipV="false" rot="0">
              <a:off x="0" y="0"/>
              <a:ext cx="4206240" cy="914400"/>
            </a:xfrm>
            <a:custGeom>
              <a:avLst/>
              <a:gdLst/>
              <a:ahLst/>
              <a:cxnLst/>
              <a:rect r="r" b="b" t="t" l="l"/>
              <a:pathLst>
                <a:path h="914400" w="4206240">
                  <a:moveTo>
                    <a:pt x="0" y="0"/>
                  </a:moveTo>
                  <a:lnTo>
                    <a:pt x="4206240" y="0"/>
                  </a:lnTo>
                  <a:lnTo>
                    <a:pt x="4206240" y="914400"/>
                  </a:lnTo>
                  <a:lnTo>
                    <a:pt x="0" y="914400"/>
                  </a:lnTo>
                  <a:close/>
                </a:path>
              </a:pathLst>
            </a:custGeom>
            <a:blipFill>
              <a:blip r:embed="rId3">
                <a:alphaModFix amt="0"/>
              </a:blip>
              <a:stretch>
                <a:fillRect l="0" t="-39631" r="0" b="-39631"/>
              </a:stretch>
            </a:blipFill>
          </p:spPr>
          <p:txBody>
            <a:bodyPr/>
            <a:p/>
          </p:txBody>
        </p:sp>
        <p:sp>
          <p:nvSpPr>
            <p:cNvPr name="TextBox 27" id="27"/>
            <p:cNvSpPr txBox="true"/>
            <p:nvPr/>
          </p:nvSpPr>
          <p:spPr>
            <a:xfrm>
              <a:off x="0" y="-66675"/>
              <a:ext cx="4206240" cy="981075"/>
            </a:xfrm>
            <a:prstGeom prst="rect">
              <a:avLst/>
            </a:prstGeom>
          </p:spPr>
          <p:txBody>
            <a:bodyPr anchor="ctr" rtlCol="false" tIns="0" lIns="0" bIns="0" rIns="0"/>
            <a:lstStyle/>
            <a:p>
              <a:pPr algn="l">
                <a:lnSpc>
                  <a:spcPts val="3600"/>
                </a:lnSpc>
              </a:pPr>
              <a:r>
                <a:rPr lang="en-US" sz="3000" b="true">
                  <a:solidFill>
                    <a:srgbClr val="1C1917"/>
                  </a:solidFill>
                  <a:latin typeface="Calibri"/>
                  <a:ea typeface="Calibri"/>
                  <a:cs typeface="Calibri"/>
                  <a:sym typeface="Calibri"/>
                </a:rPr>
                <a:t>Store</a:t>
              </a:r>
            </a:p>
          </p:txBody>
        </p:sp>
      </p:grpSp>
      <p:sp>
        <p:nvSpPr>
          <p:cNvPr name="TextBox 28" id="28"/>
          <p:cNvSpPr txBox="true"/>
          <p:nvPr/>
        </p:nvSpPr>
        <p:spPr>
          <a:xfrm rot="0">
            <a:off x="9646920" y="2651760"/>
            <a:ext cx="3154680" cy="1771650"/>
          </a:xfrm>
          <a:prstGeom prst="rect">
            <a:avLst/>
          </a:prstGeom>
        </p:spPr>
        <p:txBody>
          <a:bodyPr anchor="t" rtlCol="false" tIns="0" lIns="0" bIns="0" rIns="0">
            <a:spAutoFit/>
          </a:bodyPr>
          <a:lstStyle/>
          <a:p>
            <a:pPr algn="l">
              <a:lnSpc>
                <a:spcPts val="2700"/>
              </a:lnSpc>
            </a:pPr>
            <a:r>
              <a:rPr lang="en-US" sz="2250">
                <a:solidFill>
                  <a:srgbClr val="1C1917"/>
                </a:solidFill>
                <a:latin typeface="Calibri"/>
                <a:ea typeface="Calibri"/>
                <a:cs typeface="Calibri"/>
                <a:sym typeface="Calibri"/>
              </a:rPr>
              <a:t>time series with labels in its own database (TSDB)</a:t>
            </a:r>
          </a:p>
        </p:txBody>
      </p:sp>
      <p:grpSp>
        <p:nvGrpSpPr>
          <p:cNvPr name="Group 29" id="29"/>
          <p:cNvGrpSpPr/>
          <p:nvPr/>
        </p:nvGrpSpPr>
        <p:grpSpPr>
          <a:xfrm rot="0">
            <a:off x="13144500" y="2914650"/>
            <a:ext cx="384048" cy="548640"/>
            <a:chOff x="0" y="0"/>
            <a:chExt cx="512064" cy="731520"/>
          </a:xfrm>
        </p:grpSpPr>
        <p:sp>
          <p:nvSpPr>
            <p:cNvPr name="Freeform 30" id="30"/>
            <p:cNvSpPr/>
            <p:nvPr/>
          </p:nvSpPr>
          <p:spPr>
            <a:xfrm flipH="false" flipV="false" rot="0">
              <a:off x="0" y="0"/>
              <a:ext cx="512064" cy="731520"/>
            </a:xfrm>
            <a:custGeom>
              <a:avLst/>
              <a:gdLst/>
              <a:ahLst/>
              <a:cxnLst/>
              <a:rect r="r" b="b" t="t" l="l"/>
              <a:pathLst>
                <a:path h="731520" w="512064">
                  <a:moveTo>
                    <a:pt x="0" y="182880"/>
                  </a:moveTo>
                  <a:lnTo>
                    <a:pt x="256032" y="182880"/>
                  </a:lnTo>
                  <a:lnTo>
                    <a:pt x="256032" y="0"/>
                  </a:lnTo>
                  <a:lnTo>
                    <a:pt x="512064" y="365760"/>
                  </a:lnTo>
                  <a:lnTo>
                    <a:pt x="256032" y="731520"/>
                  </a:lnTo>
                  <a:lnTo>
                    <a:pt x="256032" y="548640"/>
                  </a:lnTo>
                  <a:lnTo>
                    <a:pt x="0" y="548640"/>
                  </a:lnTo>
                  <a:close/>
                </a:path>
              </a:pathLst>
            </a:custGeom>
            <a:solidFill>
              <a:srgbClr val="57534E"/>
            </a:solidFill>
          </p:spPr>
          <p:txBody>
            <a:bodyPr/>
            <a:p/>
          </p:txBody>
        </p:sp>
      </p:grpSp>
      <p:grpSp>
        <p:nvGrpSpPr>
          <p:cNvPr name="Group 31" id="31"/>
          <p:cNvGrpSpPr/>
          <p:nvPr/>
        </p:nvGrpSpPr>
        <p:grpSpPr>
          <a:xfrm rot="0">
            <a:off x="13555980" y="1748790"/>
            <a:ext cx="3771900" cy="2880360"/>
            <a:chOff x="0" y="0"/>
            <a:chExt cx="5029200" cy="3840480"/>
          </a:xfrm>
        </p:grpSpPr>
        <p:sp>
          <p:nvSpPr>
            <p:cNvPr name="Freeform 32" id="32"/>
            <p:cNvSpPr/>
            <p:nvPr/>
          </p:nvSpPr>
          <p:spPr>
            <a:xfrm flipH="false" flipV="false" rot="0">
              <a:off x="0" y="0"/>
              <a:ext cx="5029200" cy="3840480"/>
            </a:xfrm>
            <a:custGeom>
              <a:avLst/>
              <a:gdLst/>
              <a:ahLst/>
              <a:cxnLst/>
              <a:rect r="r" b="b" t="t" l="l"/>
              <a:pathLst>
                <a:path h="3840480" w="5029200">
                  <a:moveTo>
                    <a:pt x="0" y="219456"/>
                  </a:moveTo>
                  <a:cubicBezTo>
                    <a:pt x="0" y="98298"/>
                    <a:pt x="98298" y="0"/>
                    <a:pt x="219456" y="0"/>
                  </a:cubicBezTo>
                  <a:lnTo>
                    <a:pt x="4809744" y="0"/>
                  </a:lnTo>
                  <a:cubicBezTo>
                    <a:pt x="4930902" y="0"/>
                    <a:pt x="5029200" y="98298"/>
                    <a:pt x="5029200" y="219456"/>
                  </a:cubicBezTo>
                  <a:lnTo>
                    <a:pt x="5029200" y="3621024"/>
                  </a:lnTo>
                  <a:cubicBezTo>
                    <a:pt x="5029200" y="3742182"/>
                    <a:pt x="4930902" y="3840480"/>
                    <a:pt x="4809744" y="3840480"/>
                  </a:cubicBezTo>
                  <a:lnTo>
                    <a:pt x="219456" y="3840480"/>
                  </a:lnTo>
                  <a:cubicBezTo>
                    <a:pt x="98298" y="3840480"/>
                    <a:pt x="0" y="3742182"/>
                    <a:pt x="0" y="3621024"/>
                  </a:cubicBezTo>
                  <a:close/>
                </a:path>
              </a:pathLst>
            </a:custGeom>
            <a:solidFill>
              <a:srgbClr val="E6522C"/>
            </a:solidFill>
          </p:spPr>
          <p:txBody>
            <a:bodyPr/>
            <a:p/>
          </p:txBody>
        </p:sp>
      </p:grpSp>
      <p:grpSp>
        <p:nvGrpSpPr>
          <p:cNvPr name="Group 33" id="33"/>
          <p:cNvGrpSpPr/>
          <p:nvPr/>
        </p:nvGrpSpPr>
        <p:grpSpPr>
          <a:xfrm rot="0">
            <a:off x="13898880" y="1954530"/>
            <a:ext cx="3154680" cy="685800"/>
            <a:chOff x="0" y="0"/>
            <a:chExt cx="4206240" cy="914400"/>
          </a:xfrm>
        </p:grpSpPr>
        <p:sp>
          <p:nvSpPr>
            <p:cNvPr name="Freeform 34" id="34"/>
            <p:cNvSpPr/>
            <p:nvPr/>
          </p:nvSpPr>
          <p:spPr>
            <a:xfrm flipH="false" flipV="false" rot="0">
              <a:off x="0" y="0"/>
              <a:ext cx="4206240" cy="914400"/>
            </a:xfrm>
            <a:custGeom>
              <a:avLst/>
              <a:gdLst/>
              <a:ahLst/>
              <a:cxnLst/>
              <a:rect r="r" b="b" t="t" l="l"/>
              <a:pathLst>
                <a:path h="914400" w="4206240">
                  <a:moveTo>
                    <a:pt x="0" y="0"/>
                  </a:moveTo>
                  <a:lnTo>
                    <a:pt x="4206240" y="0"/>
                  </a:lnTo>
                  <a:lnTo>
                    <a:pt x="4206240" y="914400"/>
                  </a:lnTo>
                  <a:lnTo>
                    <a:pt x="0" y="914400"/>
                  </a:lnTo>
                  <a:close/>
                </a:path>
              </a:pathLst>
            </a:custGeom>
            <a:blipFill>
              <a:blip r:embed="rId3">
                <a:alphaModFix amt="0"/>
              </a:blip>
              <a:stretch>
                <a:fillRect l="0" t="-39631" r="0" b="-39631"/>
              </a:stretch>
            </a:blipFill>
          </p:spPr>
          <p:txBody>
            <a:bodyPr/>
            <a:p/>
          </p:txBody>
        </p:sp>
        <p:sp>
          <p:nvSpPr>
            <p:cNvPr name="TextBox 35" id="35"/>
            <p:cNvSpPr txBox="true"/>
            <p:nvPr/>
          </p:nvSpPr>
          <p:spPr>
            <a:xfrm>
              <a:off x="0" y="-66675"/>
              <a:ext cx="4206240" cy="981075"/>
            </a:xfrm>
            <a:prstGeom prst="rect">
              <a:avLst/>
            </a:prstGeom>
          </p:spPr>
          <p:txBody>
            <a:bodyPr anchor="ctr" rtlCol="false" tIns="0" lIns="0" bIns="0" rIns="0"/>
            <a:lstStyle/>
            <a:p>
              <a:pPr algn="l">
                <a:lnSpc>
                  <a:spcPts val="3600"/>
                </a:lnSpc>
              </a:pPr>
              <a:r>
                <a:rPr lang="en-US" sz="3000" b="true">
                  <a:solidFill>
                    <a:srgbClr val="FFFFFF"/>
                  </a:solidFill>
                  <a:latin typeface="Calibri"/>
                  <a:ea typeface="Calibri"/>
                  <a:cs typeface="Calibri"/>
                  <a:sym typeface="Calibri"/>
                </a:rPr>
                <a:t>Evaluate</a:t>
              </a:r>
            </a:p>
          </p:txBody>
        </p:sp>
      </p:grpSp>
      <p:sp>
        <p:nvSpPr>
          <p:cNvPr name="TextBox 36" id="36"/>
          <p:cNvSpPr txBox="true"/>
          <p:nvPr/>
        </p:nvSpPr>
        <p:spPr>
          <a:xfrm rot="0">
            <a:off x="13898880" y="2651760"/>
            <a:ext cx="3154680" cy="1771650"/>
          </a:xfrm>
          <a:prstGeom prst="rect">
            <a:avLst/>
          </a:prstGeom>
        </p:spPr>
        <p:txBody>
          <a:bodyPr anchor="t" rtlCol="false" tIns="0" lIns="0" bIns="0" rIns="0">
            <a:spAutoFit/>
          </a:bodyPr>
          <a:lstStyle/>
          <a:p>
            <a:pPr algn="l">
              <a:lnSpc>
                <a:spcPts val="2700"/>
              </a:lnSpc>
            </a:pPr>
            <a:r>
              <a:rPr lang="en-US" sz="2250">
                <a:solidFill>
                  <a:srgbClr val="FFFFFF"/>
                </a:solidFill>
                <a:latin typeface="Calibri"/>
                <a:ea typeface="Calibri"/>
                <a:cs typeface="Calibri"/>
                <a:sym typeface="Calibri"/>
              </a:rPr>
              <a:t>rules run every 5 s: pending, then firing</a:t>
            </a:r>
          </a:p>
        </p:txBody>
      </p:sp>
      <p:grpSp>
        <p:nvGrpSpPr>
          <p:cNvPr name="Group 37" id="37"/>
          <p:cNvGrpSpPr/>
          <p:nvPr/>
        </p:nvGrpSpPr>
        <p:grpSpPr>
          <a:xfrm rot="0">
            <a:off x="800100" y="5109210"/>
            <a:ext cx="8229600" cy="617220"/>
            <a:chOff x="0" y="0"/>
            <a:chExt cx="10972800" cy="822960"/>
          </a:xfrm>
        </p:grpSpPr>
        <p:sp>
          <p:nvSpPr>
            <p:cNvPr name="Freeform 38" id="38"/>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3">
                <a:alphaModFix amt="0"/>
              </a:blip>
              <a:stretch>
                <a:fillRect l="0" t="-209800" r="0" b="-209800"/>
              </a:stretch>
            </a:blipFill>
          </p:spPr>
          <p:txBody>
            <a:bodyPr/>
            <a:p/>
          </p:txBody>
        </p:sp>
        <p:sp>
          <p:nvSpPr>
            <p:cNvPr name="TextBox 39" id="39"/>
            <p:cNvSpPr txBox="true"/>
            <p:nvPr/>
          </p:nvSpPr>
          <p:spPr>
            <a:xfrm>
              <a:off x="0" y="-66675"/>
              <a:ext cx="10972800" cy="889635"/>
            </a:xfrm>
            <a:prstGeom prst="rect">
              <a:avLst/>
            </a:prstGeom>
          </p:spPr>
          <p:txBody>
            <a:bodyPr anchor="ctr" rtlCol="false" tIns="0" lIns="0" bIns="0" rIns="0"/>
            <a:lstStyle/>
            <a:p>
              <a:pPr algn="l">
                <a:lnSpc>
                  <a:spcPts val="3600"/>
                </a:lnSpc>
              </a:pPr>
              <a:r>
                <a:rPr lang="en-US" sz="3000" b="true">
                  <a:solidFill>
                    <a:srgbClr val="1C1917"/>
                  </a:solidFill>
                  <a:latin typeface="Calibri"/>
                  <a:ea typeface="Calibri"/>
                  <a:cs typeface="Calibri"/>
                  <a:sym typeface="Calibri"/>
                </a:rPr>
                <a:t>Metric types we use</a:t>
              </a:r>
            </a:p>
          </p:txBody>
        </p:sp>
      </p:grpSp>
      <p:grpSp>
        <p:nvGrpSpPr>
          <p:cNvPr name="Group 40" id="40"/>
          <p:cNvGrpSpPr/>
          <p:nvPr/>
        </p:nvGrpSpPr>
        <p:grpSpPr>
          <a:xfrm rot="0">
            <a:off x="800100" y="5863590"/>
            <a:ext cx="5280660" cy="2674620"/>
            <a:chOff x="0" y="0"/>
            <a:chExt cx="7040880" cy="3566160"/>
          </a:xfrm>
        </p:grpSpPr>
        <p:sp>
          <p:nvSpPr>
            <p:cNvPr name="Freeform 41" id="41"/>
            <p:cNvSpPr/>
            <p:nvPr/>
          </p:nvSpPr>
          <p:spPr>
            <a:xfrm flipH="false" flipV="false" rot="0">
              <a:off x="0" y="0"/>
              <a:ext cx="7040880" cy="3566160"/>
            </a:xfrm>
            <a:custGeom>
              <a:avLst/>
              <a:gdLst/>
              <a:ahLst/>
              <a:cxnLst/>
              <a:rect r="r" b="b" t="t" l="l"/>
              <a:pathLst>
                <a:path h="3566160" w="7040880">
                  <a:moveTo>
                    <a:pt x="0" y="219456"/>
                  </a:moveTo>
                  <a:cubicBezTo>
                    <a:pt x="0" y="98298"/>
                    <a:pt x="98298" y="0"/>
                    <a:pt x="219456" y="0"/>
                  </a:cubicBezTo>
                  <a:lnTo>
                    <a:pt x="6821424" y="0"/>
                  </a:lnTo>
                  <a:cubicBezTo>
                    <a:pt x="6942582" y="0"/>
                    <a:pt x="7040880" y="98298"/>
                    <a:pt x="7040880" y="219456"/>
                  </a:cubicBezTo>
                  <a:lnTo>
                    <a:pt x="7040880" y="3346704"/>
                  </a:lnTo>
                  <a:cubicBezTo>
                    <a:pt x="7040880" y="3467862"/>
                    <a:pt x="6942582" y="3566160"/>
                    <a:pt x="6821424" y="3566160"/>
                  </a:cubicBezTo>
                  <a:lnTo>
                    <a:pt x="219456" y="3566160"/>
                  </a:lnTo>
                  <a:cubicBezTo>
                    <a:pt x="98298" y="3566160"/>
                    <a:pt x="0" y="3467862"/>
                    <a:pt x="0" y="3346704"/>
                  </a:cubicBezTo>
                  <a:close/>
                </a:path>
              </a:pathLst>
            </a:custGeom>
            <a:solidFill>
              <a:srgbClr val="F5F5F4"/>
            </a:solidFill>
          </p:spPr>
          <p:txBody>
            <a:bodyPr/>
            <a:p/>
          </p:txBody>
        </p:sp>
      </p:grpSp>
      <p:grpSp>
        <p:nvGrpSpPr>
          <p:cNvPr name="Group 42" id="42"/>
          <p:cNvGrpSpPr/>
          <p:nvPr/>
        </p:nvGrpSpPr>
        <p:grpSpPr>
          <a:xfrm rot="0">
            <a:off x="1143000" y="6069330"/>
            <a:ext cx="4663440" cy="617220"/>
            <a:chOff x="0" y="0"/>
            <a:chExt cx="6217920" cy="822960"/>
          </a:xfrm>
        </p:grpSpPr>
        <p:sp>
          <p:nvSpPr>
            <p:cNvPr name="Freeform 43" id="43"/>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3">
                <a:alphaModFix amt="0"/>
              </a:blip>
              <a:stretch>
                <a:fillRect l="0" t="-97220" r="0" b="-97220"/>
              </a:stretch>
            </a:blipFill>
          </p:spPr>
          <p:txBody>
            <a:bodyPr/>
            <a:p/>
          </p:txBody>
        </p:sp>
        <p:sp>
          <p:nvSpPr>
            <p:cNvPr name="TextBox 44" id="44"/>
            <p:cNvSpPr txBox="true"/>
            <p:nvPr/>
          </p:nvSpPr>
          <p:spPr>
            <a:xfrm>
              <a:off x="0" y="-57150"/>
              <a:ext cx="6217920" cy="880110"/>
            </a:xfrm>
            <a:prstGeom prst="rect">
              <a:avLst/>
            </a:prstGeom>
          </p:spPr>
          <p:txBody>
            <a:bodyPr anchor="ctr" rtlCol="false" tIns="0" lIns="0" bIns="0" rIns="0"/>
            <a:lstStyle/>
            <a:p>
              <a:pPr algn="l">
                <a:lnSpc>
                  <a:spcPts val="3240"/>
                </a:lnSpc>
              </a:pPr>
              <a:r>
                <a:rPr lang="en-US" sz="2700" b="true">
                  <a:solidFill>
                    <a:srgbClr val="E6522C"/>
                  </a:solidFill>
                  <a:latin typeface="Calibri"/>
                  <a:ea typeface="Calibri"/>
                  <a:cs typeface="Calibri"/>
                  <a:sym typeface="Calibri"/>
                </a:rPr>
                <a:t>Counter</a:t>
              </a:r>
            </a:p>
          </p:txBody>
        </p:sp>
      </p:grpSp>
      <p:grpSp>
        <p:nvGrpSpPr>
          <p:cNvPr name="Group 45" id="45"/>
          <p:cNvGrpSpPr/>
          <p:nvPr/>
        </p:nvGrpSpPr>
        <p:grpSpPr>
          <a:xfrm rot="0">
            <a:off x="1143000" y="6686550"/>
            <a:ext cx="4663440" cy="617220"/>
            <a:chOff x="0" y="0"/>
            <a:chExt cx="6217920" cy="822960"/>
          </a:xfrm>
        </p:grpSpPr>
        <p:sp>
          <p:nvSpPr>
            <p:cNvPr name="Freeform 46" id="46"/>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3">
                <a:alphaModFix amt="0"/>
              </a:blip>
              <a:stretch>
                <a:fillRect l="0" t="-97220" r="0" b="-97220"/>
              </a:stretch>
            </a:blipFill>
          </p:spPr>
          <p:txBody>
            <a:bodyPr/>
            <a:p/>
          </p:txBody>
        </p:sp>
        <p:sp>
          <p:nvSpPr>
            <p:cNvPr name="TextBox 47" id="47"/>
            <p:cNvSpPr txBox="true"/>
            <p:nvPr/>
          </p:nvSpPr>
          <p:spPr>
            <a:xfrm>
              <a:off x="0" y="-57150"/>
              <a:ext cx="6217920" cy="880110"/>
            </a:xfrm>
            <a:prstGeom prst="rect">
              <a:avLst/>
            </a:prstGeom>
          </p:spPr>
          <p:txBody>
            <a:bodyPr anchor="ctr" rtlCol="false" tIns="0" lIns="0" bIns="0" rIns="0"/>
            <a:lstStyle/>
            <a:p>
              <a:pPr algn="l">
                <a:lnSpc>
                  <a:spcPts val="2700"/>
                </a:lnSpc>
              </a:pPr>
              <a:r>
                <a:rPr lang="en-US" sz="2250">
                  <a:solidFill>
                    <a:srgbClr val="1C1917"/>
                  </a:solidFill>
                  <a:latin typeface="Calibri"/>
                  <a:ea typeface="Calibri"/>
                  <a:cs typeface="Calibri"/>
                  <a:sym typeface="Calibri"/>
                </a:rPr>
                <a:t>only goes up; read with rate()</a:t>
              </a:r>
            </a:p>
          </p:txBody>
        </p:sp>
      </p:grpSp>
      <p:grpSp>
        <p:nvGrpSpPr>
          <p:cNvPr name="Group 48" id="48"/>
          <p:cNvGrpSpPr/>
          <p:nvPr/>
        </p:nvGrpSpPr>
        <p:grpSpPr>
          <a:xfrm rot="0">
            <a:off x="1143000" y="7372350"/>
            <a:ext cx="4663440" cy="822960"/>
            <a:chOff x="0" y="0"/>
            <a:chExt cx="6217920" cy="1097280"/>
          </a:xfrm>
        </p:grpSpPr>
        <p:sp>
          <p:nvSpPr>
            <p:cNvPr name="Freeform 49" id="49"/>
            <p:cNvSpPr/>
            <p:nvPr/>
          </p:nvSpPr>
          <p:spPr>
            <a:xfrm flipH="false" flipV="false" rot="0">
              <a:off x="0" y="0"/>
              <a:ext cx="6217920" cy="1097280"/>
            </a:xfrm>
            <a:custGeom>
              <a:avLst/>
              <a:gdLst/>
              <a:ahLst/>
              <a:cxnLst/>
              <a:rect r="r" b="b" t="t" l="l"/>
              <a:pathLst>
                <a:path h="1097280" w="6217920">
                  <a:moveTo>
                    <a:pt x="0" y="0"/>
                  </a:moveTo>
                  <a:lnTo>
                    <a:pt x="6217920" y="0"/>
                  </a:lnTo>
                  <a:lnTo>
                    <a:pt x="6217920" y="1097280"/>
                  </a:lnTo>
                  <a:lnTo>
                    <a:pt x="0" y="1097280"/>
                  </a:lnTo>
                  <a:close/>
                </a:path>
              </a:pathLst>
            </a:custGeom>
            <a:blipFill>
              <a:blip r:embed="rId3">
                <a:alphaModFix amt="0"/>
              </a:blip>
              <a:stretch>
                <a:fillRect l="0" t="-60415" r="0" b="-60415"/>
              </a:stretch>
            </a:blipFill>
          </p:spPr>
          <p:txBody>
            <a:bodyPr/>
            <a:p/>
          </p:txBody>
        </p:sp>
        <p:sp>
          <p:nvSpPr>
            <p:cNvPr name="TextBox 50" id="50"/>
            <p:cNvSpPr txBox="true"/>
            <p:nvPr/>
          </p:nvSpPr>
          <p:spPr>
            <a:xfrm>
              <a:off x="0" y="-9525"/>
              <a:ext cx="6217920" cy="1106805"/>
            </a:xfrm>
            <a:prstGeom prst="rect">
              <a:avLst/>
            </a:prstGeom>
          </p:spPr>
          <p:txBody>
            <a:bodyPr anchor="ctr" rtlCol="false" tIns="0" lIns="0" bIns="0" rIns="0"/>
            <a:lstStyle/>
            <a:p>
              <a:pPr algn="l">
                <a:lnSpc>
                  <a:spcPts val="2340"/>
                </a:lnSpc>
              </a:pPr>
              <a:r>
                <a:rPr lang="en-US" sz="1950">
                  <a:solidFill>
                    <a:srgbClr val="57534E"/>
                  </a:solidFill>
                  <a:latin typeface="Courier New"/>
                  <a:ea typeface="Courier New"/>
                  <a:cs typeface="Courier New"/>
                  <a:sym typeface="Courier New"/>
                </a:rPr>
                <a:t>http_requests_total</a:t>
              </a:r>
            </a:p>
          </p:txBody>
        </p:sp>
      </p:grpSp>
      <p:grpSp>
        <p:nvGrpSpPr>
          <p:cNvPr name="Group 51" id="51"/>
          <p:cNvGrpSpPr/>
          <p:nvPr/>
        </p:nvGrpSpPr>
        <p:grpSpPr>
          <a:xfrm rot="0">
            <a:off x="6423660" y="5863590"/>
            <a:ext cx="5280660" cy="2674620"/>
            <a:chOff x="0" y="0"/>
            <a:chExt cx="7040880" cy="3566160"/>
          </a:xfrm>
        </p:grpSpPr>
        <p:sp>
          <p:nvSpPr>
            <p:cNvPr name="Freeform 52" id="52"/>
            <p:cNvSpPr/>
            <p:nvPr/>
          </p:nvSpPr>
          <p:spPr>
            <a:xfrm flipH="false" flipV="false" rot="0">
              <a:off x="0" y="0"/>
              <a:ext cx="7040880" cy="3566160"/>
            </a:xfrm>
            <a:custGeom>
              <a:avLst/>
              <a:gdLst/>
              <a:ahLst/>
              <a:cxnLst/>
              <a:rect r="r" b="b" t="t" l="l"/>
              <a:pathLst>
                <a:path h="3566160" w="7040880">
                  <a:moveTo>
                    <a:pt x="0" y="219456"/>
                  </a:moveTo>
                  <a:cubicBezTo>
                    <a:pt x="0" y="98298"/>
                    <a:pt x="98298" y="0"/>
                    <a:pt x="219456" y="0"/>
                  </a:cubicBezTo>
                  <a:lnTo>
                    <a:pt x="6821424" y="0"/>
                  </a:lnTo>
                  <a:cubicBezTo>
                    <a:pt x="6942582" y="0"/>
                    <a:pt x="7040880" y="98298"/>
                    <a:pt x="7040880" y="219456"/>
                  </a:cubicBezTo>
                  <a:lnTo>
                    <a:pt x="7040880" y="3346704"/>
                  </a:lnTo>
                  <a:cubicBezTo>
                    <a:pt x="7040880" y="3467862"/>
                    <a:pt x="6942582" y="3566160"/>
                    <a:pt x="6821424" y="3566160"/>
                  </a:cubicBezTo>
                  <a:lnTo>
                    <a:pt x="219456" y="3566160"/>
                  </a:lnTo>
                  <a:cubicBezTo>
                    <a:pt x="98298" y="3566160"/>
                    <a:pt x="0" y="3467862"/>
                    <a:pt x="0" y="3346704"/>
                  </a:cubicBezTo>
                  <a:close/>
                </a:path>
              </a:pathLst>
            </a:custGeom>
            <a:solidFill>
              <a:srgbClr val="F5F5F4"/>
            </a:solidFill>
          </p:spPr>
          <p:txBody>
            <a:bodyPr/>
            <a:p/>
          </p:txBody>
        </p:sp>
      </p:grpSp>
      <p:grpSp>
        <p:nvGrpSpPr>
          <p:cNvPr name="Group 53" id="53"/>
          <p:cNvGrpSpPr/>
          <p:nvPr/>
        </p:nvGrpSpPr>
        <p:grpSpPr>
          <a:xfrm rot="0">
            <a:off x="6766560" y="6069330"/>
            <a:ext cx="4663440" cy="617220"/>
            <a:chOff x="0" y="0"/>
            <a:chExt cx="6217920" cy="822960"/>
          </a:xfrm>
        </p:grpSpPr>
        <p:sp>
          <p:nvSpPr>
            <p:cNvPr name="Freeform 54" id="54"/>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3">
                <a:alphaModFix amt="0"/>
              </a:blip>
              <a:stretch>
                <a:fillRect l="0" t="-97220" r="0" b="-97220"/>
              </a:stretch>
            </a:blipFill>
          </p:spPr>
          <p:txBody>
            <a:bodyPr/>
            <a:p/>
          </p:txBody>
        </p:sp>
        <p:sp>
          <p:nvSpPr>
            <p:cNvPr name="TextBox 55" id="55"/>
            <p:cNvSpPr txBox="true"/>
            <p:nvPr/>
          </p:nvSpPr>
          <p:spPr>
            <a:xfrm>
              <a:off x="0" y="-57150"/>
              <a:ext cx="6217920" cy="880110"/>
            </a:xfrm>
            <a:prstGeom prst="rect">
              <a:avLst/>
            </a:prstGeom>
          </p:spPr>
          <p:txBody>
            <a:bodyPr anchor="ctr" rtlCol="false" tIns="0" lIns="0" bIns="0" rIns="0"/>
            <a:lstStyle/>
            <a:p>
              <a:pPr algn="l">
                <a:lnSpc>
                  <a:spcPts val="3240"/>
                </a:lnSpc>
              </a:pPr>
              <a:r>
                <a:rPr lang="en-US" sz="2700" b="true">
                  <a:solidFill>
                    <a:srgbClr val="E6522C"/>
                  </a:solidFill>
                  <a:latin typeface="Calibri"/>
                  <a:ea typeface="Calibri"/>
                  <a:cs typeface="Calibri"/>
                  <a:sym typeface="Calibri"/>
                </a:rPr>
                <a:t>Gauge</a:t>
              </a:r>
            </a:p>
          </p:txBody>
        </p:sp>
      </p:grpSp>
      <p:grpSp>
        <p:nvGrpSpPr>
          <p:cNvPr name="Group 56" id="56"/>
          <p:cNvGrpSpPr/>
          <p:nvPr/>
        </p:nvGrpSpPr>
        <p:grpSpPr>
          <a:xfrm rot="0">
            <a:off x="6766560" y="6686550"/>
            <a:ext cx="4663440" cy="617220"/>
            <a:chOff x="0" y="0"/>
            <a:chExt cx="6217920" cy="822960"/>
          </a:xfrm>
        </p:grpSpPr>
        <p:sp>
          <p:nvSpPr>
            <p:cNvPr name="Freeform 57" id="57"/>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3">
                <a:alphaModFix amt="0"/>
              </a:blip>
              <a:stretch>
                <a:fillRect l="0" t="-97220" r="0" b="-97220"/>
              </a:stretch>
            </a:blipFill>
          </p:spPr>
          <p:txBody>
            <a:bodyPr/>
            <a:p/>
          </p:txBody>
        </p:sp>
        <p:sp>
          <p:nvSpPr>
            <p:cNvPr name="TextBox 58" id="58"/>
            <p:cNvSpPr txBox="true"/>
            <p:nvPr/>
          </p:nvSpPr>
          <p:spPr>
            <a:xfrm>
              <a:off x="0" y="-57150"/>
              <a:ext cx="6217920" cy="880110"/>
            </a:xfrm>
            <a:prstGeom prst="rect">
              <a:avLst/>
            </a:prstGeom>
          </p:spPr>
          <p:txBody>
            <a:bodyPr anchor="ctr" rtlCol="false" tIns="0" lIns="0" bIns="0" rIns="0"/>
            <a:lstStyle/>
            <a:p>
              <a:pPr algn="l">
                <a:lnSpc>
                  <a:spcPts val="2700"/>
                </a:lnSpc>
              </a:pPr>
              <a:r>
                <a:rPr lang="en-US" sz="2250">
                  <a:solidFill>
                    <a:srgbClr val="1C1917"/>
                  </a:solidFill>
                  <a:latin typeface="Calibri"/>
                  <a:ea typeface="Calibri"/>
                  <a:cs typeface="Calibri"/>
                  <a:sym typeface="Calibri"/>
                </a:rPr>
                <a:t>goes up and down</a:t>
              </a:r>
            </a:p>
          </p:txBody>
        </p:sp>
      </p:grpSp>
      <p:grpSp>
        <p:nvGrpSpPr>
          <p:cNvPr name="Group 59" id="59"/>
          <p:cNvGrpSpPr/>
          <p:nvPr/>
        </p:nvGrpSpPr>
        <p:grpSpPr>
          <a:xfrm rot="0">
            <a:off x="6766560" y="7372350"/>
            <a:ext cx="4663440" cy="822960"/>
            <a:chOff x="0" y="0"/>
            <a:chExt cx="6217920" cy="1097280"/>
          </a:xfrm>
        </p:grpSpPr>
        <p:sp>
          <p:nvSpPr>
            <p:cNvPr name="Freeform 60" id="60"/>
            <p:cNvSpPr/>
            <p:nvPr/>
          </p:nvSpPr>
          <p:spPr>
            <a:xfrm flipH="false" flipV="false" rot="0">
              <a:off x="0" y="0"/>
              <a:ext cx="6217920" cy="1097280"/>
            </a:xfrm>
            <a:custGeom>
              <a:avLst/>
              <a:gdLst/>
              <a:ahLst/>
              <a:cxnLst/>
              <a:rect r="r" b="b" t="t" l="l"/>
              <a:pathLst>
                <a:path h="1097280" w="6217920">
                  <a:moveTo>
                    <a:pt x="0" y="0"/>
                  </a:moveTo>
                  <a:lnTo>
                    <a:pt x="6217920" y="0"/>
                  </a:lnTo>
                  <a:lnTo>
                    <a:pt x="6217920" y="1097280"/>
                  </a:lnTo>
                  <a:lnTo>
                    <a:pt x="0" y="1097280"/>
                  </a:lnTo>
                  <a:close/>
                </a:path>
              </a:pathLst>
            </a:custGeom>
            <a:blipFill>
              <a:blip r:embed="rId3">
                <a:alphaModFix amt="0"/>
              </a:blip>
              <a:stretch>
                <a:fillRect l="0" t="-60415" r="0" b="-60415"/>
              </a:stretch>
            </a:blipFill>
          </p:spPr>
          <p:txBody>
            <a:bodyPr/>
            <a:p/>
          </p:txBody>
        </p:sp>
        <p:sp>
          <p:nvSpPr>
            <p:cNvPr name="TextBox 61" id="61"/>
            <p:cNvSpPr txBox="true"/>
            <p:nvPr/>
          </p:nvSpPr>
          <p:spPr>
            <a:xfrm>
              <a:off x="0" y="-9525"/>
              <a:ext cx="6217920" cy="1106805"/>
            </a:xfrm>
            <a:prstGeom prst="rect">
              <a:avLst/>
            </a:prstGeom>
          </p:spPr>
          <p:txBody>
            <a:bodyPr anchor="ctr" rtlCol="false" tIns="0" lIns="0" bIns="0" rIns="0"/>
            <a:lstStyle/>
            <a:p>
              <a:pPr algn="l">
                <a:lnSpc>
                  <a:spcPts val="2340"/>
                </a:lnSpc>
              </a:pPr>
              <a:r>
                <a:rPr lang="en-US" sz="1950">
                  <a:solidFill>
                    <a:srgbClr val="57534E"/>
                  </a:solidFill>
                  <a:latin typeface="Courier New"/>
                  <a:ea typeface="Courier New"/>
                  <a:cs typeface="Courier New"/>
                  <a:sym typeface="Courier New"/>
                </a:rPr>
                <a:t>app_dependency_up</a:t>
              </a:r>
            </a:p>
          </p:txBody>
        </p:sp>
      </p:grpSp>
      <p:grpSp>
        <p:nvGrpSpPr>
          <p:cNvPr name="Group 62" id="62"/>
          <p:cNvGrpSpPr/>
          <p:nvPr/>
        </p:nvGrpSpPr>
        <p:grpSpPr>
          <a:xfrm rot="0">
            <a:off x="12047220" y="5863590"/>
            <a:ext cx="5280660" cy="2674620"/>
            <a:chOff x="0" y="0"/>
            <a:chExt cx="7040880" cy="3566160"/>
          </a:xfrm>
        </p:grpSpPr>
        <p:sp>
          <p:nvSpPr>
            <p:cNvPr name="Freeform 63" id="63"/>
            <p:cNvSpPr/>
            <p:nvPr/>
          </p:nvSpPr>
          <p:spPr>
            <a:xfrm flipH="false" flipV="false" rot="0">
              <a:off x="0" y="0"/>
              <a:ext cx="7040880" cy="3566160"/>
            </a:xfrm>
            <a:custGeom>
              <a:avLst/>
              <a:gdLst/>
              <a:ahLst/>
              <a:cxnLst/>
              <a:rect r="r" b="b" t="t" l="l"/>
              <a:pathLst>
                <a:path h="3566160" w="7040880">
                  <a:moveTo>
                    <a:pt x="0" y="219456"/>
                  </a:moveTo>
                  <a:cubicBezTo>
                    <a:pt x="0" y="98298"/>
                    <a:pt x="98298" y="0"/>
                    <a:pt x="219456" y="0"/>
                  </a:cubicBezTo>
                  <a:lnTo>
                    <a:pt x="6821424" y="0"/>
                  </a:lnTo>
                  <a:cubicBezTo>
                    <a:pt x="6942582" y="0"/>
                    <a:pt x="7040880" y="98298"/>
                    <a:pt x="7040880" y="219456"/>
                  </a:cubicBezTo>
                  <a:lnTo>
                    <a:pt x="7040880" y="3346704"/>
                  </a:lnTo>
                  <a:cubicBezTo>
                    <a:pt x="7040880" y="3467862"/>
                    <a:pt x="6942582" y="3566160"/>
                    <a:pt x="6821424" y="3566160"/>
                  </a:cubicBezTo>
                  <a:lnTo>
                    <a:pt x="219456" y="3566160"/>
                  </a:lnTo>
                  <a:cubicBezTo>
                    <a:pt x="98298" y="3566160"/>
                    <a:pt x="0" y="3467862"/>
                    <a:pt x="0" y="3346704"/>
                  </a:cubicBezTo>
                  <a:close/>
                </a:path>
              </a:pathLst>
            </a:custGeom>
            <a:solidFill>
              <a:srgbClr val="F5F5F4"/>
            </a:solidFill>
          </p:spPr>
          <p:txBody>
            <a:bodyPr/>
            <a:p/>
          </p:txBody>
        </p:sp>
      </p:grpSp>
      <p:grpSp>
        <p:nvGrpSpPr>
          <p:cNvPr name="Group 64" id="64"/>
          <p:cNvGrpSpPr/>
          <p:nvPr/>
        </p:nvGrpSpPr>
        <p:grpSpPr>
          <a:xfrm rot="0">
            <a:off x="12390120" y="6069330"/>
            <a:ext cx="4663440" cy="617220"/>
            <a:chOff x="0" y="0"/>
            <a:chExt cx="6217920" cy="822960"/>
          </a:xfrm>
        </p:grpSpPr>
        <p:sp>
          <p:nvSpPr>
            <p:cNvPr name="Freeform 65" id="65"/>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3">
                <a:alphaModFix amt="0"/>
              </a:blip>
              <a:stretch>
                <a:fillRect l="0" t="-97220" r="0" b="-97220"/>
              </a:stretch>
            </a:blipFill>
          </p:spPr>
          <p:txBody>
            <a:bodyPr/>
            <a:p/>
          </p:txBody>
        </p:sp>
        <p:sp>
          <p:nvSpPr>
            <p:cNvPr name="TextBox 66" id="66"/>
            <p:cNvSpPr txBox="true"/>
            <p:nvPr/>
          </p:nvSpPr>
          <p:spPr>
            <a:xfrm>
              <a:off x="0" y="-57150"/>
              <a:ext cx="6217920" cy="880110"/>
            </a:xfrm>
            <a:prstGeom prst="rect">
              <a:avLst/>
            </a:prstGeom>
          </p:spPr>
          <p:txBody>
            <a:bodyPr anchor="ctr" rtlCol="false" tIns="0" lIns="0" bIns="0" rIns="0"/>
            <a:lstStyle/>
            <a:p>
              <a:pPr algn="l">
                <a:lnSpc>
                  <a:spcPts val="3240"/>
                </a:lnSpc>
              </a:pPr>
              <a:r>
                <a:rPr lang="en-US" sz="2700" b="true">
                  <a:solidFill>
                    <a:srgbClr val="E6522C"/>
                  </a:solidFill>
                  <a:latin typeface="Calibri"/>
                  <a:ea typeface="Calibri"/>
                  <a:cs typeface="Calibri"/>
                  <a:sym typeface="Calibri"/>
                </a:rPr>
                <a:t>Histogram</a:t>
              </a:r>
            </a:p>
          </p:txBody>
        </p:sp>
      </p:grpSp>
      <p:grpSp>
        <p:nvGrpSpPr>
          <p:cNvPr name="Group 67" id="67"/>
          <p:cNvGrpSpPr/>
          <p:nvPr/>
        </p:nvGrpSpPr>
        <p:grpSpPr>
          <a:xfrm rot="0">
            <a:off x="12390120" y="6686550"/>
            <a:ext cx="4663440" cy="617220"/>
            <a:chOff x="0" y="0"/>
            <a:chExt cx="6217920" cy="822960"/>
          </a:xfrm>
        </p:grpSpPr>
        <p:sp>
          <p:nvSpPr>
            <p:cNvPr name="Freeform 68" id="68"/>
            <p:cNvSpPr/>
            <p:nvPr/>
          </p:nvSpPr>
          <p:spPr>
            <a:xfrm flipH="false" flipV="false" rot="0">
              <a:off x="0" y="0"/>
              <a:ext cx="6217920" cy="822960"/>
            </a:xfrm>
            <a:custGeom>
              <a:avLst/>
              <a:gdLst/>
              <a:ahLst/>
              <a:cxnLst/>
              <a:rect r="r" b="b" t="t" l="l"/>
              <a:pathLst>
                <a:path h="822960" w="6217920">
                  <a:moveTo>
                    <a:pt x="0" y="0"/>
                  </a:moveTo>
                  <a:lnTo>
                    <a:pt x="6217920" y="0"/>
                  </a:lnTo>
                  <a:lnTo>
                    <a:pt x="6217920" y="822960"/>
                  </a:lnTo>
                  <a:lnTo>
                    <a:pt x="0" y="822960"/>
                  </a:lnTo>
                  <a:close/>
                </a:path>
              </a:pathLst>
            </a:custGeom>
            <a:blipFill>
              <a:blip r:embed="rId3">
                <a:alphaModFix amt="0"/>
              </a:blip>
              <a:stretch>
                <a:fillRect l="0" t="-97220" r="0" b="-97220"/>
              </a:stretch>
            </a:blipFill>
          </p:spPr>
          <p:txBody>
            <a:bodyPr/>
            <a:p/>
          </p:txBody>
        </p:sp>
        <p:sp>
          <p:nvSpPr>
            <p:cNvPr name="TextBox 69" id="69"/>
            <p:cNvSpPr txBox="true"/>
            <p:nvPr/>
          </p:nvSpPr>
          <p:spPr>
            <a:xfrm>
              <a:off x="0" y="-57150"/>
              <a:ext cx="6217920" cy="880110"/>
            </a:xfrm>
            <a:prstGeom prst="rect">
              <a:avLst/>
            </a:prstGeom>
          </p:spPr>
          <p:txBody>
            <a:bodyPr anchor="ctr" rtlCol="false" tIns="0" lIns="0" bIns="0" rIns="0"/>
            <a:lstStyle/>
            <a:p>
              <a:pPr algn="l">
                <a:lnSpc>
                  <a:spcPts val="2700"/>
                </a:lnSpc>
              </a:pPr>
              <a:r>
                <a:rPr lang="en-US" sz="2250">
                  <a:solidFill>
                    <a:srgbClr val="1C1917"/>
                  </a:solidFill>
                  <a:latin typeface="Calibri"/>
                  <a:ea typeface="Calibri"/>
                  <a:cs typeface="Calibri"/>
                  <a:sym typeface="Calibri"/>
                </a:rPr>
                <a:t>counts values in buckets; gives p95</a:t>
              </a:r>
            </a:p>
          </p:txBody>
        </p:sp>
      </p:grpSp>
      <p:grpSp>
        <p:nvGrpSpPr>
          <p:cNvPr name="Group 70" id="70"/>
          <p:cNvGrpSpPr/>
          <p:nvPr/>
        </p:nvGrpSpPr>
        <p:grpSpPr>
          <a:xfrm rot="0">
            <a:off x="12390120" y="7372350"/>
            <a:ext cx="4663440" cy="822960"/>
            <a:chOff x="0" y="0"/>
            <a:chExt cx="6217920" cy="1097280"/>
          </a:xfrm>
        </p:grpSpPr>
        <p:sp>
          <p:nvSpPr>
            <p:cNvPr name="Freeform 71" id="71"/>
            <p:cNvSpPr/>
            <p:nvPr/>
          </p:nvSpPr>
          <p:spPr>
            <a:xfrm flipH="false" flipV="false" rot="0">
              <a:off x="0" y="0"/>
              <a:ext cx="6217920" cy="1097280"/>
            </a:xfrm>
            <a:custGeom>
              <a:avLst/>
              <a:gdLst/>
              <a:ahLst/>
              <a:cxnLst/>
              <a:rect r="r" b="b" t="t" l="l"/>
              <a:pathLst>
                <a:path h="1097280" w="6217920">
                  <a:moveTo>
                    <a:pt x="0" y="0"/>
                  </a:moveTo>
                  <a:lnTo>
                    <a:pt x="6217920" y="0"/>
                  </a:lnTo>
                  <a:lnTo>
                    <a:pt x="6217920" y="1097280"/>
                  </a:lnTo>
                  <a:lnTo>
                    <a:pt x="0" y="1097280"/>
                  </a:lnTo>
                  <a:close/>
                </a:path>
              </a:pathLst>
            </a:custGeom>
            <a:blipFill>
              <a:blip r:embed="rId3">
                <a:alphaModFix amt="0"/>
              </a:blip>
              <a:stretch>
                <a:fillRect l="0" t="-60415" r="0" b="-60415"/>
              </a:stretch>
            </a:blipFill>
          </p:spPr>
          <p:txBody>
            <a:bodyPr/>
            <a:p/>
          </p:txBody>
        </p:sp>
        <p:sp>
          <p:nvSpPr>
            <p:cNvPr name="TextBox 72" id="72"/>
            <p:cNvSpPr txBox="true"/>
            <p:nvPr/>
          </p:nvSpPr>
          <p:spPr>
            <a:xfrm>
              <a:off x="0" y="-9525"/>
              <a:ext cx="6217920" cy="1106805"/>
            </a:xfrm>
            <a:prstGeom prst="rect">
              <a:avLst/>
            </a:prstGeom>
          </p:spPr>
          <p:txBody>
            <a:bodyPr anchor="ctr" rtlCol="false" tIns="0" lIns="0" bIns="0" rIns="0"/>
            <a:lstStyle/>
            <a:p>
              <a:pPr algn="l">
                <a:lnSpc>
                  <a:spcPts val="2340"/>
                </a:lnSpc>
              </a:pPr>
              <a:r>
                <a:rPr lang="en-US" sz="1950">
                  <a:solidFill>
                    <a:srgbClr val="57534E"/>
                  </a:solidFill>
                  <a:latin typeface="Courier New"/>
                  <a:ea typeface="Courier New"/>
                  <a:cs typeface="Courier New"/>
                  <a:sym typeface="Courier New"/>
                </a:rPr>
                <a:t>http_request_duration_seconds</a:t>
              </a:r>
            </a:p>
          </p:txBody>
        </p:sp>
      </p:grpSp>
      <p:sp>
        <p:nvSpPr>
          <p:cNvPr name="TextBox 73" id="73"/>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4</a:t>
            </a:r>
          </a:p>
        </p:txBody>
      </p:sp>
      <p:grpSp>
        <p:nvGrpSpPr>
          <p:cNvPr name="Group 74" id="74"/>
          <p:cNvGrpSpPr/>
          <p:nvPr/>
        </p:nvGrpSpPr>
        <p:grpSpPr>
          <a:xfrm rot="0">
            <a:off x="125707" y="43858"/>
            <a:ext cx="3471606" cy="1028700"/>
            <a:chOff x="0" y="0"/>
            <a:chExt cx="2742997" cy="812800"/>
          </a:xfrm>
        </p:grpSpPr>
        <p:sp>
          <p:nvSpPr>
            <p:cNvPr name="Freeform 75" id="75"/>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4"/>
              <a:stretch>
                <a:fillRect l="-833" t="0" r="-833" b="0"/>
              </a:stretch>
            </a:blipFill>
          </p:spPr>
          <p:txBody>
            <a:bodyPr/>
            <a:p/>
          </p:txBody>
        </p:sp>
      </p:grpSp>
      <p:grpSp>
        <p:nvGrpSpPr>
          <p:cNvPr name="Group 76" id="76"/>
          <p:cNvGrpSpPr>
            <a:grpSpLocks noChangeAspect="true"/>
          </p:cNvGrpSpPr>
          <p:nvPr/>
        </p:nvGrpSpPr>
        <p:grpSpPr>
          <a:xfrm rot="5400000">
            <a:off x="11132594" y="2264880"/>
            <a:ext cx="311239" cy="13999572"/>
            <a:chOff x="0" y="0"/>
            <a:chExt cx="414986" cy="18666096"/>
          </a:xfrm>
        </p:grpSpPr>
        <p:sp>
          <p:nvSpPr>
            <p:cNvPr name="Freeform 77" id="77"/>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5"/>
              <a:stretch>
                <a:fillRect l="0" t="0" r="-274183" b="0"/>
              </a:stretch>
            </a:blipFill>
          </p:spPr>
          <p:txBody>
            <a:bodyPr/>
            <a:p/>
          </p:txBody>
        </p:sp>
      </p:grpSp>
      <p:grpSp>
        <p:nvGrpSpPr>
          <p:cNvPr name="Group 78" id="78"/>
          <p:cNvGrpSpPr>
            <a:grpSpLocks noChangeAspect="true"/>
          </p:cNvGrpSpPr>
          <p:nvPr/>
        </p:nvGrpSpPr>
        <p:grpSpPr>
          <a:xfrm rot="0">
            <a:off x="16490259" y="140413"/>
            <a:ext cx="1616205" cy="888287"/>
            <a:chOff x="0" y="0"/>
            <a:chExt cx="2627014" cy="1443840"/>
          </a:xfrm>
        </p:grpSpPr>
        <p:sp>
          <p:nvSpPr>
            <p:cNvPr name="Freeform 79" id="79"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6"/>
              <a:stretch>
                <a:fillRect l="0" t="0" r="0" b="-35871"/>
              </a:stretch>
            </a:blipFill>
          </p:spPr>
          <p:txBody>
            <a:body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txBody>
            <a:bodyPr/>
            <a:p/>
          </p:txBody>
        </p:sp>
      </p:grpSp>
      <p:grpSp>
        <p:nvGrpSpPr>
          <p:cNvPr name="Group 4" id="4"/>
          <p:cNvGrpSpPr/>
          <p:nvPr/>
        </p:nvGrpSpPr>
        <p:grpSpPr>
          <a:xfrm rot="0">
            <a:off x="4224528" y="-1091393"/>
            <a:ext cx="12448035" cy="4113585"/>
            <a:chOff x="0" y="0"/>
            <a:chExt cx="16597380" cy="5484780"/>
          </a:xfrm>
        </p:grpSpPr>
        <p:sp>
          <p:nvSpPr>
            <p:cNvPr name="Freeform 5" id="5"/>
            <p:cNvSpPr/>
            <p:nvPr/>
          </p:nvSpPr>
          <p:spPr>
            <a:xfrm flipH="false" flipV="false" rot="0">
              <a:off x="0" y="0"/>
              <a:ext cx="16597381" cy="5484780"/>
            </a:xfrm>
            <a:custGeom>
              <a:avLst/>
              <a:gdLst/>
              <a:ahLst/>
              <a:cxnLst/>
              <a:rect r="r" b="b" t="t" l="l"/>
              <a:pathLst>
                <a:path h="5484780" w="16597381">
                  <a:moveTo>
                    <a:pt x="0" y="0"/>
                  </a:moveTo>
                  <a:lnTo>
                    <a:pt x="16597381" y="0"/>
                  </a:lnTo>
                  <a:lnTo>
                    <a:pt x="16597381" y="5484780"/>
                  </a:lnTo>
                  <a:lnTo>
                    <a:pt x="0" y="5484780"/>
                  </a:lnTo>
                  <a:close/>
                </a:path>
              </a:pathLst>
            </a:custGeom>
            <a:blipFill>
              <a:blip r:embed="rId3">
                <a:alphaModFix amt="0"/>
              </a:blip>
              <a:stretch>
                <a:fillRect l="0" t="-64442" r="-33325" b="7216"/>
              </a:stretch>
            </a:blipFill>
          </p:spPr>
          <p:txBody>
            <a:bodyPr/>
            <a:p/>
          </p:txBody>
        </p:sp>
        <p:sp>
          <p:nvSpPr>
            <p:cNvPr name="TextBox 6" id="6"/>
            <p:cNvSpPr txBox="true"/>
            <p:nvPr/>
          </p:nvSpPr>
          <p:spPr>
            <a:xfrm>
              <a:off x="0" y="95250"/>
              <a:ext cx="16597380" cy="5389530"/>
            </a:xfrm>
            <a:prstGeom prst="rect">
              <a:avLst/>
            </a:prstGeom>
          </p:spPr>
          <p:txBody>
            <a:bodyPr anchor="ctr" rtlCol="false" tIns="0" lIns="0" bIns="0" rIns="0"/>
            <a:lstStyle/>
            <a:p>
              <a:pPr algn="ctr">
                <a:lnSpc>
                  <a:spcPts val="4656"/>
                </a:lnSpc>
              </a:pPr>
              <a:r>
                <a:rPr lang="en-US" sz="4800" b="true">
                  <a:solidFill>
                    <a:srgbClr val="1C1917"/>
                  </a:solidFill>
                  <a:latin typeface="Cambria"/>
                  <a:ea typeface="Cambria"/>
                  <a:cs typeface="Cambria"/>
                  <a:sym typeface="Cambria"/>
                </a:rPr>
                <a:t>How Alertmanager handles alerts</a:t>
              </a:r>
            </a:p>
          </p:txBody>
        </p:sp>
      </p:grpSp>
      <p:grpSp>
        <p:nvGrpSpPr>
          <p:cNvPr name="Group 7" id="7"/>
          <p:cNvGrpSpPr/>
          <p:nvPr/>
        </p:nvGrpSpPr>
        <p:grpSpPr>
          <a:xfrm rot="0">
            <a:off x="822960" y="2125980"/>
            <a:ext cx="3182112" cy="1371600"/>
            <a:chOff x="0" y="0"/>
            <a:chExt cx="4242816" cy="1828800"/>
          </a:xfrm>
        </p:grpSpPr>
        <p:sp>
          <p:nvSpPr>
            <p:cNvPr name="Freeform 8" id="8"/>
            <p:cNvSpPr/>
            <p:nvPr/>
          </p:nvSpPr>
          <p:spPr>
            <a:xfrm flipH="false" flipV="false" rot="0">
              <a:off x="0" y="0"/>
              <a:ext cx="4242816" cy="1828800"/>
            </a:xfrm>
            <a:custGeom>
              <a:avLst/>
              <a:gdLst/>
              <a:ahLst/>
              <a:cxnLst/>
              <a:rect r="r" b="b" t="t" l="l"/>
              <a:pathLst>
                <a:path h="1828800" w="4242816">
                  <a:moveTo>
                    <a:pt x="0" y="0"/>
                  </a:moveTo>
                  <a:lnTo>
                    <a:pt x="3328416" y="0"/>
                  </a:lnTo>
                  <a:lnTo>
                    <a:pt x="4242816" y="914400"/>
                  </a:lnTo>
                  <a:lnTo>
                    <a:pt x="3328416" y="1828800"/>
                  </a:lnTo>
                  <a:lnTo>
                    <a:pt x="0" y="1828800"/>
                  </a:lnTo>
                  <a:lnTo>
                    <a:pt x="914400" y="914400"/>
                  </a:lnTo>
                  <a:close/>
                </a:path>
              </a:pathLst>
            </a:custGeom>
            <a:solidFill>
              <a:srgbClr val="57534E"/>
            </a:solidFill>
          </p:spPr>
          <p:txBody>
            <a:bodyPr/>
            <a:p/>
          </p:txBody>
        </p:sp>
      </p:grpSp>
      <p:grpSp>
        <p:nvGrpSpPr>
          <p:cNvPr name="Group 9" id="9"/>
          <p:cNvGrpSpPr/>
          <p:nvPr/>
        </p:nvGrpSpPr>
        <p:grpSpPr>
          <a:xfrm rot="0">
            <a:off x="1275588" y="2125980"/>
            <a:ext cx="2276856" cy="1371600"/>
            <a:chOff x="0" y="0"/>
            <a:chExt cx="3035808" cy="1828800"/>
          </a:xfrm>
        </p:grpSpPr>
        <p:sp>
          <p:nvSpPr>
            <p:cNvPr name="Freeform 10" id="10"/>
            <p:cNvSpPr/>
            <p:nvPr/>
          </p:nvSpPr>
          <p:spPr>
            <a:xfrm flipH="false" flipV="false" rot="0">
              <a:off x="0" y="0"/>
              <a:ext cx="3035808" cy="1828800"/>
            </a:xfrm>
            <a:custGeom>
              <a:avLst/>
              <a:gdLst/>
              <a:ahLst/>
              <a:cxnLst/>
              <a:rect r="r" b="b" t="t" l="l"/>
              <a:pathLst>
                <a:path h="1828800" w="3035808">
                  <a:moveTo>
                    <a:pt x="0" y="0"/>
                  </a:moveTo>
                  <a:lnTo>
                    <a:pt x="3035808" y="0"/>
                  </a:lnTo>
                  <a:lnTo>
                    <a:pt x="3035808" y="1828800"/>
                  </a:lnTo>
                  <a:lnTo>
                    <a:pt x="0" y="1828800"/>
                  </a:lnTo>
                  <a:close/>
                </a:path>
              </a:pathLst>
            </a:custGeom>
            <a:blipFill>
              <a:blip r:embed="rId3">
                <a:alphaModFix amt="0"/>
              </a:blip>
              <a:stretch>
                <a:fillRect l="-27291" t="0" r="-27291" b="0"/>
              </a:stretch>
            </a:blipFill>
          </p:spPr>
          <p:txBody>
            <a:bodyPr/>
            <a:p/>
          </p:txBody>
        </p:sp>
        <p:sp>
          <p:nvSpPr>
            <p:cNvPr name="TextBox 11" id="11"/>
            <p:cNvSpPr txBox="true"/>
            <p:nvPr/>
          </p:nvSpPr>
          <p:spPr>
            <a:xfrm>
              <a:off x="0" y="-57150"/>
              <a:ext cx="3035808" cy="1885950"/>
            </a:xfrm>
            <a:prstGeom prst="rect">
              <a:avLst/>
            </a:prstGeom>
          </p:spPr>
          <p:txBody>
            <a:bodyPr anchor="ctr" rtlCol="false" tIns="0" lIns="0" bIns="0" rIns="0"/>
            <a:lstStyle/>
            <a:p>
              <a:pPr algn="ctr">
                <a:lnSpc>
                  <a:spcPts val="3419"/>
                </a:lnSpc>
              </a:pPr>
              <a:r>
                <a:rPr lang="en-US" sz="2850" b="true">
                  <a:solidFill>
                    <a:srgbClr val="FFFFFF"/>
                  </a:solidFill>
                  <a:latin typeface="Calibri"/>
                  <a:ea typeface="Calibri"/>
                  <a:cs typeface="Calibri"/>
                  <a:sym typeface="Calibri"/>
                </a:rPr>
                <a:t>Inhibit</a:t>
              </a:r>
            </a:p>
          </p:txBody>
        </p:sp>
      </p:grpSp>
      <p:sp>
        <p:nvSpPr>
          <p:cNvPr name="TextBox 12" id="12"/>
          <p:cNvSpPr txBox="true"/>
          <p:nvPr/>
        </p:nvSpPr>
        <p:spPr>
          <a:xfrm rot="0">
            <a:off x="905256" y="3646170"/>
            <a:ext cx="3017520" cy="1291590"/>
          </a:xfrm>
          <a:prstGeom prst="rect">
            <a:avLst/>
          </a:prstGeom>
        </p:spPr>
        <p:txBody>
          <a:bodyPr anchor="t" rtlCol="false" tIns="0" lIns="0" bIns="0" rIns="0">
            <a:spAutoFit/>
          </a:bodyPr>
          <a:lstStyle/>
          <a:p>
            <a:pPr algn="ctr">
              <a:lnSpc>
                <a:spcPts val="2700"/>
              </a:lnSpc>
            </a:pPr>
            <a:r>
              <a:rPr lang="en-US" sz="2250">
                <a:solidFill>
                  <a:srgbClr val="1C1917"/>
                </a:solidFill>
                <a:latin typeface="Calibri"/>
                <a:ea typeface="Calibri"/>
                <a:cs typeface="Calibri"/>
                <a:sym typeface="Calibri"/>
              </a:rPr>
              <a:t>drop symptoms of a firing cause</a:t>
            </a:r>
          </a:p>
        </p:txBody>
      </p:sp>
      <p:grpSp>
        <p:nvGrpSpPr>
          <p:cNvPr name="Group 13" id="13"/>
          <p:cNvGrpSpPr/>
          <p:nvPr/>
        </p:nvGrpSpPr>
        <p:grpSpPr>
          <a:xfrm rot="0">
            <a:off x="4142232" y="2125980"/>
            <a:ext cx="3182112" cy="1371600"/>
            <a:chOff x="0" y="0"/>
            <a:chExt cx="4242816" cy="1828800"/>
          </a:xfrm>
        </p:grpSpPr>
        <p:sp>
          <p:nvSpPr>
            <p:cNvPr name="Freeform 14" id="14"/>
            <p:cNvSpPr/>
            <p:nvPr/>
          </p:nvSpPr>
          <p:spPr>
            <a:xfrm flipH="false" flipV="false" rot="0">
              <a:off x="0" y="0"/>
              <a:ext cx="4242816" cy="1828800"/>
            </a:xfrm>
            <a:custGeom>
              <a:avLst/>
              <a:gdLst/>
              <a:ahLst/>
              <a:cxnLst/>
              <a:rect r="r" b="b" t="t" l="l"/>
              <a:pathLst>
                <a:path h="1828800" w="4242816">
                  <a:moveTo>
                    <a:pt x="0" y="0"/>
                  </a:moveTo>
                  <a:lnTo>
                    <a:pt x="3328416" y="0"/>
                  </a:lnTo>
                  <a:lnTo>
                    <a:pt x="4242816" y="914400"/>
                  </a:lnTo>
                  <a:lnTo>
                    <a:pt x="3328416" y="1828800"/>
                  </a:lnTo>
                  <a:lnTo>
                    <a:pt x="0" y="1828800"/>
                  </a:lnTo>
                  <a:lnTo>
                    <a:pt x="914400" y="914400"/>
                  </a:lnTo>
                  <a:close/>
                </a:path>
              </a:pathLst>
            </a:custGeom>
            <a:solidFill>
              <a:srgbClr val="57534E"/>
            </a:solidFill>
          </p:spPr>
          <p:txBody>
            <a:bodyPr/>
            <a:p/>
          </p:txBody>
        </p:sp>
      </p:grpSp>
      <p:grpSp>
        <p:nvGrpSpPr>
          <p:cNvPr name="Group 15" id="15"/>
          <p:cNvGrpSpPr/>
          <p:nvPr/>
        </p:nvGrpSpPr>
        <p:grpSpPr>
          <a:xfrm rot="0">
            <a:off x="4594860" y="2125980"/>
            <a:ext cx="2276856" cy="1371600"/>
            <a:chOff x="0" y="0"/>
            <a:chExt cx="3035808" cy="1828800"/>
          </a:xfrm>
        </p:grpSpPr>
        <p:sp>
          <p:nvSpPr>
            <p:cNvPr name="Freeform 16" id="16"/>
            <p:cNvSpPr/>
            <p:nvPr/>
          </p:nvSpPr>
          <p:spPr>
            <a:xfrm flipH="false" flipV="false" rot="0">
              <a:off x="0" y="0"/>
              <a:ext cx="3035808" cy="1828800"/>
            </a:xfrm>
            <a:custGeom>
              <a:avLst/>
              <a:gdLst/>
              <a:ahLst/>
              <a:cxnLst/>
              <a:rect r="r" b="b" t="t" l="l"/>
              <a:pathLst>
                <a:path h="1828800" w="3035808">
                  <a:moveTo>
                    <a:pt x="0" y="0"/>
                  </a:moveTo>
                  <a:lnTo>
                    <a:pt x="3035808" y="0"/>
                  </a:lnTo>
                  <a:lnTo>
                    <a:pt x="3035808" y="1828800"/>
                  </a:lnTo>
                  <a:lnTo>
                    <a:pt x="0" y="1828800"/>
                  </a:lnTo>
                  <a:close/>
                </a:path>
              </a:pathLst>
            </a:custGeom>
            <a:blipFill>
              <a:blip r:embed="rId3">
                <a:alphaModFix amt="0"/>
              </a:blip>
              <a:stretch>
                <a:fillRect l="-27291" t="0" r="-27291" b="0"/>
              </a:stretch>
            </a:blipFill>
          </p:spPr>
          <p:txBody>
            <a:bodyPr/>
            <a:p/>
          </p:txBody>
        </p:sp>
        <p:sp>
          <p:nvSpPr>
            <p:cNvPr name="TextBox 17" id="17"/>
            <p:cNvSpPr txBox="true"/>
            <p:nvPr/>
          </p:nvSpPr>
          <p:spPr>
            <a:xfrm>
              <a:off x="0" y="-57150"/>
              <a:ext cx="3035808" cy="1885950"/>
            </a:xfrm>
            <a:prstGeom prst="rect">
              <a:avLst/>
            </a:prstGeom>
          </p:spPr>
          <p:txBody>
            <a:bodyPr anchor="ctr" rtlCol="false" tIns="0" lIns="0" bIns="0" rIns="0"/>
            <a:lstStyle/>
            <a:p>
              <a:pPr algn="ctr">
                <a:lnSpc>
                  <a:spcPts val="3419"/>
                </a:lnSpc>
              </a:pPr>
              <a:r>
                <a:rPr lang="en-US" sz="2850" b="true">
                  <a:solidFill>
                    <a:srgbClr val="FFFFFF"/>
                  </a:solidFill>
                  <a:latin typeface="Calibri"/>
                  <a:ea typeface="Calibri"/>
                  <a:cs typeface="Calibri"/>
                  <a:sym typeface="Calibri"/>
                </a:rPr>
                <a:t>Silence</a:t>
              </a:r>
            </a:p>
          </p:txBody>
        </p:sp>
      </p:grpSp>
      <p:sp>
        <p:nvSpPr>
          <p:cNvPr name="TextBox 18" id="18"/>
          <p:cNvSpPr txBox="true"/>
          <p:nvPr/>
        </p:nvSpPr>
        <p:spPr>
          <a:xfrm rot="0">
            <a:off x="4224528" y="3646170"/>
            <a:ext cx="3017520" cy="1291590"/>
          </a:xfrm>
          <a:prstGeom prst="rect">
            <a:avLst/>
          </a:prstGeom>
        </p:spPr>
        <p:txBody>
          <a:bodyPr anchor="t" rtlCol="false" tIns="0" lIns="0" bIns="0" rIns="0">
            <a:spAutoFit/>
          </a:bodyPr>
          <a:lstStyle/>
          <a:p>
            <a:pPr algn="ctr">
              <a:lnSpc>
                <a:spcPts val="2700"/>
              </a:lnSpc>
            </a:pPr>
            <a:r>
              <a:rPr lang="en-US" sz="2250">
                <a:solidFill>
                  <a:srgbClr val="1C1917"/>
                </a:solidFill>
                <a:latin typeface="Calibri"/>
                <a:ea typeface="Calibri"/>
                <a:cs typeface="Calibri"/>
                <a:sym typeface="Calibri"/>
              </a:rPr>
              <a:t>mute known alerts during maintenance</a:t>
            </a:r>
          </a:p>
        </p:txBody>
      </p:sp>
      <p:grpSp>
        <p:nvGrpSpPr>
          <p:cNvPr name="Group 19" id="19"/>
          <p:cNvGrpSpPr/>
          <p:nvPr/>
        </p:nvGrpSpPr>
        <p:grpSpPr>
          <a:xfrm rot="0">
            <a:off x="7461504" y="2125980"/>
            <a:ext cx="3182112" cy="1371600"/>
            <a:chOff x="0" y="0"/>
            <a:chExt cx="4242816" cy="1828800"/>
          </a:xfrm>
        </p:grpSpPr>
        <p:sp>
          <p:nvSpPr>
            <p:cNvPr name="Freeform 20" id="20"/>
            <p:cNvSpPr/>
            <p:nvPr/>
          </p:nvSpPr>
          <p:spPr>
            <a:xfrm flipH="false" flipV="false" rot="0">
              <a:off x="0" y="0"/>
              <a:ext cx="4242816" cy="1828800"/>
            </a:xfrm>
            <a:custGeom>
              <a:avLst/>
              <a:gdLst/>
              <a:ahLst/>
              <a:cxnLst/>
              <a:rect r="r" b="b" t="t" l="l"/>
              <a:pathLst>
                <a:path h="1828800" w="4242816">
                  <a:moveTo>
                    <a:pt x="0" y="0"/>
                  </a:moveTo>
                  <a:lnTo>
                    <a:pt x="3328416" y="0"/>
                  </a:lnTo>
                  <a:lnTo>
                    <a:pt x="4242816" y="914400"/>
                  </a:lnTo>
                  <a:lnTo>
                    <a:pt x="3328416" y="1828800"/>
                  </a:lnTo>
                  <a:lnTo>
                    <a:pt x="0" y="1828800"/>
                  </a:lnTo>
                  <a:lnTo>
                    <a:pt x="914400" y="914400"/>
                  </a:lnTo>
                  <a:close/>
                </a:path>
              </a:pathLst>
            </a:custGeom>
            <a:solidFill>
              <a:srgbClr val="57534E"/>
            </a:solidFill>
          </p:spPr>
          <p:txBody>
            <a:bodyPr/>
            <a:p/>
          </p:txBody>
        </p:sp>
      </p:grpSp>
      <p:grpSp>
        <p:nvGrpSpPr>
          <p:cNvPr name="Group 21" id="21"/>
          <p:cNvGrpSpPr/>
          <p:nvPr/>
        </p:nvGrpSpPr>
        <p:grpSpPr>
          <a:xfrm rot="0">
            <a:off x="7914132" y="2125980"/>
            <a:ext cx="2276856" cy="1371600"/>
            <a:chOff x="0" y="0"/>
            <a:chExt cx="3035808" cy="1828800"/>
          </a:xfrm>
        </p:grpSpPr>
        <p:sp>
          <p:nvSpPr>
            <p:cNvPr name="Freeform 22" id="22"/>
            <p:cNvSpPr/>
            <p:nvPr/>
          </p:nvSpPr>
          <p:spPr>
            <a:xfrm flipH="false" flipV="false" rot="0">
              <a:off x="0" y="0"/>
              <a:ext cx="3035808" cy="1828800"/>
            </a:xfrm>
            <a:custGeom>
              <a:avLst/>
              <a:gdLst/>
              <a:ahLst/>
              <a:cxnLst/>
              <a:rect r="r" b="b" t="t" l="l"/>
              <a:pathLst>
                <a:path h="1828800" w="3035808">
                  <a:moveTo>
                    <a:pt x="0" y="0"/>
                  </a:moveTo>
                  <a:lnTo>
                    <a:pt x="3035808" y="0"/>
                  </a:lnTo>
                  <a:lnTo>
                    <a:pt x="3035808" y="1828800"/>
                  </a:lnTo>
                  <a:lnTo>
                    <a:pt x="0" y="1828800"/>
                  </a:lnTo>
                  <a:close/>
                </a:path>
              </a:pathLst>
            </a:custGeom>
            <a:blipFill>
              <a:blip r:embed="rId3">
                <a:alphaModFix amt="0"/>
              </a:blip>
              <a:stretch>
                <a:fillRect l="-27291" t="0" r="-27291" b="0"/>
              </a:stretch>
            </a:blipFill>
          </p:spPr>
          <p:txBody>
            <a:bodyPr/>
            <a:p/>
          </p:txBody>
        </p:sp>
        <p:sp>
          <p:nvSpPr>
            <p:cNvPr name="TextBox 23" id="23"/>
            <p:cNvSpPr txBox="true"/>
            <p:nvPr/>
          </p:nvSpPr>
          <p:spPr>
            <a:xfrm>
              <a:off x="0" y="-57150"/>
              <a:ext cx="3035808" cy="1885950"/>
            </a:xfrm>
            <a:prstGeom prst="rect">
              <a:avLst/>
            </a:prstGeom>
          </p:spPr>
          <p:txBody>
            <a:bodyPr anchor="ctr" rtlCol="false" tIns="0" lIns="0" bIns="0" rIns="0"/>
            <a:lstStyle/>
            <a:p>
              <a:pPr algn="ctr">
                <a:lnSpc>
                  <a:spcPts val="3419"/>
                </a:lnSpc>
              </a:pPr>
              <a:r>
                <a:rPr lang="en-US" sz="2850" b="true">
                  <a:solidFill>
                    <a:srgbClr val="FFFFFF"/>
                  </a:solidFill>
                  <a:latin typeface="Calibri"/>
                  <a:ea typeface="Calibri"/>
                  <a:cs typeface="Calibri"/>
                  <a:sym typeface="Calibri"/>
                </a:rPr>
                <a:t>Group</a:t>
              </a:r>
            </a:p>
          </p:txBody>
        </p:sp>
      </p:grpSp>
      <p:sp>
        <p:nvSpPr>
          <p:cNvPr name="TextBox 24" id="24"/>
          <p:cNvSpPr txBox="true"/>
          <p:nvPr/>
        </p:nvSpPr>
        <p:spPr>
          <a:xfrm rot="0">
            <a:off x="7543800" y="3646170"/>
            <a:ext cx="3017520" cy="1291590"/>
          </a:xfrm>
          <a:prstGeom prst="rect">
            <a:avLst/>
          </a:prstGeom>
        </p:spPr>
        <p:txBody>
          <a:bodyPr anchor="t" rtlCol="false" tIns="0" lIns="0" bIns="0" rIns="0">
            <a:spAutoFit/>
          </a:bodyPr>
          <a:lstStyle/>
          <a:p>
            <a:pPr algn="ctr">
              <a:lnSpc>
                <a:spcPts val="2700"/>
              </a:lnSpc>
            </a:pPr>
            <a:r>
              <a:rPr lang="en-US" sz="2250">
                <a:solidFill>
                  <a:srgbClr val="1C1917"/>
                </a:solidFill>
                <a:latin typeface="Calibri"/>
                <a:ea typeface="Calibri"/>
                <a:cs typeface="Calibri"/>
                <a:sym typeface="Calibri"/>
              </a:rPr>
              <a:t>bundle related alerts into one message</a:t>
            </a:r>
          </a:p>
        </p:txBody>
      </p:sp>
      <p:grpSp>
        <p:nvGrpSpPr>
          <p:cNvPr name="Group 25" id="25"/>
          <p:cNvGrpSpPr/>
          <p:nvPr/>
        </p:nvGrpSpPr>
        <p:grpSpPr>
          <a:xfrm rot="0">
            <a:off x="10780776" y="2125980"/>
            <a:ext cx="3182112" cy="1371600"/>
            <a:chOff x="0" y="0"/>
            <a:chExt cx="4242816" cy="1828800"/>
          </a:xfrm>
        </p:grpSpPr>
        <p:sp>
          <p:nvSpPr>
            <p:cNvPr name="Freeform 26" id="26"/>
            <p:cNvSpPr/>
            <p:nvPr/>
          </p:nvSpPr>
          <p:spPr>
            <a:xfrm flipH="false" flipV="false" rot="0">
              <a:off x="0" y="0"/>
              <a:ext cx="4242816" cy="1828800"/>
            </a:xfrm>
            <a:custGeom>
              <a:avLst/>
              <a:gdLst/>
              <a:ahLst/>
              <a:cxnLst/>
              <a:rect r="r" b="b" t="t" l="l"/>
              <a:pathLst>
                <a:path h="1828800" w="4242816">
                  <a:moveTo>
                    <a:pt x="0" y="0"/>
                  </a:moveTo>
                  <a:lnTo>
                    <a:pt x="3328416" y="0"/>
                  </a:lnTo>
                  <a:lnTo>
                    <a:pt x="4242816" y="914400"/>
                  </a:lnTo>
                  <a:lnTo>
                    <a:pt x="3328416" y="1828800"/>
                  </a:lnTo>
                  <a:lnTo>
                    <a:pt x="0" y="1828800"/>
                  </a:lnTo>
                  <a:lnTo>
                    <a:pt x="914400" y="914400"/>
                  </a:lnTo>
                  <a:close/>
                </a:path>
              </a:pathLst>
            </a:custGeom>
            <a:solidFill>
              <a:srgbClr val="57534E"/>
            </a:solidFill>
          </p:spPr>
          <p:txBody>
            <a:bodyPr/>
            <a:p/>
          </p:txBody>
        </p:sp>
      </p:grpSp>
      <p:grpSp>
        <p:nvGrpSpPr>
          <p:cNvPr name="Group 27" id="27"/>
          <p:cNvGrpSpPr/>
          <p:nvPr/>
        </p:nvGrpSpPr>
        <p:grpSpPr>
          <a:xfrm rot="0">
            <a:off x="11233404" y="2125980"/>
            <a:ext cx="2276856" cy="1371600"/>
            <a:chOff x="0" y="0"/>
            <a:chExt cx="3035808" cy="1828800"/>
          </a:xfrm>
        </p:grpSpPr>
        <p:sp>
          <p:nvSpPr>
            <p:cNvPr name="Freeform 28" id="28"/>
            <p:cNvSpPr/>
            <p:nvPr/>
          </p:nvSpPr>
          <p:spPr>
            <a:xfrm flipH="false" flipV="false" rot="0">
              <a:off x="0" y="0"/>
              <a:ext cx="3035808" cy="1828800"/>
            </a:xfrm>
            <a:custGeom>
              <a:avLst/>
              <a:gdLst/>
              <a:ahLst/>
              <a:cxnLst/>
              <a:rect r="r" b="b" t="t" l="l"/>
              <a:pathLst>
                <a:path h="1828800" w="3035808">
                  <a:moveTo>
                    <a:pt x="0" y="0"/>
                  </a:moveTo>
                  <a:lnTo>
                    <a:pt x="3035808" y="0"/>
                  </a:lnTo>
                  <a:lnTo>
                    <a:pt x="3035808" y="1828800"/>
                  </a:lnTo>
                  <a:lnTo>
                    <a:pt x="0" y="1828800"/>
                  </a:lnTo>
                  <a:close/>
                </a:path>
              </a:pathLst>
            </a:custGeom>
            <a:blipFill>
              <a:blip r:embed="rId3">
                <a:alphaModFix amt="0"/>
              </a:blip>
              <a:stretch>
                <a:fillRect l="-27291" t="0" r="-27291" b="0"/>
              </a:stretch>
            </a:blipFill>
          </p:spPr>
          <p:txBody>
            <a:bodyPr/>
            <a:p/>
          </p:txBody>
        </p:sp>
        <p:sp>
          <p:nvSpPr>
            <p:cNvPr name="TextBox 29" id="29"/>
            <p:cNvSpPr txBox="true"/>
            <p:nvPr/>
          </p:nvSpPr>
          <p:spPr>
            <a:xfrm>
              <a:off x="0" y="-57150"/>
              <a:ext cx="3035808" cy="1885950"/>
            </a:xfrm>
            <a:prstGeom prst="rect">
              <a:avLst/>
            </a:prstGeom>
          </p:spPr>
          <p:txBody>
            <a:bodyPr anchor="ctr" rtlCol="false" tIns="0" lIns="0" bIns="0" rIns="0"/>
            <a:lstStyle/>
            <a:p>
              <a:pPr algn="ctr">
                <a:lnSpc>
                  <a:spcPts val="3419"/>
                </a:lnSpc>
              </a:pPr>
              <a:r>
                <a:rPr lang="en-US" sz="2850" b="true">
                  <a:solidFill>
                    <a:srgbClr val="FFFFFF"/>
                  </a:solidFill>
                  <a:latin typeface="Calibri"/>
                  <a:ea typeface="Calibri"/>
                  <a:cs typeface="Calibri"/>
                  <a:sym typeface="Calibri"/>
                </a:rPr>
                <a:t>Route</a:t>
              </a:r>
            </a:p>
          </p:txBody>
        </p:sp>
      </p:grpSp>
      <p:sp>
        <p:nvSpPr>
          <p:cNvPr name="TextBox 30" id="30"/>
          <p:cNvSpPr txBox="true"/>
          <p:nvPr/>
        </p:nvSpPr>
        <p:spPr>
          <a:xfrm rot="0">
            <a:off x="10863072" y="3646170"/>
            <a:ext cx="3017520" cy="1291590"/>
          </a:xfrm>
          <a:prstGeom prst="rect">
            <a:avLst/>
          </a:prstGeom>
        </p:spPr>
        <p:txBody>
          <a:bodyPr anchor="t" rtlCol="false" tIns="0" lIns="0" bIns="0" rIns="0">
            <a:spAutoFit/>
          </a:bodyPr>
          <a:lstStyle/>
          <a:p>
            <a:pPr algn="ctr">
              <a:lnSpc>
                <a:spcPts val="2700"/>
              </a:lnSpc>
            </a:pPr>
            <a:r>
              <a:rPr lang="en-US" sz="2250">
                <a:solidFill>
                  <a:srgbClr val="1C1917"/>
                </a:solidFill>
                <a:latin typeface="Calibri"/>
                <a:ea typeface="Calibri"/>
                <a:cs typeface="Calibri"/>
                <a:sym typeface="Calibri"/>
              </a:rPr>
              <a:t>pick receivers by severity</a:t>
            </a:r>
          </a:p>
        </p:txBody>
      </p:sp>
      <p:grpSp>
        <p:nvGrpSpPr>
          <p:cNvPr name="Group 31" id="31"/>
          <p:cNvGrpSpPr/>
          <p:nvPr/>
        </p:nvGrpSpPr>
        <p:grpSpPr>
          <a:xfrm rot="0">
            <a:off x="14100048" y="2125980"/>
            <a:ext cx="3182112" cy="1371600"/>
            <a:chOff x="0" y="0"/>
            <a:chExt cx="4242816" cy="1828800"/>
          </a:xfrm>
        </p:grpSpPr>
        <p:sp>
          <p:nvSpPr>
            <p:cNvPr name="Freeform 32" id="32"/>
            <p:cNvSpPr/>
            <p:nvPr/>
          </p:nvSpPr>
          <p:spPr>
            <a:xfrm flipH="false" flipV="false" rot="0">
              <a:off x="0" y="0"/>
              <a:ext cx="4242816" cy="1828800"/>
            </a:xfrm>
            <a:custGeom>
              <a:avLst/>
              <a:gdLst/>
              <a:ahLst/>
              <a:cxnLst/>
              <a:rect r="r" b="b" t="t" l="l"/>
              <a:pathLst>
                <a:path h="1828800" w="4242816">
                  <a:moveTo>
                    <a:pt x="0" y="0"/>
                  </a:moveTo>
                  <a:lnTo>
                    <a:pt x="3328416" y="0"/>
                  </a:lnTo>
                  <a:lnTo>
                    <a:pt x="4242816" y="914400"/>
                  </a:lnTo>
                  <a:lnTo>
                    <a:pt x="3328416" y="1828800"/>
                  </a:lnTo>
                  <a:lnTo>
                    <a:pt x="0" y="1828800"/>
                  </a:lnTo>
                  <a:lnTo>
                    <a:pt x="914400" y="914400"/>
                  </a:lnTo>
                  <a:close/>
                </a:path>
              </a:pathLst>
            </a:custGeom>
            <a:solidFill>
              <a:srgbClr val="E6522C"/>
            </a:solidFill>
          </p:spPr>
          <p:txBody>
            <a:bodyPr/>
            <a:p/>
          </p:txBody>
        </p:sp>
      </p:grpSp>
      <p:grpSp>
        <p:nvGrpSpPr>
          <p:cNvPr name="Group 33" id="33"/>
          <p:cNvGrpSpPr/>
          <p:nvPr/>
        </p:nvGrpSpPr>
        <p:grpSpPr>
          <a:xfrm rot="0">
            <a:off x="14552676" y="2125980"/>
            <a:ext cx="2276856" cy="1371600"/>
            <a:chOff x="0" y="0"/>
            <a:chExt cx="3035808" cy="1828800"/>
          </a:xfrm>
        </p:grpSpPr>
        <p:sp>
          <p:nvSpPr>
            <p:cNvPr name="Freeform 34" id="34"/>
            <p:cNvSpPr/>
            <p:nvPr/>
          </p:nvSpPr>
          <p:spPr>
            <a:xfrm flipH="false" flipV="false" rot="0">
              <a:off x="0" y="0"/>
              <a:ext cx="3035808" cy="1828800"/>
            </a:xfrm>
            <a:custGeom>
              <a:avLst/>
              <a:gdLst/>
              <a:ahLst/>
              <a:cxnLst/>
              <a:rect r="r" b="b" t="t" l="l"/>
              <a:pathLst>
                <a:path h="1828800" w="3035808">
                  <a:moveTo>
                    <a:pt x="0" y="0"/>
                  </a:moveTo>
                  <a:lnTo>
                    <a:pt x="3035808" y="0"/>
                  </a:lnTo>
                  <a:lnTo>
                    <a:pt x="3035808" y="1828800"/>
                  </a:lnTo>
                  <a:lnTo>
                    <a:pt x="0" y="1828800"/>
                  </a:lnTo>
                  <a:close/>
                </a:path>
              </a:pathLst>
            </a:custGeom>
            <a:blipFill>
              <a:blip r:embed="rId3">
                <a:alphaModFix amt="0"/>
              </a:blip>
              <a:stretch>
                <a:fillRect l="-27291" t="0" r="-27291" b="0"/>
              </a:stretch>
            </a:blipFill>
          </p:spPr>
          <p:txBody>
            <a:bodyPr/>
            <a:p/>
          </p:txBody>
        </p:sp>
        <p:sp>
          <p:nvSpPr>
            <p:cNvPr name="TextBox 35" id="35"/>
            <p:cNvSpPr txBox="true"/>
            <p:nvPr/>
          </p:nvSpPr>
          <p:spPr>
            <a:xfrm>
              <a:off x="0" y="-57150"/>
              <a:ext cx="3035808" cy="1885950"/>
            </a:xfrm>
            <a:prstGeom prst="rect">
              <a:avLst/>
            </a:prstGeom>
          </p:spPr>
          <p:txBody>
            <a:bodyPr anchor="ctr" rtlCol="false" tIns="0" lIns="0" bIns="0" rIns="0"/>
            <a:lstStyle/>
            <a:p>
              <a:pPr algn="ctr">
                <a:lnSpc>
                  <a:spcPts val="3419"/>
                </a:lnSpc>
              </a:pPr>
              <a:r>
                <a:rPr lang="en-US" sz="2850" b="true">
                  <a:solidFill>
                    <a:srgbClr val="FFFFFF"/>
                  </a:solidFill>
                  <a:latin typeface="Calibri"/>
                  <a:ea typeface="Calibri"/>
                  <a:cs typeface="Calibri"/>
                  <a:sym typeface="Calibri"/>
                </a:rPr>
                <a:t>Notify</a:t>
              </a:r>
            </a:p>
          </p:txBody>
        </p:sp>
      </p:grpSp>
      <p:sp>
        <p:nvSpPr>
          <p:cNvPr name="TextBox 36" id="36"/>
          <p:cNvSpPr txBox="true"/>
          <p:nvPr/>
        </p:nvSpPr>
        <p:spPr>
          <a:xfrm rot="0">
            <a:off x="14182344" y="3646170"/>
            <a:ext cx="3017520" cy="1291590"/>
          </a:xfrm>
          <a:prstGeom prst="rect">
            <a:avLst/>
          </a:prstGeom>
        </p:spPr>
        <p:txBody>
          <a:bodyPr anchor="t" rtlCol="false" tIns="0" lIns="0" bIns="0" rIns="0">
            <a:spAutoFit/>
          </a:bodyPr>
          <a:lstStyle/>
          <a:p>
            <a:pPr algn="ctr">
              <a:lnSpc>
                <a:spcPts val="2700"/>
              </a:lnSpc>
            </a:pPr>
            <a:r>
              <a:rPr lang="en-US" sz="2250">
                <a:solidFill>
                  <a:srgbClr val="1C1917"/>
                </a:solidFill>
                <a:latin typeface="Calibri"/>
                <a:ea typeface="Calibri"/>
                <a:cs typeface="Calibri"/>
                <a:sym typeface="Calibri"/>
              </a:rPr>
              <a:t>send, repeat, then send RESOLVED</a:t>
            </a:r>
          </a:p>
        </p:txBody>
      </p:sp>
      <p:grpSp>
        <p:nvGrpSpPr>
          <p:cNvPr name="Group 37" id="37"/>
          <p:cNvGrpSpPr/>
          <p:nvPr/>
        </p:nvGrpSpPr>
        <p:grpSpPr>
          <a:xfrm rot="0">
            <a:off x="822960" y="5143500"/>
            <a:ext cx="8229600" cy="617220"/>
            <a:chOff x="0" y="0"/>
            <a:chExt cx="10972800" cy="822960"/>
          </a:xfrm>
        </p:grpSpPr>
        <p:sp>
          <p:nvSpPr>
            <p:cNvPr name="Freeform 38" id="38"/>
            <p:cNvSpPr/>
            <p:nvPr/>
          </p:nvSpPr>
          <p:spPr>
            <a:xfrm flipH="false" flipV="false" rot="0">
              <a:off x="0" y="0"/>
              <a:ext cx="10972800" cy="822960"/>
            </a:xfrm>
            <a:custGeom>
              <a:avLst/>
              <a:gdLst/>
              <a:ahLst/>
              <a:cxnLst/>
              <a:rect r="r" b="b" t="t" l="l"/>
              <a:pathLst>
                <a:path h="822960" w="10972800">
                  <a:moveTo>
                    <a:pt x="0" y="0"/>
                  </a:moveTo>
                  <a:lnTo>
                    <a:pt x="10972800" y="0"/>
                  </a:lnTo>
                  <a:lnTo>
                    <a:pt x="10972800" y="822960"/>
                  </a:lnTo>
                  <a:lnTo>
                    <a:pt x="0" y="822960"/>
                  </a:lnTo>
                  <a:close/>
                </a:path>
              </a:pathLst>
            </a:custGeom>
            <a:blipFill>
              <a:blip r:embed="rId3">
                <a:alphaModFix amt="0"/>
              </a:blip>
              <a:stretch>
                <a:fillRect l="0" t="-209800" r="0" b="-209800"/>
              </a:stretch>
            </a:blipFill>
          </p:spPr>
          <p:txBody>
            <a:bodyPr/>
            <a:p/>
          </p:txBody>
        </p:sp>
        <p:sp>
          <p:nvSpPr>
            <p:cNvPr name="TextBox 39" id="39"/>
            <p:cNvSpPr txBox="true"/>
            <p:nvPr/>
          </p:nvSpPr>
          <p:spPr>
            <a:xfrm>
              <a:off x="0" y="-66675"/>
              <a:ext cx="10972800" cy="889635"/>
            </a:xfrm>
            <a:prstGeom prst="rect">
              <a:avLst/>
            </a:prstGeom>
          </p:spPr>
          <p:txBody>
            <a:bodyPr anchor="ctr" rtlCol="false" tIns="0" lIns="0" bIns="0" rIns="0"/>
            <a:lstStyle/>
            <a:p>
              <a:pPr algn="l">
                <a:lnSpc>
                  <a:spcPts val="3600"/>
                </a:lnSpc>
              </a:pPr>
              <a:r>
                <a:rPr lang="en-US" sz="3000" b="true">
                  <a:solidFill>
                    <a:srgbClr val="1C1917"/>
                  </a:solidFill>
                  <a:latin typeface="Calibri"/>
                  <a:ea typeface="Calibri"/>
                  <a:cs typeface="Calibri"/>
                  <a:sym typeface="Calibri"/>
                </a:rPr>
                <a:t>Our routes</a:t>
              </a:r>
            </a:p>
          </p:txBody>
        </p:sp>
      </p:grpSp>
      <p:grpSp>
        <p:nvGrpSpPr>
          <p:cNvPr name="Group 40" id="40"/>
          <p:cNvGrpSpPr/>
          <p:nvPr/>
        </p:nvGrpSpPr>
        <p:grpSpPr>
          <a:xfrm rot="0">
            <a:off x="822960" y="5897880"/>
            <a:ext cx="5280660" cy="2674620"/>
            <a:chOff x="0" y="0"/>
            <a:chExt cx="7040880" cy="3566160"/>
          </a:xfrm>
        </p:grpSpPr>
        <p:sp>
          <p:nvSpPr>
            <p:cNvPr name="Freeform 41" id="41"/>
            <p:cNvSpPr/>
            <p:nvPr/>
          </p:nvSpPr>
          <p:spPr>
            <a:xfrm flipH="false" flipV="false" rot="0">
              <a:off x="0" y="0"/>
              <a:ext cx="7040880" cy="3566160"/>
            </a:xfrm>
            <a:custGeom>
              <a:avLst/>
              <a:gdLst/>
              <a:ahLst/>
              <a:cxnLst/>
              <a:rect r="r" b="b" t="t" l="l"/>
              <a:pathLst>
                <a:path h="3566160" w="7040880">
                  <a:moveTo>
                    <a:pt x="0" y="219456"/>
                  </a:moveTo>
                  <a:cubicBezTo>
                    <a:pt x="0" y="98298"/>
                    <a:pt x="98298" y="0"/>
                    <a:pt x="219456" y="0"/>
                  </a:cubicBezTo>
                  <a:lnTo>
                    <a:pt x="6821424" y="0"/>
                  </a:lnTo>
                  <a:cubicBezTo>
                    <a:pt x="6942582" y="0"/>
                    <a:pt x="7040880" y="98298"/>
                    <a:pt x="7040880" y="219456"/>
                  </a:cubicBezTo>
                  <a:lnTo>
                    <a:pt x="7040880" y="3346704"/>
                  </a:lnTo>
                  <a:cubicBezTo>
                    <a:pt x="7040880" y="3467862"/>
                    <a:pt x="6942582" y="3566160"/>
                    <a:pt x="6821424" y="3566160"/>
                  </a:cubicBezTo>
                  <a:lnTo>
                    <a:pt x="219456" y="3566160"/>
                  </a:lnTo>
                  <a:cubicBezTo>
                    <a:pt x="98298" y="3566160"/>
                    <a:pt x="0" y="3467862"/>
                    <a:pt x="0" y="3346704"/>
                  </a:cubicBezTo>
                  <a:close/>
                </a:path>
              </a:pathLst>
            </a:custGeom>
            <a:solidFill>
              <a:srgbClr val="F5F5F4"/>
            </a:solidFill>
          </p:spPr>
          <p:txBody>
            <a:bodyPr/>
            <a:p/>
          </p:txBody>
        </p:sp>
      </p:grpSp>
      <p:grpSp>
        <p:nvGrpSpPr>
          <p:cNvPr name="Group 42" id="42"/>
          <p:cNvGrpSpPr/>
          <p:nvPr/>
        </p:nvGrpSpPr>
        <p:grpSpPr>
          <a:xfrm rot="0">
            <a:off x="1234440" y="6309360"/>
            <a:ext cx="960120" cy="960120"/>
            <a:chOff x="0" y="0"/>
            <a:chExt cx="1280160" cy="1280160"/>
          </a:xfrm>
        </p:grpSpPr>
        <p:sp>
          <p:nvSpPr>
            <p:cNvPr name="Freeform 43" id="43"/>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B91C1C"/>
            </a:solidFill>
          </p:spPr>
          <p:txBody>
            <a:bodyPr/>
            <a:p/>
          </p:txBody>
        </p:sp>
      </p:grpSp>
      <p:grpSp>
        <p:nvGrpSpPr>
          <p:cNvPr name="Group 44" id="44"/>
          <p:cNvGrpSpPr/>
          <p:nvPr/>
        </p:nvGrpSpPr>
        <p:grpSpPr>
          <a:xfrm rot="0">
            <a:off x="1467612" y="6542532"/>
            <a:ext cx="493776" cy="493776"/>
            <a:chOff x="0" y="0"/>
            <a:chExt cx="658368" cy="658368"/>
          </a:xfrm>
        </p:grpSpPr>
        <p:sp>
          <p:nvSpPr>
            <p:cNvPr name="Freeform 45" id="45"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4"/>
              <a:stretch>
                <a:fillRect l="0" t="0" r="0" b="0"/>
              </a:stretch>
            </a:blipFill>
          </p:spPr>
          <p:txBody>
            <a:bodyPr/>
            <a:p/>
          </p:txBody>
        </p:sp>
      </p:grpSp>
      <p:grpSp>
        <p:nvGrpSpPr>
          <p:cNvPr name="Group 46" id="46"/>
          <p:cNvGrpSpPr/>
          <p:nvPr/>
        </p:nvGrpSpPr>
        <p:grpSpPr>
          <a:xfrm rot="0">
            <a:off x="2468880" y="6309360"/>
            <a:ext cx="3429000" cy="960120"/>
            <a:chOff x="0" y="0"/>
            <a:chExt cx="4572000" cy="1280160"/>
          </a:xfrm>
        </p:grpSpPr>
        <p:sp>
          <p:nvSpPr>
            <p:cNvPr name="Freeform 47" id="47"/>
            <p:cNvSpPr/>
            <p:nvPr/>
          </p:nvSpPr>
          <p:spPr>
            <a:xfrm flipH="false" flipV="false" rot="0">
              <a:off x="0" y="0"/>
              <a:ext cx="4572000" cy="1280160"/>
            </a:xfrm>
            <a:custGeom>
              <a:avLst/>
              <a:gdLst/>
              <a:ahLst/>
              <a:cxnLst/>
              <a:rect r="r" b="b" t="t" l="l"/>
              <a:pathLst>
                <a:path h="1280160" w="4572000">
                  <a:moveTo>
                    <a:pt x="0" y="0"/>
                  </a:moveTo>
                  <a:lnTo>
                    <a:pt x="4572000" y="0"/>
                  </a:lnTo>
                  <a:lnTo>
                    <a:pt x="4572000" y="1280160"/>
                  </a:lnTo>
                  <a:lnTo>
                    <a:pt x="0" y="1280160"/>
                  </a:lnTo>
                  <a:close/>
                </a:path>
              </a:pathLst>
            </a:custGeom>
            <a:blipFill>
              <a:blip r:embed="rId3">
                <a:alphaModFix amt="0"/>
              </a:blip>
              <a:stretch>
                <a:fillRect l="0" t="-19589" r="0" b="-19589"/>
              </a:stretch>
            </a:blipFill>
          </p:spPr>
          <p:txBody>
            <a:bodyPr/>
            <a:p/>
          </p:txBody>
        </p:sp>
        <p:sp>
          <p:nvSpPr>
            <p:cNvPr name="TextBox 48" id="48"/>
            <p:cNvSpPr txBox="true"/>
            <p:nvPr/>
          </p:nvSpPr>
          <p:spPr>
            <a:xfrm>
              <a:off x="0" y="-57150"/>
              <a:ext cx="4572000" cy="1337310"/>
            </a:xfrm>
            <a:prstGeom prst="rect">
              <a:avLst/>
            </a:prstGeom>
          </p:spPr>
          <p:txBody>
            <a:bodyPr anchor="ctr" rtlCol="false" tIns="0" lIns="0" bIns="0" rIns="0"/>
            <a:lstStyle/>
            <a:p>
              <a:pPr algn="l">
                <a:lnSpc>
                  <a:spcPts val="3419"/>
                </a:lnSpc>
              </a:pPr>
              <a:r>
                <a:rPr lang="en-US" sz="2850" b="true">
                  <a:solidFill>
                    <a:srgbClr val="B91C1C"/>
                  </a:solidFill>
                  <a:latin typeface="Calibri"/>
                  <a:ea typeface="Calibri"/>
                  <a:cs typeface="Calibri"/>
                  <a:sym typeface="Calibri"/>
                </a:rPr>
                <a:t>Critical</a:t>
              </a:r>
            </a:p>
          </p:txBody>
        </p:sp>
      </p:grpSp>
      <p:sp>
        <p:nvSpPr>
          <p:cNvPr name="TextBox 49" id="49"/>
          <p:cNvSpPr txBox="true"/>
          <p:nvPr/>
        </p:nvSpPr>
        <p:spPr>
          <a:xfrm rot="0">
            <a:off x="1234440" y="7418070"/>
            <a:ext cx="4594860" cy="1017270"/>
          </a:xfrm>
          <a:prstGeom prst="rect">
            <a:avLst/>
          </a:prstGeom>
        </p:spPr>
        <p:txBody>
          <a:bodyPr anchor="t" rtlCol="false" tIns="0" lIns="0" bIns="0" rIns="0">
            <a:spAutoFit/>
          </a:bodyPr>
          <a:lstStyle/>
          <a:p>
            <a:pPr algn="l">
              <a:lnSpc>
                <a:spcPts val="2700"/>
              </a:lnSpc>
            </a:pPr>
            <a:r>
              <a:rPr lang="en-US" sz="2250">
                <a:solidFill>
                  <a:srgbClr val="1C1917"/>
                </a:solidFill>
                <a:latin typeface="Calibri"/>
                <a:ea typeface="Calibri"/>
                <a:cs typeface="Calibri"/>
                <a:sym typeface="Calibri"/>
              </a:rPr>
              <a:t>email to on-call  +  #ops-chat</a:t>
            </a:r>
          </a:p>
        </p:txBody>
      </p:sp>
      <p:grpSp>
        <p:nvGrpSpPr>
          <p:cNvPr name="Group 50" id="50"/>
          <p:cNvGrpSpPr/>
          <p:nvPr/>
        </p:nvGrpSpPr>
        <p:grpSpPr>
          <a:xfrm rot="0">
            <a:off x="6446520" y="5897880"/>
            <a:ext cx="5280660" cy="2674620"/>
            <a:chOff x="0" y="0"/>
            <a:chExt cx="7040880" cy="3566160"/>
          </a:xfrm>
        </p:grpSpPr>
        <p:sp>
          <p:nvSpPr>
            <p:cNvPr name="Freeform 51" id="51"/>
            <p:cNvSpPr/>
            <p:nvPr/>
          </p:nvSpPr>
          <p:spPr>
            <a:xfrm flipH="false" flipV="false" rot="0">
              <a:off x="0" y="0"/>
              <a:ext cx="7040880" cy="3566160"/>
            </a:xfrm>
            <a:custGeom>
              <a:avLst/>
              <a:gdLst/>
              <a:ahLst/>
              <a:cxnLst/>
              <a:rect r="r" b="b" t="t" l="l"/>
              <a:pathLst>
                <a:path h="3566160" w="7040880">
                  <a:moveTo>
                    <a:pt x="0" y="219456"/>
                  </a:moveTo>
                  <a:cubicBezTo>
                    <a:pt x="0" y="98298"/>
                    <a:pt x="98298" y="0"/>
                    <a:pt x="219456" y="0"/>
                  </a:cubicBezTo>
                  <a:lnTo>
                    <a:pt x="6821424" y="0"/>
                  </a:lnTo>
                  <a:cubicBezTo>
                    <a:pt x="6942582" y="0"/>
                    <a:pt x="7040880" y="98298"/>
                    <a:pt x="7040880" y="219456"/>
                  </a:cubicBezTo>
                  <a:lnTo>
                    <a:pt x="7040880" y="3346704"/>
                  </a:lnTo>
                  <a:cubicBezTo>
                    <a:pt x="7040880" y="3467862"/>
                    <a:pt x="6942582" y="3566160"/>
                    <a:pt x="6821424" y="3566160"/>
                  </a:cubicBezTo>
                  <a:lnTo>
                    <a:pt x="219456" y="3566160"/>
                  </a:lnTo>
                  <a:cubicBezTo>
                    <a:pt x="98298" y="3566160"/>
                    <a:pt x="0" y="3467862"/>
                    <a:pt x="0" y="3346704"/>
                  </a:cubicBezTo>
                  <a:close/>
                </a:path>
              </a:pathLst>
            </a:custGeom>
            <a:solidFill>
              <a:srgbClr val="F5F5F4"/>
            </a:solidFill>
          </p:spPr>
          <p:txBody>
            <a:bodyPr/>
            <a:p/>
          </p:txBody>
        </p:sp>
      </p:grpSp>
      <p:grpSp>
        <p:nvGrpSpPr>
          <p:cNvPr name="Group 52" id="52"/>
          <p:cNvGrpSpPr/>
          <p:nvPr/>
        </p:nvGrpSpPr>
        <p:grpSpPr>
          <a:xfrm rot="0">
            <a:off x="6858000" y="6309360"/>
            <a:ext cx="960120" cy="960120"/>
            <a:chOff x="0" y="0"/>
            <a:chExt cx="1280160" cy="1280160"/>
          </a:xfrm>
        </p:grpSpPr>
        <p:sp>
          <p:nvSpPr>
            <p:cNvPr name="Freeform 53" id="53"/>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B45309"/>
            </a:solidFill>
          </p:spPr>
          <p:txBody>
            <a:bodyPr/>
            <a:p/>
          </p:txBody>
        </p:sp>
      </p:grpSp>
      <p:grpSp>
        <p:nvGrpSpPr>
          <p:cNvPr name="Group 54" id="54"/>
          <p:cNvGrpSpPr/>
          <p:nvPr/>
        </p:nvGrpSpPr>
        <p:grpSpPr>
          <a:xfrm rot="0">
            <a:off x="7091172" y="6542532"/>
            <a:ext cx="493776" cy="493776"/>
            <a:chOff x="0" y="0"/>
            <a:chExt cx="658368" cy="658368"/>
          </a:xfrm>
        </p:grpSpPr>
        <p:sp>
          <p:nvSpPr>
            <p:cNvPr name="Freeform 55" id="55"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5"/>
              <a:stretch>
                <a:fillRect l="0" t="0" r="0" b="0"/>
              </a:stretch>
            </a:blipFill>
          </p:spPr>
          <p:txBody>
            <a:bodyPr/>
            <a:p/>
          </p:txBody>
        </p:sp>
      </p:grpSp>
      <p:grpSp>
        <p:nvGrpSpPr>
          <p:cNvPr name="Group 56" id="56"/>
          <p:cNvGrpSpPr/>
          <p:nvPr/>
        </p:nvGrpSpPr>
        <p:grpSpPr>
          <a:xfrm rot="0">
            <a:off x="8092440" y="6309360"/>
            <a:ext cx="3429000" cy="960120"/>
            <a:chOff x="0" y="0"/>
            <a:chExt cx="4572000" cy="1280160"/>
          </a:xfrm>
        </p:grpSpPr>
        <p:sp>
          <p:nvSpPr>
            <p:cNvPr name="Freeform 57" id="57"/>
            <p:cNvSpPr/>
            <p:nvPr/>
          </p:nvSpPr>
          <p:spPr>
            <a:xfrm flipH="false" flipV="false" rot="0">
              <a:off x="0" y="0"/>
              <a:ext cx="4572000" cy="1280160"/>
            </a:xfrm>
            <a:custGeom>
              <a:avLst/>
              <a:gdLst/>
              <a:ahLst/>
              <a:cxnLst/>
              <a:rect r="r" b="b" t="t" l="l"/>
              <a:pathLst>
                <a:path h="1280160" w="4572000">
                  <a:moveTo>
                    <a:pt x="0" y="0"/>
                  </a:moveTo>
                  <a:lnTo>
                    <a:pt x="4572000" y="0"/>
                  </a:lnTo>
                  <a:lnTo>
                    <a:pt x="4572000" y="1280160"/>
                  </a:lnTo>
                  <a:lnTo>
                    <a:pt x="0" y="1280160"/>
                  </a:lnTo>
                  <a:close/>
                </a:path>
              </a:pathLst>
            </a:custGeom>
            <a:blipFill>
              <a:blip r:embed="rId3">
                <a:alphaModFix amt="0"/>
              </a:blip>
              <a:stretch>
                <a:fillRect l="0" t="-19589" r="0" b="-19589"/>
              </a:stretch>
            </a:blipFill>
          </p:spPr>
          <p:txBody>
            <a:bodyPr/>
            <a:p/>
          </p:txBody>
        </p:sp>
        <p:sp>
          <p:nvSpPr>
            <p:cNvPr name="TextBox 58" id="58"/>
            <p:cNvSpPr txBox="true"/>
            <p:nvPr/>
          </p:nvSpPr>
          <p:spPr>
            <a:xfrm>
              <a:off x="0" y="-57150"/>
              <a:ext cx="4572000" cy="1337310"/>
            </a:xfrm>
            <a:prstGeom prst="rect">
              <a:avLst/>
            </a:prstGeom>
          </p:spPr>
          <p:txBody>
            <a:bodyPr anchor="ctr" rtlCol="false" tIns="0" lIns="0" bIns="0" rIns="0"/>
            <a:lstStyle/>
            <a:p>
              <a:pPr algn="l">
                <a:lnSpc>
                  <a:spcPts val="3419"/>
                </a:lnSpc>
              </a:pPr>
              <a:r>
                <a:rPr lang="en-US" sz="2850" b="true">
                  <a:solidFill>
                    <a:srgbClr val="B45309"/>
                  </a:solidFill>
                  <a:latin typeface="Calibri"/>
                  <a:ea typeface="Calibri"/>
                  <a:cs typeface="Calibri"/>
                  <a:sym typeface="Calibri"/>
                </a:rPr>
                <a:t>Warning</a:t>
              </a:r>
            </a:p>
          </p:txBody>
        </p:sp>
      </p:grpSp>
      <p:sp>
        <p:nvSpPr>
          <p:cNvPr name="TextBox 59" id="59"/>
          <p:cNvSpPr txBox="true"/>
          <p:nvPr/>
        </p:nvSpPr>
        <p:spPr>
          <a:xfrm rot="0">
            <a:off x="6858000" y="7418070"/>
            <a:ext cx="4594860" cy="1017270"/>
          </a:xfrm>
          <a:prstGeom prst="rect">
            <a:avLst/>
          </a:prstGeom>
        </p:spPr>
        <p:txBody>
          <a:bodyPr anchor="t" rtlCol="false" tIns="0" lIns="0" bIns="0" rIns="0">
            <a:spAutoFit/>
          </a:bodyPr>
          <a:lstStyle/>
          <a:p>
            <a:pPr algn="l">
              <a:lnSpc>
                <a:spcPts val="2700"/>
              </a:lnSpc>
            </a:pPr>
            <a:r>
              <a:rPr lang="en-US" sz="2250">
                <a:solidFill>
                  <a:srgbClr val="1C1917"/>
                </a:solidFill>
                <a:latin typeface="Calibri"/>
                <a:ea typeface="Calibri"/>
                <a:cs typeface="Calibri"/>
                <a:sym typeface="Calibri"/>
              </a:rPr>
              <a:t>#ops-chat only</a:t>
            </a:r>
          </a:p>
        </p:txBody>
      </p:sp>
      <p:grpSp>
        <p:nvGrpSpPr>
          <p:cNvPr name="Group 60" id="60"/>
          <p:cNvGrpSpPr/>
          <p:nvPr/>
        </p:nvGrpSpPr>
        <p:grpSpPr>
          <a:xfrm rot="0">
            <a:off x="12070080" y="5897880"/>
            <a:ext cx="5280660" cy="2674620"/>
            <a:chOff x="0" y="0"/>
            <a:chExt cx="7040880" cy="3566160"/>
          </a:xfrm>
        </p:grpSpPr>
        <p:sp>
          <p:nvSpPr>
            <p:cNvPr name="Freeform 61" id="61"/>
            <p:cNvSpPr/>
            <p:nvPr/>
          </p:nvSpPr>
          <p:spPr>
            <a:xfrm flipH="false" flipV="false" rot="0">
              <a:off x="0" y="0"/>
              <a:ext cx="7040880" cy="3566160"/>
            </a:xfrm>
            <a:custGeom>
              <a:avLst/>
              <a:gdLst/>
              <a:ahLst/>
              <a:cxnLst/>
              <a:rect r="r" b="b" t="t" l="l"/>
              <a:pathLst>
                <a:path h="3566160" w="7040880">
                  <a:moveTo>
                    <a:pt x="0" y="219456"/>
                  </a:moveTo>
                  <a:cubicBezTo>
                    <a:pt x="0" y="98298"/>
                    <a:pt x="98298" y="0"/>
                    <a:pt x="219456" y="0"/>
                  </a:cubicBezTo>
                  <a:lnTo>
                    <a:pt x="6821424" y="0"/>
                  </a:lnTo>
                  <a:cubicBezTo>
                    <a:pt x="6942582" y="0"/>
                    <a:pt x="7040880" y="98298"/>
                    <a:pt x="7040880" y="219456"/>
                  </a:cubicBezTo>
                  <a:lnTo>
                    <a:pt x="7040880" y="3346704"/>
                  </a:lnTo>
                  <a:cubicBezTo>
                    <a:pt x="7040880" y="3467862"/>
                    <a:pt x="6942582" y="3566160"/>
                    <a:pt x="6821424" y="3566160"/>
                  </a:cubicBezTo>
                  <a:lnTo>
                    <a:pt x="219456" y="3566160"/>
                  </a:lnTo>
                  <a:cubicBezTo>
                    <a:pt x="98298" y="3566160"/>
                    <a:pt x="0" y="3467862"/>
                    <a:pt x="0" y="3346704"/>
                  </a:cubicBezTo>
                  <a:close/>
                </a:path>
              </a:pathLst>
            </a:custGeom>
            <a:solidFill>
              <a:srgbClr val="F5F5F4"/>
            </a:solidFill>
          </p:spPr>
          <p:txBody>
            <a:bodyPr/>
            <a:p/>
          </p:txBody>
        </p:sp>
      </p:grpSp>
      <p:grpSp>
        <p:nvGrpSpPr>
          <p:cNvPr name="Group 62" id="62"/>
          <p:cNvGrpSpPr/>
          <p:nvPr/>
        </p:nvGrpSpPr>
        <p:grpSpPr>
          <a:xfrm rot="0">
            <a:off x="12481560" y="6309360"/>
            <a:ext cx="960120" cy="960120"/>
            <a:chOff x="0" y="0"/>
            <a:chExt cx="1280160" cy="1280160"/>
          </a:xfrm>
        </p:grpSpPr>
        <p:sp>
          <p:nvSpPr>
            <p:cNvPr name="Freeform 63" id="63"/>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0F766E"/>
            </a:solidFill>
          </p:spPr>
          <p:txBody>
            <a:bodyPr/>
            <a:p/>
          </p:txBody>
        </p:sp>
      </p:grpSp>
      <p:grpSp>
        <p:nvGrpSpPr>
          <p:cNvPr name="Group 64" id="64"/>
          <p:cNvGrpSpPr/>
          <p:nvPr/>
        </p:nvGrpSpPr>
        <p:grpSpPr>
          <a:xfrm rot="0">
            <a:off x="12714732" y="6542532"/>
            <a:ext cx="493776" cy="493776"/>
            <a:chOff x="0" y="0"/>
            <a:chExt cx="658368" cy="658368"/>
          </a:xfrm>
        </p:grpSpPr>
        <p:sp>
          <p:nvSpPr>
            <p:cNvPr name="Freeform 65" id="65"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6"/>
              <a:stretch>
                <a:fillRect l="0" t="0" r="0" b="0"/>
              </a:stretch>
            </a:blipFill>
          </p:spPr>
          <p:txBody>
            <a:bodyPr/>
            <a:p/>
          </p:txBody>
        </p:sp>
      </p:grpSp>
      <p:grpSp>
        <p:nvGrpSpPr>
          <p:cNvPr name="Group 66" id="66"/>
          <p:cNvGrpSpPr/>
          <p:nvPr/>
        </p:nvGrpSpPr>
        <p:grpSpPr>
          <a:xfrm rot="0">
            <a:off x="13716000" y="6309360"/>
            <a:ext cx="3429000" cy="960120"/>
            <a:chOff x="0" y="0"/>
            <a:chExt cx="4572000" cy="1280160"/>
          </a:xfrm>
        </p:grpSpPr>
        <p:sp>
          <p:nvSpPr>
            <p:cNvPr name="Freeform 67" id="67"/>
            <p:cNvSpPr/>
            <p:nvPr/>
          </p:nvSpPr>
          <p:spPr>
            <a:xfrm flipH="false" flipV="false" rot="0">
              <a:off x="0" y="0"/>
              <a:ext cx="4572000" cy="1280160"/>
            </a:xfrm>
            <a:custGeom>
              <a:avLst/>
              <a:gdLst/>
              <a:ahLst/>
              <a:cxnLst/>
              <a:rect r="r" b="b" t="t" l="l"/>
              <a:pathLst>
                <a:path h="1280160" w="4572000">
                  <a:moveTo>
                    <a:pt x="0" y="0"/>
                  </a:moveTo>
                  <a:lnTo>
                    <a:pt x="4572000" y="0"/>
                  </a:lnTo>
                  <a:lnTo>
                    <a:pt x="4572000" y="1280160"/>
                  </a:lnTo>
                  <a:lnTo>
                    <a:pt x="0" y="1280160"/>
                  </a:lnTo>
                  <a:close/>
                </a:path>
              </a:pathLst>
            </a:custGeom>
            <a:blipFill>
              <a:blip r:embed="rId3">
                <a:alphaModFix amt="0"/>
              </a:blip>
              <a:stretch>
                <a:fillRect l="0" t="-19589" r="0" b="-19589"/>
              </a:stretch>
            </a:blipFill>
          </p:spPr>
          <p:txBody>
            <a:bodyPr/>
            <a:p/>
          </p:txBody>
        </p:sp>
        <p:sp>
          <p:nvSpPr>
            <p:cNvPr name="TextBox 68" id="68"/>
            <p:cNvSpPr txBox="true"/>
            <p:nvPr/>
          </p:nvSpPr>
          <p:spPr>
            <a:xfrm>
              <a:off x="0" y="-57150"/>
              <a:ext cx="4572000" cy="1337310"/>
            </a:xfrm>
            <a:prstGeom prst="rect">
              <a:avLst/>
            </a:prstGeom>
          </p:spPr>
          <p:txBody>
            <a:bodyPr anchor="ctr" rtlCol="false" tIns="0" lIns="0" bIns="0" rIns="0"/>
            <a:lstStyle/>
            <a:p>
              <a:pPr algn="l">
                <a:lnSpc>
                  <a:spcPts val="3419"/>
                </a:lnSpc>
              </a:pPr>
              <a:r>
                <a:rPr lang="en-US" sz="2850" b="true">
                  <a:solidFill>
                    <a:srgbClr val="0F766E"/>
                  </a:solidFill>
                  <a:latin typeface="Calibri"/>
                  <a:ea typeface="Calibri"/>
                  <a:cs typeface="Calibri"/>
                  <a:sym typeface="Calibri"/>
                </a:rPr>
                <a:t>Watchdog</a:t>
              </a:r>
            </a:p>
          </p:txBody>
        </p:sp>
      </p:grpSp>
      <p:sp>
        <p:nvSpPr>
          <p:cNvPr name="TextBox 69" id="69"/>
          <p:cNvSpPr txBox="true"/>
          <p:nvPr/>
        </p:nvSpPr>
        <p:spPr>
          <a:xfrm rot="0">
            <a:off x="12481560" y="7418070"/>
            <a:ext cx="4594860" cy="1017270"/>
          </a:xfrm>
          <a:prstGeom prst="rect">
            <a:avLst/>
          </a:prstGeom>
        </p:spPr>
        <p:txBody>
          <a:bodyPr anchor="t" rtlCol="false" tIns="0" lIns="0" bIns="0" rIns="0">
            <a:spAutoFit/>
          </a:bodyPr>
          <a:lstStyle/>
          <a:p>
            <a:pPr algn="l">
              <a:lnSpc>
                <a:spcPts val="2700"/>
              </a:lnSpc>
            </a:pPr>
            <a:r>
              <a:rPr lang="en-US" sz="2250">
                <a:solidFill>
                  <a:srgbClr val="1C1917"/>
                </a:solidFill>
                <a:latin typeface="Calibri"/>
                <a:ea typeface="Calibri"/>
                <a:cs typeface="Calibri"/>
                <a:sym typeface="Calibri"/>
              </a:rPr>
              <a:t>heartbeat endpoint, about once a minute</a:t>
            </a:r>
          </a:p>
        </p:txBody>
      </p:sp>
      <p:sp>
        <p:nvSpPr>
          <p:cNvPr name="TextBox 70" id="70"/>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5</a:t>
            </a:r>
          </a:p>
        </p:txBody>
      </p:sp>
      <p:grpSp>
        <p:nvGrpSpPr>
          <p:cNvPr name="Group 71" id="71"/>
          <p:cNvGrpSpPr/>
          <p:nvPr/>
        </p:nvGrpSpPr>
        <p:grpSpPr>
          <a:xfrm rot="0">
            <a:off x="125707" y="43858"/>
            <a:ext cx="3471606" cy="1028700"/>
            <a:chOff x="0" y="0"/>
            <a:chExt cx="2742997" cy="812800"/>
          </a:xfrm>
        </p:grpSpPr>
        <p:sp>
          <p:nvSpPr>
            <p:cNvPr name="Freeform 72" id="72"/>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7"/>
              <a:stretch>
                <a:fillRect l="-833" t="0" r="-833" b="0"/>
              </a:stretch>
            </a:blipFill>
          </p:spPr>
          <p:txBody>
            <a:bodyPr/>
            <a:p/>
          </p:txBody>
        </p:sp>
      </p:grpSp>
      <p:grpSp>
        <p:nvGrpSpPr>
          <p:cNvPr name="Group 73" id="73"/>
          <p:cNvGrpSpPr>
            <a:grpSpLocks noChangeAspect="true"/>
          </p:cNvGrpSpPr>
          <p:nvPr/>
        </p:nvGrpSpPr>
        <p:grpSpPr>
          <a:xfrm rot="5400000">
            <a:off x="11132594" y="2264880"/>
            <a:ext cx="311239" cy="13999572"/>
            <a:chOff x="0" y="0"/>
            <a:chExt cx="414986" cy="18666096"/>
          </a:xfrm>
        </p:grpSpPr>
        <p:sp>
          <p:nvSpPr>
            <p:cNvPr name="Freeform 74" id="74"/>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8"/>
              <a:stretch>
                <a:fillRect l="0" t="0" r="-274183" b="0"/>
              </a:stretch>
            </a:blipFill>
          </p:spPr>
          <p:txBody>
            <a:bodyPr/>
            <a:p/>
          </p:txBody>
        </p:sp>
      </p:grpSp>
      <p:grpSp>
        <p:nvGrpSpPr>
          <p:cNvPr name="Group 75" id="75"/>
          <p:cNvGrpSpPr>
            <a:grpSpLocks noChangeAspect="true"/>
          </p:cNvGrpSpPr>
          <p:nvPr/>
        </p:nvGrpSpPr>
        <p:grpSpPr>
          <a:xfrm rot="0">
            <a:off x="16490259" y="140413"/>
            <a:ext cx="1616205" cy="888287"/>
            <a:chOff x="0" y="0"/>
            <a:chExt cx="2627014" cy="1443840"/>
          </a:xfrm>
        </p:grpSpPr>
        <p:sp>
          <p:nvSpPr>
            <p:cNvPr name="Freeform 76" id="76"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9"/>
              <a:stretch>
                <a:fillRect l="0" t="0" r="0" b="-35871"/>
              </a:stretch>
            </a:blipFill>
          </p:spPr>
          <p:txBody>
            <a:body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sp>
      </p:grpSp>
      <p:grpSp>
        <p:nvGrpSpPr>
          <p:cNvPr name="Group 4" id="4"/>
          <p:cNvGrpSpPr/>
          <p:nvPr/>
        </p:nvGrpSpPr>
        <p:grpSpPr>
          <a:xfrm rot="0">
            <a:off x="1510104" y="47625"/>
            <a:ext cx="16596360" cy="1165860"/>
            <a:chOff x="0" y="0"/>
            <a:chExt cx="22128480" cy="1554480"/>
          </a:xfrm>
        </p:grpSpPr>
        <p:sp>
          <p:nvSpPr>
            <p:cNvPr name="Freeform 5" id="5"/>
            <p:cNvSpPr/>
            <p:nvPr/>
          </p:nvSpPr>
          <p:spPr>
            <a:xfrm flipH="false" flipV="false" rot="0">
              <a:off x="0" y="0"/>
              <a:ext cx="22128480" cy="1554480"/>
            </a:xfrm>
            <a:custGeom>
              <a:avLst/>
              <a:gdLst/>
              <a:ahLst/>
              <a:cxnLst/>
              <a:rect r="r" b="b" t="t" l="l"/>
              <a:pathLst>
                <a:path h="1554480" w="22128480">
                  <a:moveTo>
                    <a:pt x="0" y="0"/>
                  </a:moveTo>
                  <a:lnTo>
                    <a:pt x="22128480" y="0"/>
                  </a:lnTo>
                  <a:lnTo>
                    <a:pt x="22128480" y="1554480"/>
                  </a:lnTo>
                  <a:lnTo>
                    <a:pt x="0" y="1554480"/>
                  </a:lnTo>
                  <a:close/>
                </a:path>
              </a:pathLst>
            </a:custGeom>
            <a:blipFill>
              <a:blip r:embed="rId3">
                <a:alphaModFix amt="0"/>
              </a:blip>
              <a:stretch>
                <a:fillRect l="0" t="-227375" r="0" b="-227375"/>
              </a:stretch>
            </a:blipFill>
          </p:spPr>
        </p:sp>
        <p:sp>
          <p:nvSpPr>
            <p:cNvPr name="TextBox 6" id="6"/>
            <p:cNvSpPr txBox="true"/>
            <p:nvPr/>
          </p:nvSpPr>
          <p:spPr>
            <a:xfrm>
              <a:off x="0" y="-9525"/>
              <a:ext cx="22128480" cy="1564005"/>
            </a:xfrm>
            <a:prstGeom prst="rect">
              <a:avLst/>
            </a:prstGeom>
          </p:spPr>
          <p:txBody>
            <a:bodyPr anchor="ctr" rtlCol="false" tIns="0" lIns="0" bIns="0" rIns="0"/>
            <a:lstStyle/>
            <a:p>
              <a:pPr algn="ctr">
                <a:lnSpc>
                  <a:spcPts val="5759"/>
                </a:lnSpc>
              </a:pPr>
              <a:r>
                <a:rPr lang="en-US" sz="4800" b="true">
                  <a:solidFill>
                    <a:srgbClr val="1C1917"/>
                  </a:solidFill>
                  <a:latin typeface="Cambria"/>
                  <a:ea typeface="Cambria"/>
                  <a:cs typeface="Cambria"/>
                  <a:sym typeface="Cambria"/>
                </a:rPr>
                <a:t>Our setup: ten containers, one command</a:t>
              </a:r>
            </a:p>
          </p:txBody>
        </p:sp>
      </p:grpSp>
      <p:grpSp>
        <p:nvGrpSpPr>
          <p:cNvPr name="Group 7" id="7"/>
          <p:cNvGrpSpPr/>
          <p:nvPr/>
        </p:nvGrpSpPr>
        <p:grpSpPr>
          <a:xfrm rot="0">
            <a:off x="743738" y="1423656"/>
            <a:ext cx="11795760" cy="7475220"/>
            <a:chOff x="0" y="0"/>
            <a:chExt cx="15727680" cy="9966960"/>
          </a:xfrm>
        </p:grpSpPr>
        <p:sp>
          <p:nvSpPr>
            <p:cNvPr name="Freeform 8" id="8" descr="Architecture: traffic, OrderFlow API and Redis; blackbox exporter, cAdvisor and Redis exporter; Prometheus and Alertmanager; Mailpit and ops-chat"/>
            <p:cNvSpPr/>
            <p:nvPr/>
          </p:nvSpPr>
          <p:spPr>
            <a:xfrm flipH="false" flipV="false" rot="0">
              <a:off x="0" y="0"/>
              <a:ext cx="15727680" cy="9966960"/>
            </a:xfrm>
            <a:custGeom>
              <a:avLst/>
              <a:gdLst/>
              <a:ahLst/>
              <a:cxnLst/>
              <a:rect r="r" b="b" t="t" l="l"/>
              <a:pathLst>
                <a:path h="9966960" w="15727680">
                  <a:moveTo>
                    <a:pt x="0" y="0"/>
                  </a:moveTo>
                  <a:lnTo>
                    <a:pt x="15727680" y="0"/>
                  </a:lnTo>
                  <a:lnTo>
                    <a:pt x="15727680" y="9966960"/>
                  </a:lnTo>
                  <a:lnTo>
                    <a:pt x="0" y="9966960"/>
                  </a:lnTo>
                  <a:lnTo>
                    <a:pt x="0" y="0"/>
                  </a:lnTo>
                  <a:close/>
                </a:path>
              </a:pathLst>
            </a:custGeom>
            <a:blipFill>
              <a:blip r:embed="rId4"/>
              <a:stretch>
                <a:fillRect l="-30" t="0" r="-30" b="0"/>
              </a:stretch>
            </a:blipFill>
          </p:spPr>
        </p:sp>
      </p:grpSp>
      <p:grpSp>
        <p:nvGrpSpPr>
          <p:cNvPr name="Group 9" id="9"/>
          <p:cNvGrpSpPr/>
          <p:nvPr/>
        </p:nvGrpSpPr>
        <p:grpSpPr>
          <a:xfrm rot="0">
            <a:off x="13088138" y="1492236"/>
            <a:ext cx="4389120" cy="1028700"/>
            <a:chOff x="0" y="0"/>
            <a:chExt cx="5852160" cy="1371600"/>
          </a:xfrm>
        </p:grpSpPr>
        <p:sp>
          <p:nvSpPr>
            <p:cNvPr name="Freeform 10" id="10"/>
            <p:cNvSpPr/>
            <p:nvPr/>
          </p:nvSpPr>
          <p:spPr>
            <a:xfrm flipH="false" flipV="false" rot="0">
              <a:off x="0" y="0"/>
              <a:ext cx="5852160" cy="1371600"/>
            </a:xfrm>
            <a:custGeom>
              <a:avLst/>
              <a:gdLst/>
              <a:ahLst/>
              <a:cxnLst/>
              <a:rect r="r" b="b" t="t" l="l"/>
              <a:pathLst>
                <a:path h="1371600" w="5852160">
                  <a:moveTo>
                    <a:pt x="0" y="0"/>
                  </a:moveTo>
                  <a:lnTo>
                    <a:pt x="5852160" y="0"/>
                  </a:lnTo>
                  <a:lnTo>
                    <a:pt x="5852160" y="1371600"/>
                  </a:lnTo>
                  <a:lnTo>
                    <a:pt x="0" y="1371600"/>
                  </a:lnTo>
                  <a:close/>
                </a:path>
              </a:pathLst>
            </a:custGeom>
            <a:blipFill>
              <a:blip r:embed="rId3">
                <a:alphaModFix amt="0"/>
              </a:blip>
              <a:stretch>
                <a:fillRect l="0" t="-33136" r="0" b="-33136"/>
              </a:stretch>
            </a:blipFill>
          </p:spPr>
        </p:sp>
        <p:sp>
          <p:nvSpPr>
            <p:cNvPr name="TextBox 11" id="11"/>
            <p:cNvSpPr txBox="true"/>
            <p:nvPr/>
          </p:nvSpPr>
          <p:spPr>
            <a:xfrm>
              <a:off x="0" y="-9525"/>
              <a:ext cx="5852160" cy="1381125"/>
            </a:xfrm>
            <a:prstGeom prst="rect">
              <a:avLst/>
            </a:prstGeom>
          </p:spPr>
          <p:txBody>
            <a:bodyPr anchor="ctr" rtlCol="false" tIns="0" lIns="0" bIns="0" rIns="0"/>
            <a:lstStyle/>
            <a:p>
              <a:pPr algn="l">
                <a:lnSpc>
                  <a:spcPts val="7200"/>
                </a:lnSpc>
              </a:pPr>
              <a:r>
                <a:rPr lang="en-US" sz="6000" b="true">
                  <a:solidFill>
                    <a:srgbClr val="E6522C"/>
                  </a:solidFill>
                  <a:latin typeface="Cambria"/>
                  <a:ea typeface="Cambria"/>
                  <a:cs typeface="Cambria"/>
                  <a:sym typeface="Cambria"/>
                </a:rPr>
                <a:t>10</a:t>
              </a:r>
            </a:p>
          </p:txBody>
        </p:sp>
      </p:grpSp>
      <p:grpSp>
        <p:nvGrpSpPr>
          <p:cNvPr name="Group 12" id="12"/>
          <p:cNvGrpSpPr/>
          <p:nvPr/>
        </p:nvGrpSpPr>
        <p:grpSpPr>
          <a:xfrm rot="0">
            <a:off x="13088138" y="2479788"/>
            <a:ext cx="4389120" cy="548640"/>
            <a:chOff x="0" y="0"/>
            <a:chExt cx="5852160" cy="731520"/>
          </a:xfrm>
        </p:grpSpPr>
        <p:sp>
          <p:nvSpPr>
            <p:cNvPr name="Freeform 13" id="13"/>
            <p:cNvSpPr/>
            <p:nvPr/>
          </p:nvSpPr>
          <p:spPr>
            <a:xfrm flipH="false" flipV="false" rot="0">
              <a:off x="0" y="0"/>
              <a:ext cx="5852160" cy="731520"/>
            </a:xfrm>
            <a:custGeom>
              <a:avLst/>
              <a:gdLst/>
              <a:ahLst/>
              <a:cxnLst/>
              <a:rect r="r" b="b" t="t" l="l"/>
              <a:pathLst>
                <a:path h="731520" w="5852160">
                  <a:moveTo>
                    <a:pt x="0" y="0"/>
                  </a:moveTo>
                  <a:lnTo>
                    <a:pt x="5852160" y="0"/>
                  </a:lnTo>
                  <a:lnTo>
                    <a:pt x="5852160" y="731520"/>
                  </a:lnTo>
                  <a:lnTo>
                    <a:pt x="0" y="731520"/>
                  </a:lnTo>
                  <a:close/>
                </a:path>
              </a:pathLst>
            </a:custGeom>
            <a:blipFill>
              <a:blip r:embed="rId3">
                <a:alphaModFix amt="0"/>
              </a:blip>
              <a:stretch>
                <a:fillRect l="0" t="-105880" r="0" b="-105880"/>
              </a:stretch>
            </a:blipFill>
          </p:spPr>
        </p:sp>
        <p:sp>
          <p:nvSpPr>
            <p:cNvPr name="TextBox 14" id="14"/>
            <p:cNvSpPr txBox="true"/>
            <p:nvPr/>
          </p:nvSpPr>
          <p:spPr>
            <a:xfrm>
              <a:off x="0" y="-47625"/>
              <a:ext cx="5852160" cy="779145"/>
            </a:xfrm>
            <a:prstGeom prst="rect">
              <a:avLst/>
            </a:prstGeom>
          </p:spPr>
          <p:txBody>
            <a:bodyPr anchor="ctr" rtlCol="false" tIns="0" lIns="0" bIns="0" rIns="0"/>
            <a:lstStyle/>
            <a:p>
              <a:pPr algn="l">
                <a:lnSpc>
                  <a:spcPts val="2520"/>
                </a:lnSpc>
              </a:pPr>
              <a:r>
                <a:rPr lang="en-US" sz="2100">
                  <a:solidFill>
                    <a:srgbClr val="57534E"/>
                  </a:solidFill>
                  <a:latin typeface="Calibri"/>
                  <a:ea typeface="Calibri"/>
                  <a:cs typeface="Calibri"/>
                  <a:sym typeface="Calibri"/>
                </a:rPr>
                <a:t>containers via docker compose</a:t>
              </a:r>
            </a:p>
          </p:txBody>
        </p:sp>
      </p:grpSp>
      <p:grpSp>
        <p:nvGrpSpPr>
          <p:cNvPr name="Group 15" id="15"/>
          <p:cNvGrpSpPr/>
          <p:nvPr/>
        </p:nvGrpSpPr>
        <p:grpSpPr>
          <a:xfrm rot="0">
            <a:off x="13088138" y="3343896"/>
            <a:ext cx="4389120" cy="1028700"/>
            <a:chOff x="0" y="0"/>
            <a:chExt cx="5852160" cy="1371600"/>
          </a:xfrm>
        </p:grpSpPr>
        <p:sp>
          <p:nvSpPr>
            <p:cNvPr name="Freeform 16" id="16"/>
            <p:cNvSpPr/>
            <p:nvPr/>
          </p:nvSpPr>
          <p:spPr>
            <a:xfrm flipH="false" flipV="false" rot="0">
              <a:off x="0" y="0"/>
              <a:ext cx="5852160" cy="1371600"/>
            </a:xfrm>
            <a:custGeom>
              <a:avLst/>
              <a:gdLst/>
              <a:ahLst/>
              <a:cxnLst/>
              <a:rect r="r" b="b" t="t" l="l"/>
              <a:pathLst>
                <a:path h="1371600" w="5852160">
                  <a:moveTo>
                    <a:pt x="0" y="0"/>
                  </a:moveTo>
                  <a:lnTo>
                    <a:pt x="5852160" y="0"/>
                  </a:lnTo>
                  <a:lnTo>
                    <a:pt x="5852160" y="1371600"/>
                  </a:lnTo>
                  <a:lnTo>
                    <a:pt x="0" y="1371600"/>
                  </a:lnTo>
                  <a:close/>
                </a:path>
              </a:pathLst>
            </a:custGeom>
            <a:blipFill>
              <a:blip r:embed="rId3">
                <a:alphaModFix amt="0"/>
              </a:blip>
              <a:stretch>
                <a:fillRect l="0" t="-33136" r="0" b="-33136"/>
              </a:stretch>
            </a:blipFill>
          </p:spPr>
        </p:sp>
        <p:sp>
          <p:nvSpPr>
            <p:cNvPr name="TextBox 17" id="17"/>
            <p:cNvSpPr txBox="true"/>
            <p:nvPr/>
          </p:nvSpPr>
          <p:spPr>
            <a:xfrm>
              <a:off x="0" y="-9525"/>
              <a:ext cx="5852160" cy="1381125"/>
            </a:xfrm>
            <a:prstGeom prst="rect">
              <a:avLst/>
            </a:prstGeom>
          </p:spPr>
          <p:txBody>
            <a:bodyPr anchor="ctr" rtlCol="false" tIns="0" lIns="0" bIns="0" rIns="0"/>
            <a:lstStyle/>
            <a:p>
              <a:pPr algn="l">
                <a:lnSpc>
                  <a:spcPts val="7200"/>
                </a:lnSpc>
              </a:pPr>
              <a:r>
                <a:rPr lang="en-US" sz="6000" b="true">
                  <a:solidFill>
                    <a:srgbClr val="E6522C"/>
                  </a:solidFill>
                  <a:latin typeface="Cambria"/>
                  <a:ea typeface="Cambria"/>
                  <a:cs typeface="Cambria"/>
                  <a:sym typeface="Cambria"/>
                </a:rPr>
                <a:t>7</a:t>
              </a:r>
            </a:p>
          </p:txBody>
        </p:sp>
      </p:grpSp>
      <p:grpSp>
        <p:nvGrpSpPr>
          <p:cNvPr name="Group 18" id="18"/>
          <p:cNvGrpSpPr/>
          <p:nvPr/>
        </p:nvGrpSpPr>
        <p:grpSpPr>
          <a:xfrm rot="0">
            <a:off x="13088138" y="4331448"/>
            <a:ext cx="4389120" cy="548640"/>
            <a:chOff x="0" y="0"/>
            <a:chExt cx="5852160" cy="731520"/>
          </a:xfrm>
        </p:grpSpPr>
        <p:sp>
          <p:nvSpPr>
            <p:cNvPr name="Freeform 19" id="19"/>
            <p:cNvSpPr/>
            <p:nvPr/>
          </p:nvSpPr>
          <p:spPr>
            <a:xfrm flipH="false" flipV="false" rot="0">
              <a:off x="0" y="0"/>
              <a:ext cx="5852160" cy="731520"/>
            </a:xfrm>
            <a:custGeom>
              <a:avLst/>
              <a:gdLst/>
              <a:ahLst/>
              <a:cxnLst/>
              <a:rect r="r" b="b" t="t" l="l"/>
              <a:pathLst>
                <a:path h="731520" w="5852160">
                  <a:moveTo>
                    <a:pt x="0" y="0"/>
                  </a:moveTo>
                  <a:lnTo>
                    <a:pt x="5852160" y="0"/>
                  </a:lnTo>
                  <a:lnTo>
                    <a:pt x="5852160" y="731520"/>
                  </a:lnTo>
                  <a:lnTo>
                    <a:pt x="0" y="731520"/>
                  </a:lnTo>
                  <a:close/>
                </a:path>
              </a:pathLst>
            </a:custGeom>
            <a:blipFill>
              <a:blip r:embed="rId3">
                <a:alphaModFix amt="0"/>
              </a:blip>
              <a:stretch>
                <a:fillRect l="0" t="-105880" r="0" b="-105880"/>
              </a:stretch>
            </a:blipFill>
          </p:spPr>
        </p:sp>
        <p:sp>
          <p:nvSpPr>
            <p:cNvPr name="TextBox 20" id="20"/>
            <p:cNvSpPr txBox="true"/>
            <p:nvPr/>
          </p:nvSpPr>
          <p:spPr>
            <a:xfrm>
              <a:off x="0" y="-47625"/>
              <a:ext cx="5852160" cy="779145"/>
            </a:xfrm>
            <a:prstGeom prst="rect">
              <a:avLst/>
            </a:prstGeom>
          </p:spPr>
          <p:txBody>
            <a:bodyPr anchor="ctr" rtlCol="false" tIns="0" lIns="0" bIns="0" rIns="0"/>
            <a:lstStyle/>
            <a:p>
              <a:pPr algn="l">
                <a:lnSpc>
                  <a:spcPts val="2520"/>
                </a:lnSpc>
              </a:pPr>
              <a:r>
                <a:rPr lang="en-US" sz="2100">
                  <a:solidFill>
                    <a:srgbClr val="57534E"/>
                  </a:solidFill>
                  <a:latin typeface="Calibri"/>
                  <a:ea typeface="Calibri"/>
                  <a:cs typeface="Calibri"/>
                  <a:sym typeface="Calibri"/>
                </a:rPr>
                <a:t>scrape targets, every 5 s</a:t>
              </a:r>
            </a:p>
          </p:txBody>
        </p:sp>
      </p:grpSp>
      <p:grpSp>
        <p:nvGrpSpPr>
          <p:cNvPr name="Group 21" id="21"/>
          <p:cNvGrpSpPr/>
          <p:nvPr/>
        </p:nvGrpSpPr>
        <p:grpSpPr>
          <a:xfrm rot="0">
            <a:off x="13088138" y="5195556"/>
            <a:ext cx="4389120" cy="1028700"/>
            <a:chOff x="0" y="0"/>
            <a:chExt cx="5852160" cy="1371600"/>
          </a:xfrm>
        </p:grpSpPr>
        <p:sp>
          <p:nvSpPr>
            <p:cNvPr name="Freeform 22" id="22"/>
            <p:cNvSpPr/>
            <p:nvPr/>
          </p:nvSpPr>
          <p:spPr>
            <a:xfrm flipH="false" flipV="false" rot="0">
              <a:off x="0" y="0"/>
              <a:ext cx="5852160" cy="1371600"/>
            </a:xfrm>
            <a:custGeom>
              <a:avLst/>
              <a:gdLst/>
              <a:ahLst/>
              <a:cxnLst/>
              <a:rect r="r" b="b" t="t" l="l"/>
              <a:pathLst>
                <a:path h="1371600" w="5852160">
                  <a:moveTo>
                    <a:pt x="0" y="0"/>
                  </a:moveTo>
                  <a:lnTo>
                    <a:pt x="5852160" y="0"/>
                  </a:lnTo>
                  <a:lnTo>
                    <a:pt x="5852160" y="1371600"/>
                  </a:lnTo>
                  <a:lnTo>
                    <a:pt x="0" y="1371600"/>
                  </a:lnTo>
                  <a:close/>
                </a:path>
              </a:pathLst>
            </a:custGeom>
            <a:blipFill>
              <a:blip r:embed="rId3">
                <a:alphaModFix amt="0"/>
              </a:blip>
              <a:stretch>
                <a:fillRect l="0" t="-33136" r="0" b="-33136"/>
              </a:stretch>
            </a:blipFill>
          </p:spPr>
        </p:sp>
        <p:sp>
          <p:nvSpPr>
            <p:cNvPr name="TextBox 23" id="23"/>
            <p:cNvSpPr txBox="true"/>
            <p:nvPr/>
          </p:nvSpPr>
          <p:spPr>
            <a:xfrm>
              <a:off x="0" y="-9525"/>
              <a:ext cx="5852160" cy="1381125"/>
            </a:xfrm>
            <a:prstGeom prst="rect">
              <a:avLst/>
            </a:prstGeom>
          </p:spPr>
          <p:txBody>
            <a:bodyPr anchor="ctr" rtlCol="false" tIns="0" lIns="0" bIns="0" rIns="0"/>
            <a:lstStyle/>
            <a:p>
              <a:pPr algn="l">
                <a:lnSpc>
                  <a:spcPts val="7200"/>
                </a:lnSpc>
              </a:pPr>
              <a:r>
                <a:rPr lang="en-US" sz="6000" b="true">
                  <a:solidFill>
                    <a:srgbClr val="E6522C"/>
                  </a:solidFill>
                  <a:latin typeface="Cambria"/>
                  <a:ea typeface="Cambria"/>
                  <a:cs typeface="Cambria"/>
                  <a:sym typeface="Cambria"/>
                </a:rPr>
                <a:t>6 + 11</a:t>
              </a:r>
            </a:p>
          </p:txBody>
        </p:sp>
      </p:grpSp>
      <p:grpSp>
        <p:nvGrpSpPr>
          <p:cNvPr name="Group 24" id="24"/>
          <p:cNvGrpSpPr/>
          <p:nvPr/>
        </p:nvGrpSpPr>
        <p:grpSpPr>
          <a:xfrm rot="0">
            <a:off x="13088138" y="6183108"/>
            <a:ext cx="4389120" cy="548640"/>
            <a:chOff x="0" y="0"/>
            <a:chExt cx="5852160" cy="731520"/>
          </a:xfrm>
        </p:grpSpPr>
        <p:sp>
          <p:nvSpPr>
            <p:cNvPr name="Freeform 25" id="25"/>
            <p:cNvSpPr/>
            <p:nvPr/>
          </p:nvSpPr>
          <p:spPr>
            <a:xfrm flipH="false" flipV="false" rot="0">
              <a:off x="0" y="0"/>
              <a:ext cx="5852160" cy="731520"/>
            </a:xfrm>
            <a:custGeom>
              <a:avLst/>
              <a:gdLst/>
              <a:ahLst/>
              <a:cxnLst/>
              <a:rect r="r" b="b" t="t" l="l"/>
              <a:pathLst>
                <a:path h="731520" w="5852160">
                  <a:moveTo>
                    <a:pt x="0" y="0"/>
                  </a:moveTo>
                  <a:lnTo>
                    <a:pt x="5852160" y="0"/>
                  </a:lnTo>
                  <a:lnTo>
                    <a:pt x="5852160" y="731520"/>
                  </a:lnTo>
                  <a:lnTo>
                    <a:pt x="0" y="731520"/>
                  </a:lnTo>
                  <a:close/>
                </a:path>
              </a:pathLst>
            </a:custGeom>
            <a:blipFill>
              <a:blip r:embed="rId3">
                <a:alphaModFix amt="0"/>
              </a:blip>
              <a:stretch>
                <a:fillRect l="0" t="-105880" r="0" b="-105880"/>
              </a:stretch>
            </a:blipFill>
          </p:spPr>
        </p:sp>
        <p:sp>
          <p:nvSpPr>
            <p:cNvPr name="TextBox 26" id="26"/>
            <p:cNvSpPr txBox="true"/>
            <p:nvPr/>
          </p:nvSpPr>
          <p:spPr>
            <a:xfrm>
              <a:off x="0" y="-47625"/>
              <a:ext cx="5852160" cy="779145"/>
            </a:xfrm>
            <a:prstGeom prst="rect">
              <a:avLst/>
            </a:prstGeom>
          </p:spPr>
          <p:txBody>
            <a:bodyPr anchor="ctr" rtlCol="false" tIns="0" lIns="0" bIns="0" rIns="0"/>
            <a:lstStyle/>
            <a:p>
              <a:pPr algn="l">
                <a:lnSpc>
                  <a:spcPts val="2520"/>
                </a:lnSpc>
              </a:pPr>
              <a:r>
                <a:rPr lang="en-US" sz="2100">
                  <a:solidFill>
                    <a:srgbClr val="57534E"/>
                  </a:solidFill>
                  <a:latin typeface="Calibri"/>
                  <a:ea typeface="Calibri"/>
                  <a:cs typeface="Calibri"/>
                  <a:sym typeface="Calibri"/>
                </a:rPr>
                <a:t>recording + alert rules</a:t>
              </a:r>
            </a:p>
          </p:txBody>
        </p:sp>
      </p:grpSp>
      <p:grpSp>
        <p:nvGrpSpPr>
          <p:cNvPr name="Group 27" id="27"/>
          <p:cNvGrpSpPr/>
          <p:nvPr/>
        </p:nvGrpSpPr>
        <p:grpSpPr>
          <a:xfrm rot="0">
            <a:off x="13088138" y="7047216"/>
            <a:ext cx="4389120" cy="1028700"/>
            <a:chOff x="0" y="0"/>
            <a:chExt cx="5852160" cy="1371600"/>
          </a:xfrm>
        </p:grpSpPr>
        <p:sp>
          <p:nvSpPr>
            <p:cNvPr name="Freeform 28" id="28"/>
            <p:cNvSpPr/>
            <p:nvPr/>
          </p:nvSpPr>
          <p:spPr>
            <a:xfrm flipH="false" flipV="false" rot="0">
              <a:off x="0" y="0"/>
              <a:ext cx="5852160" cy="1371600"/>
            </a:xfrm>
            <a:custGeom>
              <a:avLst/>
              <a:gdLst/>
              <a:ahLst/>
              <a:cxnLst/>
              <a:rect r="r" b="b" t="t" l="l"/>
              <a:pathLst>
                <a:path h="1371600" w="5852160">
                  <a:moveTo>
                    <a:pt x="0" y="0"/>
                  </a:moveTo>
                  <a:lnTo>
                    <a:pt x="5852160" y="0"/>
                  </a:lnTo>
                  <a:lnTo>
                    <a:pt x="5852160" y="1371600"/>
                  </a:lnTo>
                  <a:lnTo>
                    <a:pt x="0" y="1371600"/>
                  </a:lnTo>
                  <a:close/>
                </a:path>
              </a:pathLst>
            </a:custGeom>
            <a:blipFill>
              <a:blip r:embed="rId3">
                <a:alphaModFix amt="0"/>
              </a:blip>
              <a:stretch>
                <a:fillRect l="0" t="-33136" r="0" b="-33136"/>
              </a:stretch>
            </a:blipFill>
          </p:spPr>
        </p:sp>
        <p:sp>
          <p:nvSpPr>
            <p:cNvPr name="TextBox 29" id="29"/>
            <p:cNvSpPr txBox="true"/>
            <p:nvPr/>
          </p:nvSpPr>
          <p:spPr>
            <a:xfrm>
              <a:off x="0" y="-9525"/>
              <a:ext cx="5852160" cy="1381125"/>
            </a:xfrm>
            <a:prstGeom prst="rect">
              <a:avLst/>
            </a:prstGeom>
          </p:spPr>
          <p:txBody>
            <a:bodyPr anchor="ctr" rtlCol="false" tIns="0" lIns="0" bIns="0" rIns="0"/>
            <a:lstStyle/>
            <a:p>
              <a:pPr algn="l">
                <a:lnSpc>
                  <a:spcPts val="7200"/>
                </a:lnSpc>
              </a:pPr>
              <a:r>
                <a:rPr lang="en-US" sz="6000" b="true">
                  <a:solidFill>
                    <a:srgbClr val="E6522C"/>
                  </a:solidFill>
                  <a:latin typeface="Cambria"/>
                  <a:ea typeface="Cambria"/>
                  <a:cs typeface="Cambria"/>
                  <a:sym typeface="Cambria"/>
                </a:rPr>
                <a:t>3</a:t>
              </a:r>
            </a:p>
          </p:txBody>
        </p:sp>
      </p:grpSp>
      <p:grpSp>
        <p:nvGrpSpPr>
          <p:cNvPr name="Group 30" id="30"/>
          <p:cNvGrpSpPr/>
          <p:nvPr/>
        </p:nvGrpSpPr>
        <p:grpSpPr>
          <a:xfrm rot="0">
            <a:off x="13088138" y="8034768"/>
            <a:ext cx="4389120" cy="548640"/>
            <a:chOff x="0" y="0"/>
            <a:chExt cx="5852160" cy="731520"/>
          </a:xfrm>
        </p:grpSpPr>
        <p:sp>
          <p:nvSpPr>
            <p:cNvPr name="Freeform 31" id="31"/>
            <p:cNvSpPr/>
            <p:nvPr/>
          </p:nvSpPr>
          <p:spPr>
            <a:xfrm flipH="false" flipV="false" rot="0">
              <a:off x="0" y="0"/>
              <a:ext cx="5852160" cy="731520"/>
            </a:xfrm>
            <a:custGeom>
              <a:avLst/>
              <a:gdLst/>
              <a:ahLst/>
              <a:cxnLst/>
              <a:rect r="r" b="b" t="t" l="l"/>
              <a:pathLst>
                <a:path h="731520" w="5852160">
                  <a:moveTo>
                    <a:pt x="0" y="0"/>
                  </a:moveTo>
                  <a:lnTo>
                    <a:pt x="5852160" y="0"/>
                  </a:lnTo>
                  <a:lnTo>
                    <a:pt x="5852160" y="731520"/>
                  </a:lnTo>
                  <a:lnTo>
                    <a:pt x="0" y="731520"/>
                  </a:lnTo>
                  <a:close/>
                </a:path>
              </a:pathLst>
            </a:custGeom>
            <a:blipFill>
              <a:blip r:embed="rId3">
                <a:alphaModFix amt="0"/>
              </a:blip>
              <a:stretch>
                <a:fillRect l="0" t="-105880" r="0" b="-105880"/>
              </a:stretch>
            </a:blipFill>
          </p:spPr>
        </p:sp>
        <p:sp>
          <p:nvSpPr>
            <p:cNvPr name="TextBox 32" id="32"/>
            <p:cNvSpPr txBox="true"/>
            <p:nvPr/>
          </p:nvSpPr>
          <p:spPr>
            <a:xfrm>
              <a:off x="0" y="-47625"/>
              <a:ext cx="5852160" cy="779145"/>
            </a:xfrm>
            <a:prstGeom prst="rect">
              <a:avLst/>
            </a:prstGeom>
          </p:spPr>
          <p:txBody>
            <a:bodyPr anchor="ctr" rtlCol="false" tIns="0" lIns="0" bIns="0" rIns="0"/>
            <a:lstStyle/>
            <a:p>
              <a:pPr algn="l">
                <a:lnSpc>
                  <a:spcPts val="2520"/>
                </a:lnSpc>
              </a:pPr>
              <a:r>
                <a:rPr lang="en-US" sz="2100">
                  <a:solidFill>
                    <a:srgbClr val="57534E"/>
                  </a:solidFill>
                  <a:latin typeface="Calibri"/>
                  <a:ea typeface="Calibri"/>
                  <a:cs typeface="Calibri"/>
                  <a:sym typeface="Calibri"/>
                </a:rPr>
                <a:t>receivers: email, chat, heartbeat</a:t>
              </a:r>
            </a:p>
          </p:txBody>
        </p:sp>
      </p:grpSp>
      <p:sp>
        <p:nvSpPr>
          <p:cNvPr name="TextBox 33" id="33"/>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6</a:t>
            </a:r>
          </a:p>
        </p:txBody>
      </p:sp>
      <p:grpSp>
        <p:nvGrpSpPr>
          <p:cNvPr name="Group 34" id="34"/>
          <p:cNvGrpSpPr/>
          <p:nvPr/>
        </p:nvGrpSpPr>
        <p:grpSpPr>
          <a:xfrm rot="0">
            <a:off x="125707" y="43858"/>
            <a:ext cx="3471606" cy="1028700"/>
            <a:chOff x="0" y="0"/>
            <a:chExt cx="2742997" cy="812800"/>
          </a:xfrm>
        </p:grpSpPr>
        <p:sp>
          <p:nvSpPr>
            <p:cNvPr name="Freeform 35" id="35"/>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5"/>
              <a:stretch>
                <a:fillRect l="-833" t="0" r="-833" b="0"/>
              </a:stretch>
            </a:blipFill>
          </p:spPr>
        </p:sp>
      </p:grpSp>
      <p:grpSp>
        <p:nvGrpSpPr>
          <p:cNvPr name="Group 36" id="36"/>
          <p:cNvGrpSpPr>
            <a:grpSpLocks noChangeAspect="true"/>
          </p:cNvGrpSpPr>
          <p:nvPr/>
        </p:nvGrpSpPr>
        <p:grpSpPr>
          <a:xfrm rot="5400000">
            <a:off x="11132594" y="2264880"/>
            <a:ext cx="311239" cy="13999572"/>
            <a:chOff x="0" y="0"/>
            <a:chExt cx="414986" cy="18666096"/>
          </a:xfrm>
        </p:grpSpPr>
        <p:sp>
          <p:nvSpPr>
            <p:cNvPr name="Freeform 37" id="37"/>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6"/>
              <a:stretch>
                <a:fillRect l="0" t="0" r="-274183" b="0"/>
              </a:stretch>
            </a:blipFill>
          </p:spPr>
        </p:sp>
      </p:grpSp>
      <p:grpSp>
        <p:nvGrpSpPr>
          <p:cNvPr name="Group 38" id="38"/>
          <p:cNvGrpSpPr>
            <a:grpSpLocks noChangeAspect="true"/>
          </p:cNvGrpSpPr>
          <p:nvPr/>
        </p:nvGrpSpPr>
        <p:grpSpPr>
          <a:xfrm rot="0">
            <a:off x="16490259" y="140413"/>
            <a:ext cx="1616205" cy="888287"/>
            <a:chOff x="0" y="0"/>
            <a:chExt cx="2627014" cy="1443840"/>
          </a:xfrm>
        </p:grpSpPr>
        <p:sp>
          <p:nvSpPr>
            <p:cNvPr name="Freeform 39" id="39"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7"/>
              <a:stretch>
                <a:fillRect l="0" t="0" r="0" b="-35871"/>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sp>
      </p:grpSp>
      <p:grpSp>
        <p:nvGrpSpPr>
          <p:cNvPr name="Group 4" id="4"/>
          <p:cNvGrpSpPr/>
          <p:nvPr/>
        </p:nvGrpSpPr>
        <p:grpSpPr>
          <a:xfrm rot="0">
            <a:off x="1481328" y="43858"/>
            <a:ext cx="16596360" cy="1165860"/>
            <a:chOff x="0" y="0"/>
            <a:chExt cx="22128480" cy="1554480"/>
          </a:xfrm>
        </p:grpSpPr>
        <p:sp>
          <p:nvSpPr>
            <p:cNvPr name="Freeform 5" id="5"/>
            <p:cNvSpPr/>
            <p:nvPr/>
          </p:nvSpPr>
          <p:spPr>
            <a:xfrm flipH="false" flipV="false" rot="0">
              <a:off x="0" y="0"/>
              <a:ext cx="22128480" cy="1554480"/>
            </a:xfrm>
            <a:custGeom>
              <a:avLst/>
              <a:gdLst/>
              <a:ahLst/>
              <a:cxnLst/>
              <a:rect r="r" b="b" t="t" l="l"/>
              <a:pathLst>
                <a:path h="1554480" w="22128480">
                  <a:moveTo>
                    <a:pt x="0" y="0"/>
                  </a:moveTo>
                  <a:lnTo>
                    <a:pt x="22128480" y="0"/>
                  </a:lnTo>
                  <a:lnTo>
                    <a:pt x="22128480" y="1554480"/>
                  </a:lnTo>
                  <a:lnTo>
                    <a:pt x="0" y="1554480"/>
                  </a:lnTo>
                  <a:close/>
                </a:path>
              </a:pathLst>
            </a:custGeom>
            <a:blipFill>
              <a:blip r:embed="rId3">
                <a:alphaModFix amt="0"/>
              </a:blip>
              <a:stretch>
                <a:fillRect l="0" t="-227375" r="0" b="-227375"/>
              </a:stretch>
            </a:blipFill>
          </p:spPr>
        </p:sp>
        <p:sp>
          <p:nvSpPr>
            <p:cNvPr name="TextBox 6" id="6"/>
            <p:cNvSpPr txBox="true"/>
            <p:nvPr/>
          </p:nvSpPr>
          <p:spPr>
            <a:xfrm>
              <a:off x="0" y="-9525"/>
              <a:ext cx="22128480" cy="1564005"/>
            </a:xfrm>
            <a:prstGeom prst="rect">
              <a:avLst/>
            </a:prstGeom>
          </p:spPr>
          <p:txBody>
            <a:bodyPr anchor="ctr" rtlCol="false" tIns="0" lIns="0" bIns="0" rIns="0"/>
            <a:lstStyle/>
            <a:p>
              <a:pPr algn="ctr">
                <a:lnSpc>
                  <a:spcPts val="5759"/>
                </a:lnSpc>
              </a:pPr>
              <a:r>
                <a:rPr lang="en-US" sz="4800" b="true">
                  <a:solidFill>
                    <a:srgbClr val="1C1917"/>
                  </a:solidFill>
                  <a:latin typeface="Cambria"/>
                  <a:ea typeface="Cambria"/>
                  <a:cs typeface="Cambria"/>
                  <a:sym typeface="Cambria"/>
                </a:rPr>
                <a:t>Three angles of monitoring</a:t>
              </a:r>
            </a:p>
          </p:txBody>
        </p:sp>
      </p:grpSp>
      <p:grpSp>
        <p:nvGrpSpPr>
          <p:cNvPr name="Group 7" id="7"/>
          <p:cNvGrpSpPr/>
          <p:nvPr/>
        </p:nvGrpSpPr>
        <p:grpSpPr>
          <a:xfrm rot="0">
            <a:off x="731520" y="1577340"/>
            <a:ext cx="5280660" cy="7132320"/>
            <a:chOff x="0" y="0"/>
            <a:chExt cx="7040880" cy="9509760"/>
          </a:xfrm>
        </p:grpSpPr>
        <p:sp>
          <p:nvSpPr>
            <p:cNvPr name="Freeform 8" id="8"/>
            <p:cNvSpPr/>
            <p:nvPr/>
          </p:nvSpPr>
          <p:spPr>
            <a:xfrm flipH="false" flipV="false" rot="0">
              <a:off x="0" y="0"/>
              <a:ext cx="7040880" cy="9509761"/>
            </a:xfrm>
            <a:custGeom>
              <a:avLst/>
              <a:gdLst/>
              <a:ahLst/>
              <a:cxnLst/>
              <a:rect r="r" b="b" t="t" l="l"/>
              <a:pathLst>
                <a:path h="9509761" w="7040880">
                  <a:moveTo>
                    <a:pt x="0" y="219456"/>
                  </a:moveTo>
                  <a:cubicBezTo>
                    <a:pt x="0" y="98298"/>
                    <a:pt x="98298" y="0"/>
                    <a:pt x="219456" y="0"/>
                  </a:cubicBezTo>
                  <a:lnTo>
                    <a:pt x="6821424" y="0"/>
                  </a:lnTo>
                  <a:cubicBezTo>
                    <a:pt x="6942582" y="0"/>
                    <a:pt x="7040880" y="98298"/>
                    <a:pt x="7040880" y="219456"/>
                  </a:cubicBezTo>
                  <a:lnTo>
                    <a:pt x="7040880" y="9290304"/>
                  </a:lnTo>
                  <a:cubicBezTo>
                    <a:pt x="7040880" y="9411462"/>
                    <a:pt x="6942582" y="9509761"/>
                    <a:pt x="6821424" y="9509761"/>
                  </a:cubicBezTo>
                  <a:lnTo>
                    <a:pt x="219456" y="9509761"/>
                  </a:lnTo>
                  <a:cubicBezTo>
                    <a:pt x="98298" y="9509760"/>
                    <a:pt x="0" y="9411462"/>
                    <a:pt x="0" y="9290304"/>
                  </a:cubicBezTo>
                  <a:close/>
                </a:path>
              </a:pathLst>
            </a:custGeom>
            <a:solidFill>
              <a:srgbClr val="F5F5F4"/>
            </a:solidFill>
          </p:spPr>
        </p:sp>
      </p:grpSp>
      <p:grpSp>
        <p:nvGrpSpPr>
          <p:cNvPr name="Group 9" id="9"/>
          <p:cNvGrpSpPr/>
          <p:nvPr/>
        </p:nvGrpSpPr>
        <p:grpSpPr>
          <a:xfrm rot="0">
            <a:off x="1143000" y="1920240"/>
            <a:ext cx="1028700" cy="1028700"/>
            <a:chOff x="0" y="0"/>
            <a:chExt cx="1371600" cy="1371600"/>
          </a:xfrm>
        </p:grpSpPr>
        <p:sp>
          <p:nvSpPr>
            <p:cNvPr name="Freeform 10" id="10"/>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E6522C"/>
            </a:solidFill>
          </p:spPr>
        </p:sp>
      </p:grpSp>
      <p:grpSp>
        <p:nvGrpSpPr>
          <p:cNvPr name="Group 11" id="11"/>
          <p:cNvGrpSpPr/>
          <p:nvPr/>
        </p:nvGrpSpPr>
        <p:grpSpPr>
          <a:xfrm rot="0">
            <a:off x="1389888" y="2167128"/>
            <a:ext cx="534924" cy="534924"/>
            <a:chOff x="0" y="0"/>
            <a:chExt cx="713232" cy="713232"/>
          </a:xfrm>
        </p:grpSpPr>
        <p:sp>
          <p:nvSpPr>
            <p:cNvPr name="Freeform 12" id="12" descr="preencoded.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4"/>
              <a:stretch>
                <a:fillRect l="0" t="0" r="0" b="0"/>
              </a:stretch>
            </a:blipFill>
          </p:spPr>
        </p:sp>
      </p:grpSp>
      <p:grpSp>
        <p:nvGrpSpPr>
          <p:cNvPr name="Group 13" id="13"/>
          <p:cNvGrpSpPr/>
          <p:nvPr/>
        </p:nvGrpSpPr>
        <p:grpSpPr>
          <a:xfrm rot="0">
            <a:off x="2377440" y="1920240"/>
            <a:ext cx="3429000" cy="1028700"/>
            <a:chOff x="0" y="0"/>
            <a:chExt cx="4572000" cy="1371600"/>
          </a:xfrm>
        </p:grpSpPr>
        <p:sp>
          <p:nvSpPr>
            <p:cNvPr name="Freeform 14" id="14"/>
            <p:cNvSpPr/>
            <p:nvPr/>
          </p:nvSpPr>
          <p:spPr>
            <a:xfrm flipH="false" flipV="false" rot="0">
              <a:off x="0" y="0"/>
              <a:ext cx="4572000" cy="1371600"/>
            </a:xfrm>
            <a:custGeom>
              <a:avLst/>
              <a:gdLst/>
              <a:ahLst/>
              <a:cxnLst/>
              <a:rect r="r" b="b" t="t" l="l"/>
              <a:pathLst>
                <a:path h="1371600" w="4572000">
                  <a:moveTo>
                    <a:pt x="0" y="0"/>
                  </a:moveTo>
                  <a:lnTo>
                    <a:pt x="4572000" y="0"/>
                  </a:lnTo>
                  <a:lnTo>
                    <a:pt x="4572000" y="1371600"/>
                  </a:lnTo>
                  <a:lnTo>
                    <a:pt x="0" y="1371600"/>
                  </a:lnTo>
                  <a:close/>
                </a:path>
              </a:pathLst>
            </a:custGeom>
            <a:blipFill>
              <a:blip r:embed="rId3">
                <a:alphaModFix amt="0"/>
              </a:blip>
              <a:stretch>
                <a:fillRect l="0" t="-14950" r="0" b="-14950"/>
              </a:stretch>
            </a:blipFill>
          </p:spPr>
        </p:sp>
        <p:sp>
          <p:nvSpPr>
            <p:cNvPr name="TextBox 15" id="15"/>
            <p:cNvSpPr txBox="true"/>
            <p:nvPr/>
          </p:nvSpPr>
          <p:spPr>
            <a:xfrm>
              <a:off x="0" y="-66675"/>
              <a:ext cx="4572000" cy="1438275"/>
            </a:xfrm>
            <a:prstGeom prst="rect">
              <a:avLst/>
            </a:prstGeom>
          </p:spPr>
          <p:txBody>
            <a:bodyPr anchor="ctr" rtlCol="false" tIns="0" lIns="0" bIns="0" rIns="0"/>
            <a:lstStyle/>
            <a:p>
              <a:pPr algn="l">
                <a:lnSpc>
                  <a:spcPts val="3779"/>
                </a:lnSpc>
              </a:pPr>
              <a:r>
                <a:rPr lang="en-US" sz="3150" b="true">
                  <a:solidFill>
                    <a:srgbClr val="1C1917"/>
                  </a:solidFill>
                  <a:latin typeface="Calibri"/>
                  <a:ea typeface="Calibri"/>
                  <a:cs typeface="Calibri"/>
                  <a:sym typeface="Calibri"/>
                </a:rPr>
                <a:t>White-box</a:t>
              </a:r>
            </a:p>
          </p:txBody>
        </p:sp>
      </p:grpSp>
      <p:sp>
        <p:nvSpPr>
          <p:cNvPr name="TextBox 16" id="16"/>
          <p:cNvSpPr txBox="true"/>
          <p:nvPr/>
        </p:nvSpPr>
        <p:spPr>
          <a:xfrm rot="0">
            <a:off x="1143000" y="3166110"/>
            <a:ext cx="4526280" cy="1360170"/>
          </a:xfrm>
          <a:prstGeom prst="rect">
            <a:avLst/>
          </a:prstGeom>
        </p:spPr>
        <p:txBody>
          <a:bodyPr anchor="t" rtlCol="false" tIns="0" lIns="0" bIns="0" rIns="0">
            <a:spAutoFit/>
          </a:bodyPr>
          <a:lstStyle/>
          <a:p>
            <a:pPr algn="l">
              <a:lnSpc>
                <a:spcPts val="2700"/>
              </a:lnSpc>
            </a:pPr>
            <a:r>
              <a:rPr lang="en-US" sz="2250">
                <a:solidFill>
                  <a:srgbClr val="1C1917"/>
                </a:solidFill>
                <a:latin typeface="Calibri"/>
                <a:ea typeface="Calibri"/>
                <a:cs typeface="Calibri"/>
                <a:sym typeface="Calibri"/>
              </a:rPr>
              <a:t>the app reports on itself through /metrics</a:t>
            </a:r>
          </a:p>
        </p:txBody>
      </p:sp>
      <p:grpSp>
        <p:nvGrpSpPr>
          <p:cNvPr name="Group 17" id="17"/>
          <p:cNvGrpSpPr/>
          <p:nvPr/>
        </p:nvGrpSpPr>
        <p:grpSpPr>
          <a:xfrm rot="0">
            <a:off x="1143000" y="4663440"/>
            <a:ext cx="4526280" cy="480060"/>
            <a:chOff x="0" y="0"/>
            <a:chExt cx="6035040" cy="640080"/>
          </a:xfrm>
        </p:grpSpPr>
        <p:sp>
          <p:nvSpPr>
            <p:cNvPr name="Freeform 18" id="18"/>
            <p:cNvSpPr/>
            <p:nvPr/>
          </p:nvSpPr>
          <p:spPr>
            <a:xfrm flipH="false" flipV="false" rot="0">
              <a:off x="0" y="0"/>
              <a:ext cx="6035040" cy="640080"/>
            </a:xfrm>
            <a:custGeom>
              <a:avLst/>
              <a:gdLst/>
              <a:ahLst/>
              <a:cxnLst/>
              <a:rect r="r" b="b" t="t" l="l"/>
              <a:pathLst>
                <a:path h="640080" w="6035040">
                  <a:moveTo>
                    <a:pt x="0" y="0"/>
                  </a:moveTo>
                  <a:lnTo>
                    <a:pt x="6035040" y="0"/>
                  </a:lnTo>
                  <a:lnTo>
                    <a:pt x="6035040" y="640080"/>
                  </a:lnTo>
                  <a:lnTo>
                    <a:pt x="0" y="640080"/>
                  </a:lnTo>
                  <a:close/>
                </a:path>
              </a:pathLst>
            </a:custGeom>
            <a:blipFill>
              <a:blip r:embed="rId3">
                <a:alphaModFix amt="0"/>
              </a:blip>
              <a:stretch>
                <a:fillRect l="0" t="-133716" r="0" b="-133716"/>
              </a:stretch>
            </a:blipFill>
          </p:spPr>
        </p:sp>
        <p:sp>
          <p:nvSpPr>
            <p:cNvPr name="TextBox 19" id="19"/>
            <p:cNvSpPr txBox="true"/>
            <p:nvPr/>
          </p:nvSpPr>
          <p:spPr>
            <a:xfrm>
              <a:off x="0" y="-47625"/>
              <a:ext cx="6035040" cy="687705"/>
            </a:xfrm>
            <a:prstGeom prst="rect">
              <a:avLst/>
            </a:prstGeom>
          </p:spPr>
          <p:txBody>
            <a:bodyPr anchor="ctr" rtlCol="false" tIns="0" lIns="0" bIns="0" rIns="0"/>
            <a:lstStyle/>
            <a:p>
              <a:pPr algn="l">
                <a:lnSpc>
                  <a:spcPts val="2520"/>
                </a:lnSpc>
              </a:pPr>
              <a:r>
                <a:rPr lang="en-US" sz="2100" b="true">
                  <a:solidFill>
                    <a:srgbClr val="E6522C"/>
                  </a:solidFill>
                  <a:latin typeface="Calibri"/>
                  <a:ea typeface="Calibri"/>
                  <a:cs typeface="Calibri"/>
                  <a:sym typeface="Calibri"/>
                </a:rPr>
                <a:t>Sees</a:t>
              </a:r>
            </a:p>
          </p:txBody>
        </p:sp>
      </p:grpSp>
      <p:sp>
        <p:nvSpPr>
          <p:cNvPr name="TextBox 20" id="20"/>
          <p:cNvSpPr txBox="true"/>
          <p:nvPr/>
        </p:nvSpPr>
        <p:spPr>
          <a:xfrm rot="0">
            <a:off x="1143000" y="5086350"/>
            <a:ext cx="4526280" cy="1223010"/>
          </a:xfrm>
          <a:prstGeom prst="rect">
            <a:avLst/>
          </a:prstGeom>
        </p:spPr>
        <p:txBody>
          <a:bodyPr anchor="t" rtlCol="false" tIns="0" lIns="0" bIns="0" rIns="0">
            <a:spAutoFit/>
          </a:bodyPr>
          <a:lstStyle/>
          <a:p>
            <a:pPr algn="l">
              <a:lnSpc>
                <a:spcPts val="2700"/>
              </a:lnSpc>
            </a:pPr>
            <a:r>
              <a:rPr lang="en-US" sz="2250">
                <a:solidFill>
                  <a:srgbClr val="57534E"/>
                </a:solidFill>
                <a:latin typeface="Calibri"/>
                <a:ea typeface="Calibri"/>
                <a:cs typeface="Calibri"/>
                <a:sym typeface="Calibri"/>
              </a:rPr>
              <a:t>request counts, latency histogram, Redis status</a:t>
            </a:r>
          </a:p>
        </p:txBody>
      </p:sp>
      <p:grpSp>
        <p:nvGrpSpPr>
          <p:cNvPr name="Group 21" id="21"/>
          <p:cNvGrpSpPr/>
          <p:nvPr/>
        </p:nvGrpSpPr>
        <p:grpSpPr>
          <a:xfrm rot="0">
            <a:off x="1143000" y="6446520"/>
            <a:ext cx="4526280" cy="480060"/>
            <a:chOff x="0" y="0"/>
            <a:chExt cx="6035040" cy="640080"/>
          </a:xfrm>
        </p:grpSpPr>
        <p:sp>
          <p:nvSpPr>
            <p:cNvPr name="Freeform 22" id="22"/>
            <p:cNvSpPr/>
            <p:nvPr/>
          </p:nvSpPr>
          <p:spPr>
            <a:xfrm flipH="false" flipV="false" rot="0">
              <a:off x="0" y="0"/>
              <a:ext cx="6035040" cy="640080"/>
            </a:xfrm>
            <a:custGeom>
              <a:avLst/>
              <a:gdLst/>
              <a:ahLst/>
              <a:cxnLst/>
              <a:rect r="r" b="b" t="t" l="l"/>
              <a:pathLst>
                <a:path h="640080" w="6035040">
                  <a:moveTo>
                    <a:pt x="0" y="0"/>
                  </a:moveTo>
                  <a:lnTo>
                    <a:pt x="6035040" y="0"/>
                  </a:lnTo>
                  <a:lnTo>
                    <a:pt x="6035040" y="640080"/>
                  </a:lnTo>
                  <a:lnTo>
                    <a:pt x="0" y="640080"/>
                  </a:lnTo>
                  <a:close/>
                </a:path>
              </a:pathLst>
            </a:custGeom>
            <a:blipFill>
              <a:blip r:embed="rId3">
                <a:alphaModFix amt="0"/>
              </a:blip>
              <a:stretch>
                <a:fillRect l="0" t="-133716" r="0" b="-133716"/>
              </a:stretch>
            </a:blipFill>
          </p:spPr>
        </p:sp>
        <p:sp>
          <p:nvSpPr>
            <p:cNvPr name="TextBox 23" id="23"/>
            <p:cNvSpPr txBox="true"/>
            <p:nvPr/>
          </p:nvSpPr>
          <p:spPr>
            <a:xfrm>
              <a:off x="0" y="-47625"/>
              <a:ext cx="6035040" cy="687705"/>
            </a:xfrm>
            <a:prstGeom prst="rect">
              <a:avLst/>
            </a:prstGeom>
          </p:spPr>
          <p:txBody>
            <a:bodyPr anchor="ctr" rtlCol="false" tIns="0" lIns="0" bIns="0" rIns="0"/>
            <a:lstStyle/>
            <a:p>
              <a:pPr algn="l">
                <a:lnSpc>
                  <a:spcPts val="2520"/>
                </a:lnSpc>
              </a:pPr>
              <a:r>
                <a:rPr lang="en-US" sz="2100" b="true">
                  <a:solidFill>
                    <a:srgbClr val="E6522C"/>
                  </a:solidFill>
                  <a:latin typeface="Calibri"/>
                  <a:ea typeface="Calibri"/>
                  <a:cs typeface="Calibri"/>
                  <a:sym typeface="Calibri"/>
                </a:rPr>
                <a:t>Catches</a:t>
              </a:r>
            </a:p>
          </p:txBody>
        </p:sp>
      </p:grpSp>
      <p:sp>
        <p:nvSpPr>
          <p:cNvPr name="TextBox 24" id="24"/>
          <p:cNvSpPr txBox="true"/>
          <p:nvPr/>
        </p:nvSpPr>
        <p:spPr>
          <a:xfrm rot="0">
            <a:off x="1143000" y="6869430"/>
            <a:ext cx="4526280" cy="1565910"/>
          </a:xfrm>
          <a:prstGeom prst="rect">
            <a:avLst/>
          </a:prstGeom>
        </p:spPr>
        <p:txBody>
          <a:bodyPr anchor="t" rtlCol="false" tIns="0" lIns="0" bIns="0" rIns="0">
            <a:spAutoFit/>
          </a:bodyPr>
          <a:lstStyle/>
          <a:p>
            <a:pPr algn="l">
              <a:lnSpc>
                <a:spcPts val="2700"/>
              </a:lnSpc>
            </a:pPr>
            <a:r>
              <a:rPr lang="en-US" sz="2250">
                <a:solidFill>
                  <a:srgbClr val="57534E"/>
                </a:solidFill>
                <a:latin typeface="Calibri"/>
                <a:ea typeface="Calibri"/>
                <a:cs typeface="Calibri"/>
                <a:sym typeface="Calibri"/>
              </a:rPr>
              <a:t>error spikes and slowness</a:t>
            </a:r>
          </a:p>
        </p:txBody>
      </p:sp>
      <p:grpSp>
        <p:nvGrpSpPr>
          <p:cNvPr name="Group 25" id="25"/>
          <p:cNvGrpSpPr/>
          <p:nvPr/>
        </p:nvGrpSpPr>
        <p:grpSpPr>
          <a:xfrm rot="0">
            <a:off x="6355080" y="1577340"/>
            <a:ext cx="5280660" cy="7132320"/>
            <a:chOff x="0" y="0"/>
            <a:chExt cx="7040880" cy="9509760"/>
          </a:xfrm>
        </p:grpSpPr>
        <p:sp>
          <p:nvSpPr>
            <p:cNvPr name="Freeform 26" id="26"/>
            <p:cNvSpPr/>
            <p:nvPr/>
          </p:nvSpPr>
          <p:spPr>
            <a:xfrm flipH="false" flipV="false" rot="0">
              <a:off x="0" y="0"/>
              <a:ext cx="7040880" cy="9509761"/>
            </a:xfrm>
            <a:custGeom>
              <a:avLst/>
              <a:gdLst/>
              <a:ahLst/>
              <a:cxnLst/>
              <a:rect r="r" b="b" t="t" l="l"/>
              <a:pathLst>
                <a:path h="9509761" w="7040880">
                  <a:moveTo>
                    <a:pt x="0" y="219456"/>
                  </a:moveTo>
                  <a:cubicBezTo>
                    <a:pt x="0" y="98298"/>
                    <a:pt x="98298" y="0"/>
                    <a:pt x="219456" y="0"/>
                  </a:cubicBezTo>
                  <a:lnTo>
                    <a:pt x="6821424" y="0"/>
                  </a:lnTo>
                  <a:cubicBezTo>
                    <a:pt x="6942582" y="0"/>
                    <a:pt x="7040880" y="98298"/>
                    <a:pt x="7040880" y="219456"/>
                  </a:cubicBezTo>
                  <a:lnTo>
                    <a:pt x="7040880" y="9290304"/>
                  </a:lnTo>
                  <a:cubicBezTo>
                    <a:pt x="7040880" y="9411462"/>
                    <a:pt x="6942582" y="9509761"/>
                    <a:pt x="6821424" y="9509761"/>
                  </a:cubicBezTo>
                  <a:lnTo>
                    <a:pt x="219456" y="9509761"/>
                  </a:lnTo>
                  <a:cubicBezTo>
                    <a:pt x="98298" y="9509760"/>
                    <a:pt x="0" y="9411462"/>
                    <a:pt x="0" y="9290304"/>
                  </a:cubicBezTo>
                  <a:close/>
                </a:path>
              </a:pathLst>
            </a:custGeom>
            <a:solidFill>
              <a:srgbClr val="F5F5F4"/>
            </a:solidFill>
          </p:spPr>
        </p:sp>
      </p:grpSp>
      <p:grpSp>
        <p:nvGrpSpPr>
          <p:cNvPr name="Group 27" id="27"/>
          <p:cNvGrpSpPr/>
          <p:nvPr/>
        </p:nvGrpSpPr>
        <p:grpSpPr>
          <a:xfrm rot="0">
            <a:off x="6766560" y="1920240"/>
            <a:ext cx="1028700" cy="1028700"/>
            <a:chOff x="0" y="0"/>
            <a:chExt cx="1371600" cy="1371600"/>
          </a:xfrm>
        </p:grpSpPr>
        <p:sp>
          <p:nvSpPr>
            <p:cNvPr name="Freeform 28" id="28"/>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E6522C"/>
            </a:solidFill>
          </p:spPr>
        </p:sp>
      </p:grpSp>
      <p:grpSp>
        <p:nvGrpSpPr>
          <p:cNvPr name="Group 29" id="29"/>
          <p:cNvGrpSpPr/>
          <p:nvPr/>
        </p:nvGrpSpPr>
        <p:grpSpPr>
          <a:xfrm rot="0">
            <a:off x="7013448" y="2167128"/>
            <a:ext cx="534924" cy="534924"/>
            <a:chOff x="0" y="0"/>
            <a:chExt cx="713232" cy="713232"/>
          </a:xfrm>
        </p:grpSpPr>
        <p:sp>
          <p:nvSpPr>
            <p:cNvPr name="Freeform 30" id="30" descr="preencoded.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5"/>
              <a:stretch>
                <a:fillRect l="0" t="0" r="0" b="0"/>
              </a:stretch>
            </a:blipFill>
          </p:spPr>
        </p:sp>
      </p:grpSp>
      <p:grpSp>
        <p:nvGrpSpPr>
          <p:cNvPr name="Group 31" id="31"/>
          <p:cNvGrpSpPr/>
          <p:nvPr/>
        </p:nvGrpSpPr>
        <p:grpSpPr>
          <a:xfrm rot="0">
            <a:off x="8001000" y="1920240"/>
            <a:ext cx="3429000" cy="1028700"/>
            <a:chOff x="0" y="0"/>
            <a:chExt cx="4572000" cy="1371600"/>
          </a:xfrm>
        </p:grpSpPr>
        <p:sp>
          <p:nvSpPr>
            <p:cNvPr name="Freeform 32" id="32"/>
            <p:cNvSpPr/>
            <p:nvPr/>
          </p:nvSpPr>
          <p:spPr>
            <a:xfrm flipH="false" flipV="false" rot="0">
              <a:off x="0" y="0"/>
              <a:ext cx="4572000" cy="1371600"/>
            </a:xfrm>
            <a:custGeom>
              <a:avLst/>
              <a:gdLst/>
              <a:ahLst/>
              <a:cxnLst/>
              <a:rect r="r" b="b" t="t" l="l"/>
              <a:pathLst>
                <a:path h="1371600" w="4572000">
                  <a:moveTo>
                    <a:pt x="0" y="0"/>
                  </a:moveTo>
                  <a:lnTo>
                    <a:pt x="4572000" y="0"/>
                  </a:lnTo>
                  <a:lnTo>
                    <a:pt x="4572000" y="1371600"/>
                  </a:lnTo>
                  <a:lnTo>
                    <a:pt x="0" y="1371600"/>
                  </a:lnTo>
                  <a:close/>
                </a:path>
              </a:pathLst>
            </a:custGeom>
            <a:blipFill>
              <a:blip r:embed="rId3">
                <a:alphaModFix amt="0"/>
              </a:blip>
              <a:stretch>
                <a:fillRect l="0" t="-14950" r="0" b="-14950"/>
              </a:stretch>
            </a:blipFill>
          </p:spPr>
        </p:sp>
        <p:sp>
          <p:nvSpPr>
            <p:cNvPr name="TextBox 33" id="33"/>
            <p:cNvSpPr txBox="true"/>
            <p:nvPr/>
          </p:nvSpPr>
          <p:spPr>
            <a:xfrm>
              <a:off x="0" y="-66675"/>
              <a:ext cx="4572000" cy="1438275"/>
            </a:xfrm>
            <a:prstGeom prst="rect">
              <a:avLst/>
            </a:prstGeom>
          </p:spPr>
          <p:txBody>
            <a:bodyPr anchor="ctr" rtlCol="false" tIns="0" lIns="0" bIns="0" rIns="0"/>
            <a:lstStyle/>
            <a:p>
              <a:pPr algn="l">
                <a:lnSpc>
                  <a:spcPts val="3779"/>
                </a:lnSpc>
              </a:pPr>
              <a:r>
                <a:rPr lang="en-US" sz="3150" b="true">
                  <a:solidFill>
                    <a:srgbClr val="1C1917"/>
                  </a:solidFill>
                  <a:latin typeface="Calibri"/>
                  <a:ea typeface="Calibri"/>
                  <a:cs typeface="Calibri"/>
                  <a:sym typeface="Calibri"/>
                </a:rPr>
                <a:t>Black-box</a:t>
              </a:r>
            </a:p>
          </p:txBody>
        </p:sp>
      </p:grpSp>
      <p:sp>
        <p:nvSpPr>
          <p:cNvPr name="TextBox 34" id="34"/>
          <p:cNvSpPr txBox="true"/>
          <p:nvPr/>
        </p:nvSpPr>
        <p:spPr>
          <a:xfrm rot="0">
            <a:off x="6766560" y="3166110"/>
            <a:ext cx="4526280" cy="1360170"/>
          </a:xfrm>
          <a:prstGeom prst="rect">
            <a:avLst/>
          </a:prstGeom>
        </p:spPr>
        <p:txBody>
          <a:bodyPr anchor="t" rtlCol="false" tIns="0" lIns="0" bIns="0" rIns="0">
            <a:spAutoFit/>
          </a:bodyPr>
          <a:lstStyle/>
          <a:p>
            <a:pPr algn="l">
              <a:lnSpc>
                <a:spcPts val="2700"/>
              </a:lnSpc>
            </a:pPr>
            <a:r>
              <a:rPr lang="en-US" sz="2250">
                <a:solidFill>
                  <a:srgbClr val="1C1917"/>
                </a:solidFill>
                <a:latin typeface="Calibri"/>
                <a:ea typeface="Calibri"/>
                <a:cs typeface="Calibri"/>
                <a:sym typeface="Calibri"/>
              </a:rPr>
              <a:t>the blackbox exporter calls /health and /ready like a user</a:t>
            </a:r>
          </a:p>
        </p:txBody>
      </p:sp>
      <p:grpSp>
        <p:nvGrpSpPr>
          <p:cNvPr name="Group 35" id="35"/>
          <p:cNvGrpSpPr/>
          <p:nvPr/>
        </p:nvGrpSpPr>
        <p:grpSpPr>
          <a:xfrm rot="0">
            <a:off x="6766560" y="4663440"/>
            <a:ext cx="4526280" cy="480060"/>
            <a:chOff x="0" y="0"/>
            <a:chExt cx="6035040" cy="640080"/>
          </a:xfrm>
        </p:grpSpPr>
        <p:sp>
          <p:nvSpPr>
            <p:cNvPr name="Freeform 36" id="36"/>
            <p:cNvSpPr/>
            <p:nvPr/>
          </p:nvSpPr>
          <p:spPr>
            <a:xfrm flipH="false" flipV="false" rot="0">
              <a:off x="0" y="0"/>
              <a:ext cx="6035040" cy="640080"/>
            </a:xfrm>
            <a:custGeom>
              <a:avLst/>
              <a:gdLst/>
              <a:ahLst/>
              <a:cxnLst/>
              <a:rect r="r" b="b" t="t" l="l"/>
              <a:pathLst>
                <a:path h="640080" w="6035040">
                  <a:moveTo>
                    <a:pt x="0" y="0"/>
                  </a:moveTo>
                  <a:lnTo>
                    <a:pt x="6035040" y="0"/>
                  </a:lnTo>
                  <a:lnTo>
                    <a:pt x="6035040" y="640080"/>
                  </a:lnTo>
                  <a:lnTo>
                    <a:pt x="0" y="640080"/>
                  </a:lnTo>
                  <a:close/>
                </a:path>
              </a:pathLst>
            </a:custGeom>
            <a:blipFill>
              <a:blip r:embed="rId3">
                <a:alphaModFix amt="0"/>
              </a:blip>
              <a:stretch>
                <a:fillRect l="0" t="-133716" r="0" b="-133716"/>
              </a:stretch>
            </a:blipFill>
          </p:spPr>
        </p:sp>
        <p:sp>
          <p:nvSpPr>
            <p:cNvPr name="TextBox 37" id="37"/>
            <p:cNvSpPr txBox="true"/>
            <p:nvPr/>
          </p:nvSpPr>
          <p:spPr>
            <a:xfrm>
              <a:off x="0" y="-47625"/>
              <a:ext cx="6035040" cy="687705"/>
            </a:xfrm>
            <a:prstGeom prst="rect">
              <a:avLst/>
            </a:prstGeom>
          </p:spPr>
          <p:txBody>
            <a:bodyPr anchor="ctr" rtlCol="false" tIns="0" lIns="0" bIns="0" rIns="0"/>
            <a:lstStyle/>
            <a:p>
              <a:pPr algn="l">
                <a:lnSpc>
                  <a:spcPts val="2520"/>
                </a:lnSpc>
              </a:pPr>
              <a:r>
                <a:rPr lang="en-US" sz="2100" b="true">
                  <a:solidFill>
                    <a:srgbClr val="E6522C"/>
                  </a:solidFill>
                  <a:latin typeface="Calibri"/>
                  <a:ea typeface="Calibri"/>
                  <a:cs typeface="Calibri"/>
                  <a:sym typeface="Calibri"/>
                </a:rPr>
                <a:t>Sees</a:t>
              </a:r>
            </a:p>
          </p:txBody>
        </p:sp>
      </p:grpSp>
      <p:sp>
        <p:nvSpPr>
          <p:cNvPr name="TextBox 38" id="38"/>
          <p:cNvSpPr txBox="true"/>
          <p:nvPr/>
        </p:nvSpPr>
        <p:spPr>
          <a:xfrm rot="0">
            <a:off x="6766560" y="5086350"/>
            <a:ext cx="4526280" cy="1223010"/>
          </a:xfrm>
          <a:prstGeom prst="rect">
            <a:avLst/>
          </a:prstGeom>
        </p:spPr>
        <p:txBody>
          <a:bodyPr anchor="t" rtlCol="false" tIns="0" lIns="0" bIns="0" rIns="0">
            <a:spAutoFit/>
          </a:bodyPr>
          <a:lstStyle/>
          <a:p>
            <a:pPr algn="l">
              <a:lnSpc>
                <a:spcPts val="2700"/>
              </a:lnSpc>
            </a:pPr>
            <a:r>
              <a:rPr lang="en-US" sz="2250">
                <a:solidFill>
                  <a:srgbClr val="57534E"/>
                </a:solidFill>
                <a:latin typeface="Calibri"/>
                <a:ea typeface="Calibri"/>
                <a:cs typeface="Calibri"/>
                <a:sym typeface="Calibri"/>
              </a:rPr>
              <a:t>probe_success, probe duration</a:t>
            </a:r>
          </a:p>
        </p:txBody>
      </p:sp>
      <p:grpSp>
        <p:nvGrpSpPr>
          <p:cNvPr name="Group 39" id="39"/>
          <p:cNvGrpSpPr/>
          <p:nvPr/>
        </p:nvGrpSpPr>
        <p:grpSpPr>
          <a:xfrm rot="0">
            <a:off x="6766560" y="6446520"/>
            <a:ext cx="4526280" cy="480060"/>
            <a:chOff x="0" y="0"/>
            <a:chExt cx="6035040" cy="640080"/>
          </a:xfrm>
        </p:grpSpPr>
        <p:sp>
          <p:nvSpPr>
            <p:cNvPr name="Freeform 40" id="40"/>
            <p:cNvSpPr/>
            <p:nvPr/>
          </p:nvSpPr>
          <p:spPr>
            <a:xfrm flipH="false" flipV="false" rot="0">
              <a:off x="0" y="0"/>
              <a:ext cx="6035040" cy="640080"/>
            </a:xfrm>
            <a:custGeom>
              <a:avLst/>
              <a:gdLst/>
              <a:ahLst/>
              <a:cxnLst/>
              <a:rect r="r" b="b" t="t" l="l"/>
              <a:pathLst>
                <a:path h="640080" w="6035040">
                  <a:moveTo>
                    <a:pt x="0" y="0"/>
                  </a:moveTo>
                  <a:lnTo>
                    <a:pt x="6035040" y="0"/>
                  </a:lnTo>
                  <a:lnTo>
                    <a:pt x="6035040" y="640080"/>
                  </a:lnTo>
                  <a:lnTo>
                    <a:pt x="0" y="640080"/>
                  </a:lnTo>
                  <a:close/>
                </a:path>
              </a:pathLst>
            </a:custGeom>
            <a:blipFill>
              <a:blip r:embed="rId3">
                <a:alphaModFix amt="0"/>
              </a:blip>
              <a:stretch>
                <a:fillRect l="0" t="-133716" r="0" b="-133716"/>
              </a:stretch>
            </a:blipFill>
          </p:spPr>
        </p:sp>
        <p:sp>
          <p:nvSpPr>
            <p:cNvPr name="TextBox 41" id="41"/>
            <p:cNvSpPr txBox="true"/>
            <p:nvPr/>
          </p:nvSpPr>
          <p:spPr>
            <a:xfrm>
              <a:off x="0" y="-47625"/>
              <a:ext cx="6035040" cy="687705"/>
            </a:xfrm>
            <a:prstGeom prst="rect">
              <a:avLst/>
            </a:prstGeom>
          </p:spPr>
          <p:txBody>
            <a:bodyPr anchor="ctr" rtlCol="false" tIns="0" lIns="0" bIns="0" rIns="0"/>
            <a:lstStyle/>
            <a:p>
              <a:pPr algn="l">
                <a:lnSpc>
                  <a:spcPts val="2520"/>
                </a:lnSpc>
              </a:pPr>
              <a:r>
                <a:rPr lang="en-US" sz="2100" b="true">
                  <a:solidFill>
                    <a:srgbClr val="E6522C"/>
                  </a:solidFill>
                  <a:latin typeface="Calibri"/>
                  <a:ea typeface="Calibri"/>
                  <a:cs typeface="Calibri"/>
                  <a:sym typeface="Calibri"/>
                </a:rPr>
                <a:t>Catches</a:t>
              </a:r>
            </a:p>
          </p:txBody>
        </p:sp>
      </p:grpSp>
      <p:sp>
        <p:nvSpPr>
          <p:cNvPr name="TextBox 42" id="42"/>
          <p:cNvSpPr txBox="true"/>
          <p:nvPr/>
        </p:nvSpPr>
        <p:spPr>
          <a:xfrm rot="0">
            <a:off x="6766560" y="6869430"/>
            <a:ext cx="4526280" cy="1565910"/>
          </a:xfrm>
          <a:prstGeom prst="rect">
            <a:avLst/>
          </a:prstGeom>
        </p:spPr>
        <p:txBody>
          <a:bodyPr anchor="t" rtlCol="false" tIns="0" lIns="0" bIns="0" rIns="0">
            <a:spAutoFit/>
          </a:bodyPr>
          <a:lstStyle/>
          <a:p>
            <a:pPr algn="l">
              <a:lnSpc>
                <a:spcPts val="2700"/>
              </a:lnSpc>
            </a:pPr>
            <a:r>
              <a:rPr lang="en-US" sz="2250">
                <a:solidFill>
                  <a:srgbClr val="57534E"/>
                </a:solidFill>
                <a:latin typeface="Calibri"/>
                <a:ea typeface="Calibri"/>
                <a:cs typeface="Calibri"/>
                <a:sym typeface="Calibri"/>
              </a:rPr>
              <a:t>a hang: /metrics still answers (up = 1) but users time out</a:t>
            </a:r>
          </a:p>
        </p:txBody>
      </p:sp>
      <p:grpSp>
        <p:nvGrpSpPr>
          <p:cNvPr name="Group 43" id="43"/>
          <p:cNvGrpSpPr/>
          <p:nvPr/>
        </p:nvGrpSpPr>
        <p:grpSpPr>
          <a:xfrm rot="0">
            <a:off x="11978640" y="1577340"/>
            <a:ext cx="5280660" cy="7132320"/>
            <a:chOff x="0" y="0"/>
            <a:chExt cx="7040880" cy="9509760"/>
          </a:xfrm>
        </p:grpSpPr>
        <p:sp>
          <p:nvSpPr>
            <p:cNvPr name="Freeform 44" id="44"/>
            <p:cNvSpPr/>
            <p:nvPr/>
          </p:nvSpPr>
          <p:spPr>
            <a:xfrm flipH="false" flipV="false" rot="0">
              <a:off x="0" y="0"/>
              <a:ext cx="7040880" cy="9509761"/>
            </a:xfrm>
            <a:custGeom>
              <a:avLst/>
              <a:gdLst/>
              <a:ahLst/>
              <a:cxnLst/>
              <a:rect r="r" b="b" t="t" l="l"/>
              <a:pathLst>
                <a:path h="9509761" w="7040880">
                  <a:moveTo>
                    <a:pt x="0" y="219456"/>
                  </a:moveTo>
                  <a:cubicBezTo>
                    <a:pt x="0" y="98298"/>
                    <a:pt x="98298" y="0"/>
                    <a:pt x="219456" y="0"/>
                  </a:cubicBezTo>
                  <a:lnTo>
                    <a:pt x="6821424" y="0"/>
                  </a:lnTo>
                  <a:cubicBezTo>
                    <a:pt x="6942582" y="0"/>
                    <a:pt x="7040880" y="98298"/>
                    <a:pt x="7040880" y="219456"/>
                  </a:cubicBezTo>
                  <a:lnTo>
                    <a:pt x="7040880" y="9290304"/>
                  </a:lnTo>
                  <a:cubicBezTo>
                    <a:pt x="7040880" y="9411462"/>
                    <a:pt x="6942582" y="9509761"/>
                    <a:pt x="6821424" y="9509761"/>
                  </a:cubicBezTo>
                  <a:lnTo>
                    <a:pt x="219456" y="9509761"/>
                  </a:lnTo>
                  <a:cubicBezTo>
                    <a:pt x="98298" y="9509760"/>
                    <a:pt x="0" y="9411462"/>
                    <a:pt x="0" y="9290304"/>
                  </a:cubicBezTo>
                  <a:close/>
                </a:path>
              </a:pathLst>
            </a:custGeom>
            <a:solidFill>
              <a:srgbClr val="F5F5F4"/>
            </a:solidFill>
          </p:spPr>
        </p:sp>
      </p:grpSp>
      <p:grpSp>
        <p:nvGrpSpPr>
          <p:cNvPr name="Group 45" id="45"/>
          <p:cNvGrpSpPr/>
          <p:nvPr/>
        </p:nvGrpSpPr>
        <p:grpSpPr>
          <a:xfrm rot="0">
            <a:off x="12390120" y="1920240"/>
            <a:ext cx="1028700" cy="1028700"/>
            <a:chOff x="0" y="0"/>
            <a:chExt cx="1371600" cy="1371600"/>
          </a:xfrm>
        </p:grpSpPr>
        <p:sp>
          <p:nvSpPr>
            <p:cNvPr name="Freeform 46" id="46"/>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E6522C"/>
            </a:solidFill>
          </p:spPr>
        </p:sp>
      </p:grpSp>
      <p:grpSp>
        <p:nvGrpSpPr>
          <p:cNvPr name="Group 47" id="47"/>
          <p:cNvGrpSpPr/>
          <p:nvPr/>
        </p:nvGrpSpPr>
        <p:grpSpPr>
          <a:xfrm rot="0">
            <a:off x="12637008" y="2167128"/>
            <a:ext cx="534924" cy="534924"/>
            <a:chOff x="0" y="0"/>
            <a:chExt cx="713232" cy="713232"/>
          </a:xfrm>
        </p:grpSpPr>
        <p:sp>
          <p:nvSpPr>
            <p:cNvPr name="Freeform 48" id="48" descr="preencoded.png"/>
            <p:cNvSpPr/>
            <p:nvPr/>
          </p:nvSpPr>
          <p:spPr>
            <a:xfrm flipH="false" flipV="false" rot="0">
              <a:off x="0" y="0"/>
              <a:ext cx="713232" cy="713232"/>
            </a:xfrm>
            <a:custGeom>
              <a:avLst/>
              <a:gdLst/>
              <a:ahLst/>
              <a:cxnLst/>
              <a:rect r="r" b="b" t="t" l="l"/>
              <a:pathLst>
                <a:path h="713232" w="713232">
                  <a:moveTo>
                    <a:pt x="0" y="0"/>
                  </a:moveTo>
                  <a:lnTo>
                    <a:pt x="713232" y="0"/>
                  </a:lnTo>
                  <a:lnTo>
                    <a:pt x="713232" y="713232"/>
                  </a:lnTo>
                  <a:lnTo>
                    <a:pt x="0" y="713232"/>
                  </a:lnTo>
                  <a:lnTo>
                    <a:pt x="0" y="0"/>
                  </a:lnTo>
                  <a:close/>
                </a:path>
              </a:pathLst>
            </a:custGeom>
            <a:blipFill>
              <a:blip r:embed="rId6"/>
              <a:stretch>
                <a:fillRect l="0" t="0" r="0" b="0"/>
              </a:stretch>
            </a:blipFill>
          </p:spPr>
        </p:sp>
      </p:grpSp>
      <p:grpSp>
        <p:nvGrpSpPr>
          <p:cNvPr name="Group 49" id="49"/>
          <p:cNvGrpSpPr/>
          <p:nvPr/>
        </p:nvGrpSpPr>
        <p:grpSpPr>
          <a:xfrm rot="0">
            <a:off x="13624560" y="1920240"/>
            <a:ext cx="3429000" cy="1028700"/>
            <a:chOff x="0" y="0"/>
            <a:chExt cx="4572000" cy="1371600"/>
          </a:xfrm>
        </p:grpSpPr>
        <p:sp>
          <p:nvSpPr>
            <p:cNvPr name="Freeform 50" id="50"/>
            <p:cNvSpPr/>
            <p:nvPr/>
          </p:nvSpPr>
          <p:spPr>
            <a:xfrm flipH="false" flipV="false" rot="0">
              <a:off x="0" y="0"/>
              <a:ext cx="4572000" cy="1371600"/>
            </a:xfrm>
            <a:custGeom>
              <a:avLst/>
              <a:gdLst/>
              <a:ahLst/>
              <a:cxnLst/>
              <a:rect r="r" b="b" t="t" l="l"/>
              <a:pathLst>
                <a:path h="1371600" w="4572000">
                  <a:moveTo>
                    <a:pt x="0" y="0"/>
                  </a:moveTo>
                  <a:lnTo>
                    <a:pt x="4572000" y="0"/>
                  </a:lnTo>
                  <a:lnTo>
                    <a:pt x="4572000" y="1371600"/>
                  </a:lnTo>
                  <a:lnTo>
                    <a:pt x="0" y="1371600"/>
                  </a:lnTo>
                  <a:close/>
                </a:path>
              </a:pathLst>
            </a:custGeom>
            <a:blipFill>
              <a:blip r:embed="rId3">
                <a:alphaModFix amt="0"/>
              </a:blip>
              <a:stretch>
                <a:fillRect l="0" t="-14950" r="0" b="-14950"/>
              </a:stretch>
            </a:blipFill>
          </p:spPr>
        </p:sp>
        <p:sp>
          <p:nvSpPr>
            <p:cNvPr name="TextBox 51" id="51"/>
            <p:cNvSpPr txBox="true"/>
            <p:nvPr/>
          </p:nvSpPr>
          <p:spPr>
            <a:xfrm>
              <a:off x="0" y="-66675"/>
              <a:ext cx="4572000" cy="1438275"/>
            </a:xfrm>
            <a:prstGeom prst="rect">
              <a:avLst/>
            </a:prstGeom>
          </p:spPr>
          <p:txBody>
            <a:bodyPr anchor="ctr" rtlCol="false" tIns="0" lIns="0" bIns="0" rIns="0"/>
            <a:lstStyle/>
            <a:p>
              <a:pPr algn="l">
                <a:lnSpc>
                  <a:spcPts val="3779"/>
                </a:lnSpc>
              </a:pPr>
              <a:r>
                <a:rPr lang="en-US" sz="3150" b="true">
                  <a:solidFill>
                    <a:srgbClr val="1C1917"/>
                  </a:solidFill>
                  <a:latin typeface="Calibri"/>
                  <a:ea typeface="Calibri"/>
                  <a:cs typeface="Calibri"/>
                  <a:sym typeface="Calibri"/>
                </a:rPr>
                <a:t>Container-level</a:t>
              </a:r>
            </a:p>
          </p:txBody>
        </p:sp>
      </p:grpSp>
      <p:sp>
        <p:nvSpPr>
          <p:cNvPr name="TextBox 52" id="52"/>
          <p:cNvSpPr txBox="true"/>
          <p:nvPr/>
        </p:nvSpPr>
        <p:spPr>
          <a:xfrm rot="0">
            <a:off x="12390120" y="3166110"/>
            <a:ext cx="4526280" cy="1360170"/>
          </a:xfrm>
          <a:prstGeom prst="rect">
            <a:avLst/>
          </a:prstGeom>
        </p:spPr>
        <p:txBody>
          <a:bodyPr anchor="t" rtlCol="false" tIns="0" lIns="0" bIns="0" rIns="0">
            <a:spAutoFit/>
          </a:bodyPr>
          <a:lstStyle/>
          <a:p>
            <a:pPr algn="l">
              <a:lnSpc>
                <a:spcPts val="2700"/>
              </a:lnSpc>
            </a:pPr>
            <a:r>
              <a:rPr lang="en-US" sz="2250">
                <a:solidFill>
                  <a:srgbClr val="1C1917"/>
                </a:solidFill>
                <a:latin typeface="Calibri"/>
                <a:ea typeface="Calibri"/>
                <a:cs typeface="Calibri"/>
                <a:sym typeface="Calibri"/>
              </a:rPr>
              <a:t>cAdvisor reads every container's cgroups</a:t>
            </a:r>
          </a:p>
        </p:txBody>
      </p:sp>
      <p:grpSp>
        <p:nvGrpSpPr>
          <p:cNvPr name="Group 53" id="53"/>
          <p:cNvGrpSpPr/>
          <p:nvPr/>
        </p:nvGrpSpPr>
        <p:grpSpPr>
          <a:xfrm rot="0">
            <a:off x="12390120" y="4663440"/>
            <a:ext cx="4526280" cy="480060"/>
            <a:chOff x="0" y="0"/>
            <a:chExt cx="6035040" cy="640080"/>
          </a:xfrm>
        </p:grpSpPr>
        <p:sp>
          <p:nvSpPr>
            <p:cNvPr name="Freeform 54" id="54"/>
            <p:cNvSpPr/>
            <p:nvPr/>
          </p:nvSpPr>
          <p:spPr>
            <a:xfrm flipH="false" flipV="false" rot="0">
              <a:off x="0" y="0"/>
              <a:ext cx="6035040" cy="640080"/>
            </a:xfrm>
            <a:custGeom>
              <a:avLst/>
              <a:gdLst/>
              <a:ahLst/>
              <a:cxnLst/>
              <a:rect r="r" b="b" t="t" l="l"/>
              <a:pathLst>
                <a:path h="640080" w="6035040">
                  <a:moveTo>
                    <a:pt x="0" y="0"/>
                  </a:moveTo>
                  <a:lnTo>
                    <a:pt x="6035040" y="0"/>
                  </a:lnTo>
                  <a:lnTo>
                    <a:pt x="6035040" y="640080"/>
                  </a:lnTo>
                  <a:lnTo>
                    <a:pt x="0" y="640080"/>
                  </a:lnTo>
                  <a:close/>
                </a:path>
              </a:pathLst>
            </a:custGeom>
            <a:blipFill>
              <a:blip r:embed="rId3">
                <a:alphaModFix amt="0"/>
              </a:blip>
              <a:stretch>
                <a:fillRect l="0" t="-133716" r="0" b="-133716"/>
              </a:stretch>
            </a:blipFill>
          </p:spPr>
        </p:sp>
        <p:sp>
          <p:nvSpPr>
            <p:cNvPr name="TextBox 55" id="55"/>
            <p:cNvSpPr txBox="true"/>
            <p:nvPr/>
          </p:nvSpPr>
          <p:spPr>
            <a:xfrm>
              <a:off x="0" y="-47625"/>
              <a:ext cx="6035040" cy="687705"/>
            </a:xfrm>
            <a:prstGeom prst="rect">
              <a:avLst/>
            </a:prstGeom>
          </p:spPr>
          <p:txBody>
            <a:bodyPr anchor="ctr" rtlCol="false" tIns="0" lIns="0" bIns="0" rIns="0"/>
            <a:lstStyle/>
            <a:p>
              <a:pPr algn="l">
                <a:lnSpc>
                  <a:spcPts val="2520"/>
                </a:lnSpc>
              </a:pPr>
              <a:r>
                <a:rPr lang="en-US" sz="2100" b="true">
                  <a:solidFill>
                    <a:srgbClr val="E6522C"/>
                  </a:solidFill>
                  <a:latin typeface="Calibri"/>
                  <a:ea typeface="Calibri"/>
                  <a:cs typeface="Calibri"/>
                  <a:sym typeface="Calibri"/>
                </a:rPr>
                <a:t>Sees</a:t>
              </a:r>
            </a:p>
          </p:txBody>
        </p:sp>
      </p:grpSp>
      <p:sp>
        <p:nvSpPr>
          <p:cNvPr name="TextBox 56" id="56"/>
          <p:cNvSpPr txBox="true"/>
          <p:nvPr/>
        </p:nvSpPr>
        <p:spPr>
          <a:xfrm rot="0">
            <a:off x="12390120" y="5086350"/>
            <a:ext cx="4526280" cy="1223010"/>
          </a:xfrm>
          <a:prstGeom prst="rect">
            <a:avLst/>
          </a:prstGeom>
        </p:spPr>
        <p:txBody>
          <a:bodyPr anchor="t" rtlCol="false" tIns="0" lIns="0" bIns="0" rIns="0">
            <a:spAutoFit/>
          </a:bodyPr>
          <a:lstStyle/>
          <a:p>
            <a:pPr algn="l">
              <a:lnSpc>
                <a:spcPts val="2700"/>
              </a:lnSpc>
            </a:pPr>
            <a:r>
              <a:rPr lang="en-US" sz="2250">
                <a:solidFill>
                  <a:srgbClr val="57534E"/>
                </a:solidFill>
                <a:latin typeface="Calibri"/>
                <a:ea typeface="Calibri"/>
                <a:cs typeface="Calibri"/>
                <a:sym typeface="Calibri"/>
              </a:rPr>
              <a:t>memory vs limit, CPU throttling, OOM kills, restarts</a:t>
            </a:r>
          </a:p>
        </p:txBody>
      </p:sp>
      <p:grpSp>
        <p:nvGrpSpPr>
          <p:cNvPr name="Group 57" id="57"/>
          <p:cNvGrpSpPr/>
          <p:nvPr/>
        </p:nvGrpSpPr>
        <p:grpSpPr>
          <a:xfrm rot="0">
            <a:off x="12390120" y="6446520"/>
            <a:ext cx="4526280" cy="480060"/>
            <a:chOff x="0" y="0"/>
            <a:chExt cx="6035040" cy="640080"/>
          </a:xfrm>
        </p:grpSpPr>
        <p:sp>
          <p:nvSpPr>
            <p:cNvPr name="Freeform 58" id="58"/>
            <p:cNvSpPr/>
            <p:nvPr/>
          </p:nvSpPr>
          <p:spPr>
            <a:xfrm flipH="false" flipV="false" rot="0">
              <a:off x="0" y="0"/>
              <a:ext cx="6035040" cy="640080"/>
            </a:xfrm>
            <a:custGeom>
              <a:avLst/>
              <a:gdLst/>
              <a:ahLst/>
              <a:cxnLst/>
              <a:rect r="r" b="b" t="t" l="l"/>
              <a:pathLst>
                <a:path h="640080" w="6035040">
                  <a:moveTo>
                    <a:pt x="0" y="0"/>
                  </a:moveTo>
                  <a:lnTo>
                    <a:pt x="6035040" y="0"/>
                  </a:lnTo>
                  <a:lnTo>
                    <a:pt x="6035040" y="640080"/>
                  </a:lnTo>
                  <a:lnTo>
                    <a:pt x="0" y="640080"/>
                  </a:lnTo>
                  <a:close/>
                </a:path>
              </a:pathLst>
            </a:custGeom>
            <a:blipFill>
              <a:blip r:embed="rId3">
                <a:alphaModFix amt="0"/>
              </a:blip>
              <a:stretch>
                <a:fillRect l="0" t="-133716" r="0" b="-133716"/>
              </a:stretch>
            </a:blipFill>
          </p:spPr>
        </p:sp>
        <p:sp>
          <p:nvSpPr>
            <p:cNvPr name="TextBox 59" id="59"/>
            <p:cNvSpPr txBox="true"/>
            <p:nvPr/>
          </p:nvSpPr>
          <p:spPr>
            <a:xfrm>
              <a:off x="0" y="-47625"/>
              <a:ext cx="6035040" cy="687705"/>
            </a:xfrm>
            <a:prstGeom prst="rect">
              <a:avLst/>
            </a:prstGeom>
          </p:spPr>
          <p:txBody>
            <a:bodyPr anchor="ctr" rtlCol="false" tIns="0" lIns="0" bIns="0" rIns="0"/>
            <a:lstStyle/>
            <a:p>
              <a:pPr algn="l">
                <a:lnSpc>
                  <a:spcPts val="2520"/>
                </a:lnSpc>
              </a:pPr>
              <a:r>
                <a:rPr lang="en-US" sz="2100" b="true">
                  <a:solidFill>
                    <a:srgbClr val="E6522C"/>
                  </a:solidFill>
                  <a:latin typeface="Calibri"/>
                  <a:ea typeface="Calibri"/>
                  <a:cs typeface="Calibri"/>
                  <a:sym typeface="Calibri"/>
                </a:rPr>
                <a:t>Catches</a:t>
              </a:r>
            </a:p>
          </p:txBody>
        </p:sp>
      </p:grpSp>
      <p:sp>
        <p:nvSpPr>
          <p:cNvPr name="TextBox 60" id="60"/>
          <p:cNvSpPr txBox="true"/>
          <p:nvPr/>
        </p:nvSpPr>
        <p:spPr>
          <a:xfrm rot="0">
            <a:off x="12390120" y="6869430"/>
            <a:ext cx="4526280" cy="1565910"/>
          </a:xfrm>
          <a:prstGeom prst="rect">
            <a:avLst/>
          </a:prstGeom>
        </p:spPr>
        <p:txBody>
          <a:bodyPr anchor="t" rtlCol="false" tIns="0" lIns="0" bIns="0" rIns="0">
            <a:spAutoFit/>
          </a:bodyPr>
          <a:lstStyle/>
          <a:p>
            <a:pPr algn="l">
              <a:lnSpc>
                <a:spcPts val="2700"/>
              </a:lnSpc>
            </a:pPr>
            <a:r>
              <a:rPr lang="en-US" sz="2250">
                <a:solidFill>
                  <a:srgbClr val="57534E"/>
                </a:solidFill>
                <a:latin typeface="Calibri"/>
                <a:ea typeface="Calibri"/>
                <a:cs typeface="Calibri"/>
                <a:sym typeface="Calibri"/>
              </a:rPr>
              <a:t>leaks, OOM kills, CPU starvation, crashes</a:t>
            </a:r>
          </a:p>
        </p:txBody>
      </p:sp>
      <p:sp>
        <p:nvSpPr>
          <p:cNvPr name="TextBox 61" id="61"/>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7</a:t>
            </a:r>
          </a:p>
        </p:txBody>
      </p:sp>
      <p:grpSp>
        <p:nvGrpSpPr>
          <p:cNvPr name="Group 62" id="62"/>
          <p:cNvGrpSpPr/>
          <p:nvPr/>
        </p:nvGrpSpPr>
        <p:grpSpPr>
          <a:xfrm rot="0">
            <a:off x="125707" y="43858"/>
            <a:ext cx="3471606" cy="1028700"/>
            <a:chOff x="0" y="0"/>
            <a:chExt cx="2742997" cy="812800"/>
          </a:xfrm>
        </p:grpSpPr>
        <p:sp>
          <p:nvSpPr>
            <p:cNvPr name="Freeform 63" id="63"/>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7"/>
              <a:stretch>
                <a:fillRect l="-833" t="0" r="-833" b="0"/>
              </a:stretch>
            </a:blipFill>
          </p:spPr>
        </p:sp>
      </p:grpSp>
      <p:grpSp>
        <p:nvGrpSpPr>
          <p:cNvPr name="Group 64" id="64"/>
          <p:cNvGrpSpPr>
            <a:grpSpLocks noChangeAspect="true"/>
          </p:cNvGrpSpPr>
          <p:nvPr/>
        </p:nvGrpSpPr>
        <p:grpSpPr>
          <a:xfrm rot="5400000">
            <a:off x="11132594" y="2264880"/>
            <a:ext cx="311239" cy="13999572"/>
            <a:chOff x="0" y="0"/>
            <a:chExt cx="414986" cy="18666096"/>
          </a:xfrm>
        </p:grpSpPr>
        <p:sp>
          <p:nvSpPr>
            <p:cNvPr name="Freeform 65" id="65"/>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8"/>
              <a:stretch>
                <a:fillRect l="0" t="0" r="-274183" b="0"/>
              </a:stretch>
            </a:blipFill>
          </p:spPr>
        </p:sp>
      </p:grpSp>
      <p:grpSp>
        <p:nvGrpSpPr>
          <p:cNvPr name="Group 66" id="66"/>
          <p:cNvGrpSpPr>
            <a:grpSpLocks noChangeAspect="true"/>
          </p:cNvGrpSpPr>
          <p:nvPr/>
        </p:nvGrpSpPr>
        <p:grpSpPr>
          <a:xfrm rot="0">
            <a:off x="16490259" y="140413"/>
            <a:ext cx="1616205" cy="888287"/>
            <a:chOff x="0" y="0"/>
            <a:chExt cx="2627014" cy="1443840"/>
          </a:xfrm>
        </p:grpSpPr>
        <p:sp>
          <p:nvSpPr>
            <p:cNvPr name="Freeform 67" id="67"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9"/>
              <a:stretch>
                <a:fillRect l="0" t="0" r="0" b="-35871"/>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sp>
      </p:grpSp>
      <p:grpSp>
        <p:nvGrpSpPr>
          <p:cNvPr name="Group 4" id="4"/>
          <p:cNvGrpSpPr/>
          <p:nvPr/>
        </p:nvGrpSpPr>
        <p:grpSpPr>
          <a:xfrm rot="0">
            <a:off x="845820" y="43858"/>
            <a:ext cx="16596360" cy="1165860"/>
            <a:chOff x="0" y="0"/>
            <a:chExt cx="22128480" cy="1554480"/>
          </a:xfrm>
        </p:grpSpPr>
        <p:sp>
          <p:nvSpPr>
            <p:cNvPr name="Freeform 5" id="5"/>
            <p:cNvSpPr/>
            <p:nvPr/>
          </p:nvSpPr>
          <p:spPr>
            <a:xfrm flipH="false" flipV="false" rot="0">
              <a:off x="0" y="0"/>
              <a:ext cx="22128480" cy="1554480"/>
            </a:xfrm>
            <a:custGeom>
              <a:avLst/>
              <a:gdLst/>
              <a:ahLst/>
              <a:cxnLst/>
              <a:rect r="r" b="b" t="t" l="l"/>
              <a:pathLst>
                <a:path h="1554480" w="22128480">
                  <a:moveTo>
                    <a:pt x="0" y="0"/>
                  </a:moveTo>
                  <a:lnTo>
                    <a:pt x="22128480" y="0"/>
                  </a:lnTo>
                  <a:lnTo>
                    <a:pt x="22128480" y="1554480"/>
                  </a:lnTo>
                  <a:lnTo>
                    <a:pt x="0" y="1554480"/>
                  </a:lnTo>
                  <a:close/>
                </a:path>
              </a:pathLst>
            </a:custGeom>
            <a:blipFill>
              <a:blip r:embed="rId3">
                <a:alphaModFix amt="0"/>
              </a:blip>
              <a:stretch>
                <a:fillRect l="0" t="-227375" r="0" b="-227375"/>
              </a:stretch>
            </a:blipFill>
          </p:spPr>
        </p:sp>
        <p:sp>
          <p:nvSpPr>
            <p:cNvPr name="TextBox 6" id="6"/>
            <p:cNvSpPr txBox="true"/>
            <p:nvPr/>
          </p:nvSpPr>
          <p:spPr>
            <a:xfrm>
              <a:off x="0" y="-9525"/>
              <a:ext cx="22128480" cy="1564005"/>
            </a:xfrm>
            <a:prstGeom prst="rect">
              <a:avLst/>
            </a:prstGeom>
          </p:spPr>
          <p:txBody>
            <a:bodyPr anchor="ctr" rtlCol="false" tIns="0" lIns="0" bIns="0" rIns="0"/>
            <a:lstStyle/>
            <a:p>
              <a:pPr algn="ctr">
                <a:lnSpc>
                  <a:spcPts val="5759"/>
                </a:lnSpc>
              </a:pPr>
              <a:r>
                <a:rPr lang="en-US" sz="4800" b="true">
                  <a:solidFill>
                    <a:srgbClr val="1C1917"/>
                  </a:solidFill>
                  <a:latin typeface="Cambria"/>
                  <a:ea typeface="Cambria"/>
                  <a:cs typeface="Cambria"/>
                  <a:sym typeface="Cambria"/>
                </a:rPr>
                <a:t>Eleven alert rules</a:t>
              </a:r>
            </a:p>
          </p:txBody>
        </p:sp>
      </p:grpSp>
      <p:graphicFrame>
        <p:nvGraphicFramePr>
          <p:cNvPr name="Table 7" id="7"/>
          <p:cNvGraphicFramePr>
            <a:graphicFrameLocks noGrp="true"/>
          </p:cNvGraphicFramePr>
          <p:nvPr/>
        </p:nvGraphicFramePr>
        <p:xfrm>
          <a:off x="845820" y="1714500"/>
          <a:ext cx="16573500" cy="6858000"/>
        </p:xfrm>
        <a:graphic>
          <a:graphicData uri="http://schemas.openxmlformats.org/drawingml/2006/table">
            <a:tbl>
              <a:tblPr/>
              <a:tblGrid>
                <a:gridCol w="4930959"/>
                <a:gridCol w="9451004"/>
                <a:gridCol w="2191537"/>
              </a:tblGrid>
              <a:tr h="571500">
                <a:tc>
                  <a:txBody>
                    <a:bodyPr anchor="t" rtlCol="false"/>
                    <a:lstStyle/>
                    <a:p>
                      <a:pPr algn="l">
                        <a:lnSpc>
                          <a:spcPts val="2520"/>
                        </a:lnSpc>
                        <a:defRPr/>
                      </a:pPr>
                      <a:r>
                        <a:rPr lang="en-US" sz="2100" b="true">
                          <a:solidFill>
                            <a:srgbClr val="FFFFFF"/>
                          </a:solidFill>
                          <a:latin typeface="Calibri"/>
                          <a:ea typeface="Calibri"/>
                          <a:cs typeface="Calibri"/>
                          <a:sym typeface="Calibri"/>
                        </a:rPr>
                        <a:t>Alert</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292524"/>
                    </a:solidFill>
                  </a:tcPr>
                </a:tc>
                <a:tc>
                  <a:txBody>
                    <a:bodyPr anchor="t" rtlCol="false"/>
                    <a:lstStyle/>
                    <a:p>
                      <a:pPr algn="l">
                        <a:lnSpc>
                          <a:spcPts val="2520"/>
                        </a:lnSpc>
                        <a:defRPr/>
                      </a:pPr>
                      <a:r>
                        <a:rPr lang="en-US" sz="2100" b="true">
                          <a:solidFill>
                            <a:srgbClr val="FFFFFF"/>
                          </a:solidFill>
                          <a:latin typeface="Calibri"/>
                          <a:ea typeface="Calibri"/>
                          <a:cs typeface="Calibri"/>
                          <a:sym typeface="Calibri"/>
                        </a:rPr>
                        <a:t>Fires when</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292524"/>
                    </a:solidFill>
                  </a:tcPr>
                </a:tc>
                <a:tc>
                  <a:txBody>
                    <a:bodyPr anchor="t" rtlCol="false"/>
                    <a:lstStyle/>
                    <a:p>
                      <a:pPr algn="l">
                        <a:lnSpc>
                          <a:spcPts val="2520"/>
                        </a:lnSpc>
                        <a:defRPr/>
                      </a:pPr>
                      <a:r>
                        <a:rPr lang="en-US" sz="2100" b="true">
                          <a:solidFill>
                            <a:srgbClr val="FFFFFF"/>
                          </a:solidFill>
                          <a:latin typeface="Calibri"/>
                          <a:ea typeface="Calibri"/>
                          <a:cs typeface="Calibri"/>
                          <a:sym typeface="Calibri"/>
                        </a:rPr>
                        <a:t>Severity</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292524"/>
                    </a:solidFill>
                  </a:tcPr>
                </a:tc>
              </a:tr>
              <a:tr h="571500">
                <a:tc>
                  <a:txBody>
                    <a:bodyPr anchor="t" rtlCol="false"/>
                    <a:lstStyle/>
                    <a:p>
                      <a:pPr algn="l">
                        <a:lnSpc>
                          <a:spcPts val="2340"/>
                        </a:lnSpc>
                        <a:defRPr/>
                      </a:pPr>
                      <a:r>
                        <a:rPr lang="en-US" sz="1950">
                          <a:solidFill>
                            <a:srgbClr val="1C1917"/>
                          </a:solidFill>
                          <a:latin typeface="Courier New"/>
                          <a:ea typeface="Courier New"/>
                          <a:cs typeface="Courier New"/>
                          <a:sym typeface="Courier New"/>
                        </a:rPr>
                        <a:t>ServiceDown</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up == 0 for 30 s</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b="true">
                          <a:solidFill>
                            <a:srgbClr val="B91C1C"/>
                          </a:solidFill>
                          <a:latin typeface="Calibri"/>
                          <a:ea typeface="Calibri"/>
                          <a:cs typeface="Calibri"/>
                          <a:sym typeface="Calibri"/>
                        </a:rPr>
                        <a:t>critical</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r>
              <a:tr h="571500">
                <a:tc>
                  <a:txBody>
                    <a:bodyPr anchor="t" rtlCol="false"/>
                    <a:lstStyle/>
                    <a:p>
                      <a:pPr algn="l">
                        <a:lnSpc>
                          <a:spcPts val="2340"/>
                        </a:lnSpc>
                        <a:defRPr/>
                      </a:pPr>
                      <a:r>
                        <a:rPr lang="en-US" sz="1950">
                          <a:solidFill>
                            <a:srgbClr val="1C1917"/>
                          </a:solidFill>
                          <a:latin typeface="Courier New"/>
                          <a:ea typeface="Courier New"/>
                          <a:cs typeface="Courier New"/>
                          <a:sym typeface="Courier New"/>
                        </a:rPr>
                        <a:t>EndpointDown</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black-box probe of /health fails for 40 s</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B91C1C"/>
                          </a:solidFill>
                          <a:latin typeface="Calibri"/>
                          <a:ea typeface="Calibri"/>
                          <a:cs typeface="Calibri"/>
                          <a:sym typeface="Calibri"/>
                        </a:rPr>
                        <a:t>critical</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571500">
                <a:tc>
                  <a:txBody>
                    <a:bodyPr anchor="t" rtlCol="false"/>
                    <a:lstStyle/>
                    <a:p>
                      <a:pPr algn="l">
                        <a:lnSpc>
                          <a:spcPts val="2340"/>
                        </a:lnSpc>
                        <a:defRPr/>
                      </a:pPr>
                      <a:r>
                        <a:rPr lang="en-US" sz="1950">
                          <a:solidFill>
                            <a:srgbClr val="1C1917"/>
                          </a:solidFill>
                          <a:latin typeface="Courier New"/>
                          <a:ea typeface="Courier New"/>
                          <a:cs typeface="Courier New"/>
                          <a:sym typeface="Courier New"/>
                        </a:rPr>
                        <a:t>DependencyDown</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Redis down, or its exporter unreachable, for 15 s</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b="true">
                          <a:solidFill>
                            <a:srgbClr val="B91C1C"/>
                          </a:solidFill>
                          <a:latin typeface="Calibri"/>
                          <a:ea typeface="Calibri"/>
                          <a:cs typeface="Calibri"/>
                          <a:sym typeface="Calibri"/>
                        </a:rPr>
                        <a:t>critical</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r>
              <a:tr h="571500">
                <a:tc>
                  <a:txBody>
                    <a:bodyPr anchor="t" rtlCol="false"/>
                    <a:lstStyle/>
                    <a:p>
                      <a:pPr algn="l">
                        <a:lnSpc>
                          <a:spcPts val="2340"/>
                        </a:lnSpc>
                        <a:defRPr/>
                      </a:pPr>
                      <a:r>
                        <a:rPr lang="en-US" sz="1950">
                          <a:solidFill>
                            <a:srgbClr val="1C1917"/>
                          </a:solidFill>
                          <a:latin typeface="Courier New"/>
                          <a:ea typeface="Courier New"/>
                          <a:cs typeface="Courier New"/>
                          <a:sym typeface="Courier New"/>
                        </a:rPr>
                        <a:t>HighErrorRate</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more than 10% of requests return 5xx, for 30 s</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B91C1C"/>
                          </a:solidFill>
                          <a:latin typeface="Calibri"/>
                          <a:ea typeface="Calibri"/>
                          <a:cs typeface="Calibri"/>
                          <a:sym typeface="Calibri"/>
                        </a:rPr>
                        <a:t>critical</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571500">
                <a:tc>
                  <a:txBody>
                    <a:bodyPr anchor="t" rtlCol="false"/>
                    <a:lstStyle/>
                    <a:p>
                      <a:pPr algn="l">
                        <a:lnSpc>
                          <a:spcPts val="2340"/>
                        </a:lnSpc>
                        <a:defRPr/>
                      </a:pPr>
                      <a:r>
                        <a:rPr lang="en-US" sz="1950">
                          <a:solidFill>
                            <a:srgbClr val="1C1917"/>
                          </a:solidFill>
                          <a:latin typeface="Courier New"/>
                          <a:ea typeface="Courier New"/>
                          <a:cs typeface="Courier New"/>
                          <a:sym typeface="Courier New"/>
                        </a:rPr>
                        <a:t>ContainerOOMKilled</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the kernel killed a process for using too much memory</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b="true">
                          <a:solidFill>
                            <a:srgbClr val="B91C1C"/>
                          </a:solidFill>
                          <a:latin typeface="Calibri"/>
                          <a:ea typeface="Calibri"/>
                          <a:cs typeface="Calibri"/>
                          <a:sym typeface="Calibri"/>
                        </a:rPr>
                        <a:t>critical</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r>
              <a:tr h="571500">
                <a:tc>
                  <a:txBody>
                    <a:bodyPr anchor="t" rtlCol="false"/>
                    <a:lstStyle/>
                    <a:p>
                      <a:pPr algn="l">
                        <a:lnSpc>
                          <a:spcPts val="2340"/>
                        </a:lnSpc>
                        <a:defRPr/>
                      </a:pPr>
                      <a:r>
                        <a:rPr lang="en-US" sz="1950">
                          <a:solidFill>
                            <a:srgbClr val="1C1917"/>
                          </a:solidFill>
                          <a:latin typeface="Courier New"/>
                          <a:ea typeface="Courier New"/>
                          <a:cs typeface="Courier New"/>
                          <a:sym typeface="Courier New"/>
                        </a:rPr>
                        <a:t>ServiceNotReady</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/ready probe fails for 45 s</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B45309"/>
                          </a:solidFill>
                          <a:latin typeface="Calibri"/>
                          <a:ea typeface="Calibri"/>
                          <a:cs typeface="Calibri"/>
                          <a:sym typeface="Calibri"/>
                        </a:rPr>
                        <a:t>warning</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571500">
                <a:tc>
                  <a:txBody>
                    <a:bodyPr anchor="t" rtlCol="false"/>
                    <a:lstStyle/>
                    <a:p>
                      <a:pPr algn="l">
                        <a:lnSpc>
                          <a:spcPts val="2340"/>
                        </a:lnSpc>
                        <a:defRPr/>
                      </a:pPr>
                      <a:r>
                        <a:rPr lang="en-US" sz="1950">
                          <a:solidFill>
                            <a:srgbClr val="1C1917"/>
                          </a:solidFill>
                          <a:latin typeface="Courier New"/>
                          <a:ea typeface="Courier New"/>
                          <a:cs typeface="Courier New"/>
                          <a:sym typeface="Courier New"/>
                        </a:rPr>
                        <a:t>HighLatencyP95</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p95 latency above 500 ms for 1 min</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b="true">
                          <a:solidFill>
                            <a:srgbClr val="B45309"/>
                          </a:solidFill>
                          <a:latin typeface="Calibri"/>
                          <a:ea typeface="Calibri"/>
                          <a:cs typeface="Calibri"/>
                          <a:sym typeface="Calibri"/>
                        </a:rPr>
                        <a:t>warning</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r>
              <a:tr h="571500">
                <a:tc>
                  <a:txBody>
                    <a:bodyPr anchor="t" rtlCol="false"/>
                    <a:lstStyle/>
                    <a:p>
                      <a:pPr algn="l">
                        <a:lnSpc>
                          <a:spcPts val="2340"/>
                        </a:lnSpc>
                        <a:defRPr/>
                      </a:pPr>
                      <a:r>
                        <a:rPr lang="en-US" sz="1950">
                          <a:solidFill>
                            <a:srgbClr val="1C1917"/>
                          </a:solidFill>
                          <a:latin typeface="Courier New"/>
                          <a:ea typeface="Courier New"/>
                          <a:cs typeface="Courier New"/>
                          <a:sym typeface="Courier New"/>
                        </a:rPr>
                        <a:t>ContainerMemoryNearLimit</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memory above 80% of the container limit for 15 s</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B45309"/>
                          </a:solidFill>
                          <a:latin typeface="Calibri"/>
                          <a:ea typeface="Calibri"/>
                          <a:cs typeface="Calibri"/>
                          <a:sym typeface="Calibri"/>
                        </a:rPr>
                        <a:t>warning</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571500">
                <a:tc>
                  <a:txBody>
                    <a:bodyPr anchor="t" rtlCol="false"/>
                    <a:lstStyle/>
                    <a:p>
                      <a:pPr algn="l">
                        <a:lnSpc>
                          <a:spcPts val="2340"/>
                        </a:lnSpc>
                        <a:defRPr/>
                      </a:pPr>
                      <a:r>
                        <a:rPr lang="en-US" sz="1950">
                          <a:solidFill>
                            <a:srgbClr val="1C1917"/>
                          </a:solidFill>
                          <a:latin typeface="Courier New"/>
                          <a:ea typeface="Courier New"/>
                          <a:cs typeface="Courier New"/>
                          <a:sym typeface="Courier New"/>
                        </a:rPr>
                        <a:t>ContainerCPUThrottled</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throttled in more than half of CPU periods for 30 s</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b="true">
                          <a:solidFill>
                            <a:srgbClr val="B45309"/>
                          </a:solidFill>
                          <a:latin typeface="Calibri"/>
                          <a:ea typeface="Calibri"/>
                          <a:cs typeface="Calibri"/>
                          <a:sym typeface="Calibri"/>
                        </a:rPr>
                        <a:t>warning</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r>
              <a:tr h="571500">
                <a:tc>
                  <a:txBody>
                    <a:bodyPr anchor="t" rtlCol="false"/>
                    <a:lstStyle/>
                    <a:p>
                      <a:pPr algn="l">
                        <a:lnSpc>
                          <a:spcPts val="2340"/>
                        </a:lnSpc>
                        <a:defRPr/>
                      </a:pPr>
                      <a:r>
                        <a:rPr lang="en-US" sz="1950">
                          <a:solidFill>
                            <a:srgbClr val="1C1917"/>
                          </a:solidFill>
                          <a:latin typeface="Courier New"/>
                          <a:ea typeface="Courier New"/>
                          <a:cs typeface="Courier New"/>
                          <a:sym typeface="Courier New"/>
                        </a:rPr>
                        <a:t>ContainerRestarted</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a container started again in the last 5 min</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b="true">
                          <a:solidFill>
                            <a:srgbClr val="B45309"/>
                          </a:solidFill>
                          <a:latin typeface="Calibri"/>
                          <a:ea typeface="Calibri"/>
                          <a:cs typeface="Calibri"/>
                          <a:sym typeface="Calibri"/>
                        </a:rPr>
                        <a:t>warning</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571500">
                <a:tc>
                  <a:txBody>
                    <a:bodyPr anchor="t" rtlCol="false"/>
                    <a:lstStyle/>
                    <a:p>
                      <a:pPr algn="l">
                        <a:lnSpc>
                          <a:spcPts val="2340"/>
                        </a:lnSpc>
                        <a:defRPr/>
                      </a:pPr>
                      <a:r>
                        <a:rPr lang="en-US" sz="1950">
                          <a:solidFill>
                            <a:srgbClr val="1C1917"/>
                          </a:solidFill>
                          <a:latin typeface="Courier New"/>
                          <a:ea typeface="Courier New"/>
                          <a:cs typeface="Courier New"/>
                          <a:sym typeface="Courier New"/>
                        </a:rPr>
                        <a:t>Watchdog</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always firing: proves the alert path works</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b="true">
                          <a:solidFill>
                            <a:srgbClr val="57534E"/>
                          </a:solidFill>
                          <a:latin typeface="Calibri"/>
                          <a:ea typeface="Calibri"/>
                          <a:cs typeface="Calibri"/>
                          <a:sym typeface="Calibri"/>
                        </a:rPr>
                        <a:t>none</a:t>
                      </a:r>
                      <a:endParaRPr lang="en-US" sz="1100"/>
                    </a:p>
                  </a:txBody>
                  <a:tcPr marL="109728" marR="109728" marT="109728" marB="109728"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r>
            </a:tbl>
          </a:graphicData>
        </a:graphic>
      </p:graphicFrame>
      <p:sp>
        <p:nvSpPr>
          <p:cNvPr name="TextBox 8" id="8"/>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8</a:t>
            </a:r>
          </a:p>
        </p:txBody>
      </p:sp>
      <p:grpSp>
        <p:nvGrpSpPr>
          <p:cNvPr name="Group 9" id="9"/>
          <p:cNvGrpSpPr/>
          <p:nvPr/>
        </p:nvGrpSpPr>
        <p:grpSpPr>
          <a:xfrm rot="0">
            <a:off x="125707" y="43858"/>
            <a:ext cx="3471606" cy="1028700"/>
            <a:chOff x="0" y="0"/>
            <a:chExt cx="2742997" cy="812800"/>
          </a:xfrm>
        </p:grpSpPr>
        <p:sp>
          <p:nvSpPr>
            <p:cNvPr name="Freeform 10" id="10"/>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4"/>
              <a:stretch>
                <a:fillRect l="-833" t="0" r="-833" b="0"/>
              </a:stretch>
            </a:blipFill>
          </p:spPr>
        </p:sp>
      </p:grpSp>
      <p:grpSp>
        <p:nvGrpSpPr>
          <p:cNvPr name="Group 11" id="11"/>
          <p:cNvGrpSpPr>
            <a:grpSpLocks noChangeAspect="true"/>
          </p:cNvGrpSpPr>
          <p:nvPr/>
        </p:nvGrpSpPr>
        <p:grpSpPr>
          <a:xfrm rot="5400000">
            <a:off x="11132594" y="2264880"/>
            <a:ext cx="311239" cy="13999572"/>
            <a:chOff x="0" y="0"/>
            <a:chExt cx="414986" cy="18666096"/>
          </a:xfrm>
        </p:grpSpPr>
        <p:sp>
          <p:nvSpPr>
            <p:cNvPr name="Freeform 12" id="12"/>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5"/>
              <a:stretch>
                <a:fillRect l="0" t="0" r="-274183" b="0"/>
              </a:stretch>
            </a:blipFill>
          </p:spPr>
        </p:sp>
      </p:grpSp>
      <p:grpSp>
        <p:nvGrpSpPr>
          <p:cNvPr name="Group 13" id="13"/>
          <p:cNvGrpSpPr>
            <a:grpSpLocks noChangeAspect="true"/>
          </p:cNvGrpSpPr>
          <p:nvPr/>
        </p:nvGrpSpPr>
        <p:grpSpPr>
          <a:xfrm rot="0">
            <a:off x="16490259" y="140413"/>
            <a:ext cx="1616205" cy="888287"/>
            <a:chOff x="0" y="0"/>
            <a:chExt cx="2627014" cy="1443840"/>
          </a:xfrm>
        </p:grpSpPr>
        <p:sp>
          <p:nvSpPr>
            <p:cNvPr name="Freeform 14" id="14"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6"/>
              <a:stretch>
                <a:fillRect l="0" t="0" r="0" b="-35871"/>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txBody>
            <a:bodyPr/>
            <a:p/>
          </p:txBody>
        </p:sp>
      </p:grpSp>
      <p:grpSp>
        <p:nvGrpSpPr>
          <p:cNvPr name="Group 4" id="4"/>
          <p:cNvGrpSpPr>
            <a:grpSpLocks noChangeAspect="true"/>
          </p:cNvGrpSpPr>
          <p:nvPr/>
        </p:nvGrpSpPr>
        <p:grpSpPr>
          <a:xfrm rot="5400000">
            <a:off x="11132594" y="2264880"/>
            <a:ext cx="311239" cy="13999572"/>
            <a:chOff x="0" y="0"/>
            <a:chExt cx="414986" cy="18666096"/>
          </a:xfrm>
        </p:grpSpPr>
        <p:sp>
          <p:nvSpPr>
            <p:cNvPr name="Freeform 5" id="5"/>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3"/>
              <a:stretch>
                <a:fillRect l="0" t="0" r="-274183" b="0"/>
              </a:stretch>
            </a:blipFill>
          </p:spPr>
          <p:txBody>
            <a:bodyPr/>
            <a:p/>
          </p:txBody>
        </p:sp>
      </p:grpSp>
      <p:grpSp>
        <p:nvGrpSpPr>
          <p:cNvPr name="Group 6" id="6"/>
          <p:cNvGrpSpPr/>
          <p:nvPr/>
        </p:nvGrpSpPr>
        <p:grpSpPr>
          <a:xfrm rot="0">
            <a:off x="1028700" y="1905"/>
            <a:ext cx="16596360" cy="1165860"/>
            <a:chOff x="0" y="0"/>
            <a:chExt cx="22128480" cy="1554480"/>
          </a:xfrm>
        </p:grpSpPr>
        <p:sp>
          <p:nvSpPr>
            <p:cNvPr name="Freeform 7" id="7"/>
            <p:cNvSpPr/>
            <p:nvPr/>
          </p:nvSpPr>
          <p:spPr>
            <a:xfrm flipH="false" flipV="false" rot="0">
              <a:off x="0" y="0"/>
              <a:ext cx="22128480" cy="1554480"/>
            </a:xfrm>
            <a:custGeom>
              <a:avLst/>
              <a:gdLst/>
              <a:ahLst/>
              <a:cxnLst/>
              <a:rect r="r" b="b" t="t" l="l"/>
              <a:pathLst>
                <a:path h="1554480" w="22128480">
                  <a:moveTo>
                    <a:pt x="0" y="0"/>
                  </a:moveTo>
                  <a:lnTo>
                    <a:pt x="22128480" y="0"/>
                  </a:lnTo>
                  <a:lnTo>
                    <a:pt x="22128480" y="1554480"/>
                  </a:lnTo>
                  <a:lnTo>
                    <a:pt x="0" y="1554480"/>
                  </a:lnTo>
                  <a:close/>
                </a:path>
              </a:pathLst>
            </a:custGeom>
            <a:blipFill>
              <a:blip r:embed="rId4">
                <a:alphaModFix amt="0"/>
              </a:blip>
              <a:stretch>
                <a:fillRect l="0" t="-227375" r="0" b="-227375"/>
              </a:stretch>
            </a:blipFill>
          </p:spPr>
          <p:txBody>
            <a:bodyPr/>
            <a:p/>
          </p:txBody>
        </p:sp>
        <p:sp>
          <p:nvSpPr>
            <p:cNvPr name="TextBox 8" id="8"/>
            <p:cNvSpPr txBox="true"/>
            <p:nvPr/>
          </p:nvSpPr>
          <p:spPr>
            <a:xfrm>
              <a:off x="0" y="-9525"/>
              <a:ext cx="22128480" cy="1564005"/>
            </a:xfrm>
            <a:prstGeom prst="rect">
              <a:avLst/>
            </a:prstGeom>
          </p:spPr>
          <p:txBody>
            <a:bodyPr anchor="ctr" rtlCol="false" tIns="0" lIns="0" bIns="0" rIns="0"/>
            <a:lstStyle/>
            <a:p>
              <a:pPr algn="ctr">
                <a:lnSpc>
                  <a:spcPts val="5759"/>
                </a:lnSpc>
              </a:pPr>
              <a:r>
                <a:rPr lang="en-US" sz="4800" b="true">
                  <a:solidFill>
                    <a:srgbClr val="1C1917"/>
                  </a:solidFill>
                  <a:latin typeface="Cambria"/>
                  <a:ea typeface="Cambria"/>
                  <a:cs typeface="Cambria"/>
                  <a:sym typeface="Cambria"/>
                </a:rPr>
                <a:t>One message per incident</a:t>
              </a:r>
            </a:p>
          </p:txBody>
        </p:sp>
      </p:grpSp>
      <p:grpSp>
        <p:nvGrpSpPr>
          <p:cNvPr name="Group 9" id="9"/>
          <p:cNvGrpSpPr/>
          <p:nvPr/>
        </p:nvGrpSpPr>
        <p:grpSpPr>
          <a:xfrm rot="0">
            <a:off x="1389934" y="1458278"/>
            <a:ext cx="6841870" cy="669313"/>
            <a:chOff x="0" y="0"/>
            <a:chExt cx="8412480" cy="822960"/>
          </a:xfrm>
        </p:grpSpPr>
        <p:sp>
          <p:nvSpPr>
            <p:cNvPr name="Freeform 10" id="10"/>
            <p:cNvSpPr/>
            <p:nvPr/>
          </p:nvSpPr>
          <p:spPr>
            <a:xfrm flipH="false" flipV="false" rot="0">
              <a:off x="0" y="0"/>
              <a:ext cx="8412480" cy="822960"/>
            </a:xfrm>
            <a:custGeom>
              <a:avLst/>
              <a:gdLst/>
              <a:ahLst/>
              <a:cxnLst/>
              <a:rect r="r" b="b" t="t" l="l"/>
              <a:pathLst>
                <a:path h="822960" w="8412480">
                  <a:moveTo>
                    <a:pt x="0" y="0"/>
                  </a:moveTo>
                  <a:lnTo>
                    <a:pt x="8412480" y="0"/>
                  </a:lnTo>
                  <a:lnTo>
                    <a:pt x="8412480" y="822960"/>
                  </a:lnTo>
                  <a:lnTo>
                    <a:pt x="0" y="822960"/>
                  </a:lnTo>
                  <a:close/>
                </a:path>
              </a:pathLst>
            </a:custGeom>
            <a:blipFill>
              <a:blip r:embed="rId4">
                <a:alphaModFix amt="0"/>
              </a:blip>
              <a:stretch>
                <a:fillRect l="0" t="-149180" r="0" b="-149180"/>
              </a:stretch>
            </a:blipFill>
          </p:spPr>
          <p:txBody>
            <a:bodyPr/>
            <a:p/>
          </p:txBody>
        </p:sp>
        <p:sp>
          <p:nvSpPr>
            <p:cNvPr name="TextBox 11" id="11"/>
            <p:cNvSpPr txBox="true"/>
            <p:nvPr/>
          </p:nvSpPr>
          <p:spPr>
            <a:xfrm>
              <a:off x="0" y="-57150"/>
              <a:ext cx="8412480" cy="880110"/>
            </a:xfrm>
            <a:prstGeom prst="rect">
              <a:avLst/>
            </a:prstGeom>
          </p:spPr>
          <p:txBody>
            <a:bodyPr anchor="ctr" rtlCol="false" tIns="0" lIns="0" bIns="0" rIns="0"/>
            <a:lstStyle/>
            <a:p>
              <a:pPr algn="l">
                <a:lnSpc>
                  <a:spcPts val="3240"/>
                </a:lnSpc>
              </a:pPr>
              <a:r>
                <a:rPr lang="en-US" sz="2700" b="true">
                  <a:solidFill>
                    <a:srgbClr val="1C1917"/>
                  </a:solidFill>
                  <a:latin typeface="Calibri"/>
                  <a:ea typeface="Calibri"/>
                  <a:cs typeface="Calibri"/>
                  <a:sym typeface="Calibri"/>
                </a:rPr>
                <a:t>Order database (Redis) stops:</a:t>
              </a:r>
            </a:p>
          </p:txBody>
        </p:sp>
      </p:grpSp>
      <p:grpSp>
        <p:nvGrpSpPr>
          <p:cNvPr name="Group 12" id="12"/>
          <p:cNvGrpSpPr/>
          <p:nvPr/>
        </p:nvGrpSpPr>
        <p:grpSpPr>
          <a:xfrm rot="0">
            <a:off x="1389934" y="2276328"/>
            <a:ext cx="3867144" cy="669313"/>
            <a:chOff x="0" y="0"/>
            <a:chExt cx="4754880" cy="822960"/>
          </a:xfrm>
        </p:grpSpPr>
        <p:sp>
          <p:nvSpPr>
            <p:cNvPr name="Freeform 13" id="13"/>
            <p:cNvSpPr/>
            <p:nvPr/>
          </p:nvSpPr>
          <p:spPr>
            <a:xfrm flipH="false" flipV="false" rot="0">
              <a:off x="0" y="0"/>
              <a:ext cx="4754880" cy="822960"/>
            </a:xfrm>
            <a:custGeom>
              <a:avLst/>
              <a:gdLst/>
              <a:ahLst/>
              <a:cxnLst/>
              <a:rect r="r" b="b" t="t" l="l"/>
              <a:pathLst>
                <a:path h="822960" w="4754880">
                  <a:moveTo>
                    <a:pt x="0" y="219456"/>
                  </a:moveTo>
                  <a:cubicBezTo>
                    <a:pt x="0" y="98298"/>
                    <a:pt x="98298" y="0"/>
                    <a:pt x="219456" y="0"/>
                  </a:cubicBezTo>
                  <a:lnTo>
                    <a:pt x="4535424" y="0"/>
                  </a:lnTo>
                  <a:cubicBezTo>
                    <a:pt x="4656582" y="0"/>
                    <a:pt x="4754880" y="98298"/>
                    <a:pt x="4754880" y="219456"/>
                  </a:cubicBezTo>
                  <a:lnTo>
                    <a:pt x="4754880" y="603504"/>
                  </a:lnTo>
                  <a:cubicBezTo>
                    <a:pt x="4754880" y="724662"/>
                    <a:pt x="4656582" y="822960"/>
                    <a:pt x="4535424" y="822960"/>
                  </a:cubicBezTo>
                  <a:lnTo>
                    <a:pt x="219456" y="822960"/>
                  </a:lnTo>
                  <a:cubicBezTo>
                    <a:pt x="98298" y="822960"/>
                    <a:pt x="0" y="724662"/>
                    <a:pt x="0" y="603504"/>
                  </a:cubicBezTo>
                  <a:close/>
                </a:path>
              </a:pathLst>
            </a:custGeom>
            <a:solidFill>
              <a:srgbClr val="E6522C"/>
            </a:solidFill>
          </p:spPr>
          <p:txBody>
            <a:bodyPr/>
            <a:p/>
          </p:txBody>
        </p:sp>
      </p:grpSp>
      <p:grpSp>
        <p:nvGrpSpPr>
          <p:cNvPr name="Group 14" id="14"/>
          <p:cNvGrpSpPr/>
          <p:nvPr/>
        </p:nvGrpSpPr>
        <p:grpSpPr>
          <a:xfrm rot="0">
            <a:off x="1613039" y="2276328"/>
            <a:ext cx="3569671" cy="669313"/>
            <a:chOff x="0" y="0"/>
            <a:chExt cx="4389120" cy="822960"/>
          </a:xfrm>
        </p:grpSpPr>
        <p:sp>
          <p:nvSpPr>
            <p:cNvPr name="Freeform 15" id="15"/>
            <p:cNvSpPr/>
            <p:nvPr/>
          </p:nvSpPr>
          <p:spPr>
            <a:xfrm flipH="false" flipV="false" rot="0">
              <a:off x="0" y="0"/>
              <a:ext cx="4389120" cy="822960"/>
            </a:xfrm>
            <a:custGeom>
              <a:avLst/>
              <a:gdLst/>
              <a:ahLst/>
              <a:cxnLst/>
              <a:rect r="r" b="b" t="t" l="l"/>
              <a:pathLst>
                <a:path h="822960" w="4389120">
                  <a:moveTo>
                    <a:pt x="0" y="0"/>
                  </a:moveTo>
                  <a:lnTo>
                    <a:pt x="4389120" y="0"/>
                  </a:lnTo>
                  <a:lnTo>
                    <a:pt x="4389120" y="822960"/>
                  </a:lnTo>
                  <a:lnTo>
                    <a:pt x="0" y="822960"/>
                  </a:lnTo>
                  <a:close/>
                </a:path>
              </a:pathLst>
            </a:custGeom>
            <a:blipFill>
              <a:blip r:embed="rId4">
                <a:alphaModFix amt="0"/>
              </a:blip>
              <a:stretch>
                <a:fillRect l="0" t="-53920" r="0" b="-53920"/>
              </a:stretch>
            </a:blipFill>
          </p:spPr>
          <p:txBody>
            <a:bodyPr/>
            <a:p/>
          </p:txBody>
        </p:sp>
        <p:sp>
          <p:nvSpPr>
            <p:cNvPr name="TextBox 16" id="16"/>
            <p:cNvSpPr txBox="true"/>
            <p:nvPr/>
          </p:nvSpPr>
          <p:spPr>
            <a:xfrm>
              <a:off x="0" y="-47625"/>
              <a:ext cx="4389120" cy="870585"/>
            </a:xfrm>
            <a:prstGeom prst="rect">
              <a:avLst/>
            </a:prstGeom>
          </p:spPr>
          <p:txBody>
            <a:bodyPr anchor="ctr" rtlCol="false" tIns="0" lIns="0" bIns="0" rIns="0"/>
            <a:lstStyle/>
            <a:p>
              <a:pPr algn="l">
                <a:lnSpc>
                  <a:spcPts val="2520"/>
                </a:lnSpc>
              </a:pPr>
              <a:r>
                <a:rPr lang="en-US" sz="2100" b="true">
                  <a:solidFill>
                    <a:srgbClr val="FFFFFF"/>
                  </a:solidFill>
                  <a:latin typeface="Calibri"/>
                  <a:ea typeface="Calibri"/>
                  <a:cs typeface="Calibri"/>
                  <a:sym typeface="Calibri"/>
                </a:rPr>
                <a:t>DependencyDown</a:t>
              </a:r>
            </a:p>
          </p:txBody>
        </p:sp>
      </p:grpSp>
      <p:grpSp>
        <p:nvGrpSpPr>
          <p:cNvPr name="Group 17" id="17"/>
          <p:cNvGrpSpPr/>
          <p:nvPr/>
        </p:nvGrpSpPr>
        <p:grpSpPr>
          <a:xfrm rot="0">
            <a:off x="1389934" y="3094378"/>
            <a:ext cx="3867144" cy="669313"/>
            <a:chOff x="0" y="0"/>
            <a:chExt cx="4754880" cy="822960"/>
          </a:xfrm>
        </p:grpSpPr>
        <p:sp>
          <p:nvSpPr>
            <p:cNvPr name="Freeform 18" id="18"/>
            <p:cNvSpPr/>
            <p:nvPr/>
          </p:nvSpPr>
          <p:spPr>
            <a:xfrm flipH="false" flipV="false" rot="0">
              <a:off x="0" y="0"/>
              <a:ext cx="4754880" cy="822960"/>
            </a:xfrm>
            <a:custGeom>
              <a:avLst/>
              <a:gdLst/>
              <a:ahLst/>
              <a:cxnLst/>
              <a:rect r="r" b="b" t="t" l="l"/>
              <a:pathLst>
                <a:path h="822960" w="4754880">
                  <a:moveTo>
                    <a:pt x="0" y="219456"/>
                  </a:moveTo>
                  <a:cubicBezTo>
                    <a:pt x="0" y="98298"/>
                    <a:pt x="98298" y="0"/>
                    <a:pt x="219456" y="0"/>
                  </a:cubicBezTo>
                  <a:lnTo>
                    <a:pt x="4535424" y="0"/>
                  </a:lnTo>
                  <a:cubicBezTo>
                    <a:pt x="4656582" y="0"/>
                    <a:pt x="4754880" y="98298"/>
                    <a:pt x="4754880" y="219456"/>
                  </a:cubicBezTo>
                  <a:lnTo>
                    <a:pt x="4754880" y="603504"/>
                  </a:lnTo>
                  <a:cubicBezTo>
                    <a:pt x="4754880" y="724662"/>
                    <a:pt x="4656582" y="822960"/>
                    <a:pt x="4535424" y="822960"/>
                  </a:cubicBezTo>
                  <a:lnTo>
                    <a:pt x="219456" y="822960"/>
                  </a:lnTo>
                  <a:cubicBezTo>
                    <a:pt x="98298" y="822960"/>
                    <a:pt x="0" y="724662"/>
                    <a:pt x="0" y="603504"/>
                  </a:cubicBezTo>
                  <a:close/>
                </a:path>
              </a:pathLst>
            </a:custGeom>
            <a:solidFill>
              <a:srgbClr val="F5F5F4"/>
            </a:solidFill>
          </p:spPr>
          <p:txBody>
            <a:bodyPr/>
            <a:p/>
          </p:txBody>
        </p:sp>
      </p:grpSp>
      <p:grpSp>
        <p:nvGrpSpPr>
          <p:cNvPr name="Group 19" id="19"/>
          <p:cNvGrpSpPr/>
          <p:nvPr/>
        </p:nvGrpSpPr>
        <p:grpSpPr>
          <a:xfrm rot="0">
            <a:off x="1613039" y="3094378"/>
            <a:ext cx="3569671" cy="669313"/>
            <a:chOff x="0" y="0"/>
            <a:chExt cx="4389120" cy="822960"/>
          </a:xfrm>
        </p:grpSpPr>
        <p:sp>
          <p:nvSpPr>
            <p:cNvPr name="Freeform 20" id="20"/>
            <p:cNvSpPr/>
            <p:nvPr/>
          </p:nvSpPr>
          <p:spPr>
            <a:xfrm flipH="false" flipV="false" rot="0">
              <a:off x="0" y="0"/>
              <a:ext cx="4389120" cy="822960"/>
            </a:xfrm>
            <a:custGeom>
              <a:avLst/>
              <a:gdLst/>
              <a:ahLst/>
              <a:cxnLst/>
              <a:rect r="r" b="b" t="t" l="l"/>
              <a:pathLst>
                <a:path h="822960" w="4389120">
                  <a:moveTo>
                    <a:pt x="0" y="0"/>
                  </a:moveTo>
                  <a:lnTo>
                    <a:pt x="4389120" y="0"/>
                  </a:lnTo>
                  <a:lnTo>
                    <a:pt x="4389120" y="822960"/>
                  </a:lnTo>
                  <a:lnTo>
                    <a:pt x="0" y="822960"/>
                  </a:lnTo>
                  <a:close/>
                </a:path>
              </a:pathLst>
            </a:custGeom>
            <a:blipFill>
              <a:blip r:embed="rId4">
                <a:alphaModFix amt="0"/>
              </a:blip>
              <a:stretch>
                <a:fillRect l="0" t="-53920" r="0" b="-53920"/>
              </a:stretch>
            </a:blipFill>
          </p:spPr>
          <p:txBody>
            <a:bodyPr/>
            <a:p/>
          </p:txBody>
        </p:sp>
        <p:sp>
          <p:nvSpPr>
            <p:cNvPr name="TextBox 21" id="21"/>
            <p:cNvSpPr txBox="true"/>
            <p:nvPr/>
          </p:nvSpPr>
          <p:spPr>
            <a:xfrm>
              <a:off x="0" y="-47625"/>
              <a:ext cx="4389120" cy="870585"/>
            </a:xfrm>
            <a:prstGeom prst="rect">
              <a:avLst/>
            </a:prstGeom>
          </p:spPr>
          <p:txBody>
            <a:bodyPr anchor="ctr" rtlCol="false" tIns="0" lIns="0" bIns="0" rIns="0"/>
            <a:lstStyle/>
            <a:p>
              <a:pPr algn="l">
                <a:lnSpc>
                  <a:spcPts val="2520"/>
                </a:lnSpc>
              </a:pPr>
              <a:r>
                <a:rPr lang="en-US" sz="2100">
                  <a:solidFill>
                    <a:srgbClr val="57534E"/>
                  </a:solidFill>
                  <a:latin typeface="Calibri"/>
                  <a:ea typeface="Calibri"/>
                  <a:cs typeface="Calibri"/>
                  <a:sym typeface="Calibri"/>
                </a:rPr>
                <a:t>HighErrorRate</a:t>
              </a:r>
            </a:p>
          </p:txBody>
        </p:sp>
      </p:grpSp>
      <p:grpSp>
        <p:nvGrpSpPr>
          <p:cNvPr name="Group 22" id="22"/>
          <p:cNvGrpSpPr/>
          <p:nvPr/>
        </p:nvGrpSpPr>
        <p:grpSpPr>
          <a:xfrm rot="0">
            <a:off x="1389934" y="3912427"/>
            <a:ext cx="3867144" cy="669313"/>
            <a:chOff x="0" y="0"/>
            <a:chExt cx="4754880" cy="822960"/>
          </a:xfrm>
        </p:grpSpPr>
        <p:sp>
          <p:nvSpPr>
            <p:cNvPr name="Freeform 23" id="23"/>
            <p:cNvSpPr/>
            <p:nvPr/>
          </p:nvSpPr>
          <p:spPr>
            <a:xfrm flipH="false" flipV="false" rot="0">
              <a:off x="0" y="0"/>
              <a:ext cx="4754880" cy="822960"/>
            </a:xfrm>
            <a:custGeom>
              <a:avLst/>
              <a:gdLst/>
              <a:ahLst/>
              <a:cxnLst/>
              <a:rect r="r" b="b" t="t" l="l"/>
              <a:pathLst>
                <a:path h="822960" w="4754880">
                  <a:moveTo>
                    <a:pt x="0" y="219456"/>
                  </a:moveTo>
                  <a:cubicBezTo>
                    <a:pt x="0" y="98298"/>
                    <a:pt x="98298" y="0"/>
                    <a:pt x="219456" y="0"/>
                  </a:cubicBezTo>
                  <a:lnTo>
                    <a:pt x="4535424" y="0"/>
                  </a:lnTo>
                  <a:cubicBezTo>
                    <a:pt x="4656582" y="0"/>
                    <a:pt x="4754880" y="98298"/>
                    <a:pt x="4754880" y="219456"/>
                  </a:cubicBezTo>
                  <a:lnTo>
                    <a:pt x="4754880" y="603504"/>
                  </a:lnTo>
                  <a:cubicBezTo>
                    <a:pt x="4754880" y="724662"/>
                    <a:pt x="4656582" y="822960"/>
                    <a:pt x="4535424" y="822960"/>
                  </a:cubicBezTo>
                  <a:lnTo>
                    <a:pt x="219456" y="822960"/>
                  </a:lnTo>
                  <a:cubicBezTo>
                    <a:pt x="98298" y="822960"/>
                    <a:pt x="0" y="724662"/>
                    <a:pt x="0" y="603504"/>
                  </a:cubicBezTo>
                  <a:close/>
                </a:path>
              </a:pathLst>
            </a:custGeom>
            <a:solidFill>
              <a:srgbClr val="F5F5F4"/>
            </a:solidFill>
          </p:spPr>
          <p:txBody>
            <a:bodyPr/>
            <a:p/>
          </p:txBody>
        </p:sp>
      </p:grpSp>
      <p:grpSp>
        <p:nvGrpSpPr>
          <p:cNvPr name="Group 24" id="24"/>
          <p:cNvGrpSpPr/>
          <p:nvPr/>
        </p:nvGrpSpPr>
        <p:grpSpPr>
          <a:xfrm rot="0">
            <a:off x="1613039" y="3912427"/>
            <a:ext cx="3569671" cy="669313"/>
            <a:chOff x="0" y="0"/>
            <a:chExt cx="4389120" cy="822960"/>
          </a:xfrm>
        </p:grpSpPr>
        <p:sp>
          <p:nvSpPr>
            <p:cNvPr name="Freeform 25" id="25"/>
            <p:cNvSpPr/>
            <p:nvPr/>
          </p:nvSpPr>
          <p:spPr>
            <a:xfrm flipH="false" flipV="false" rot="0">
              <a:off x="0" y="0"/>
              <a:ext cx="4389120" cy="822960"/>
            </a:xfrm>
            <a:custGeom>
              <a:avLst/>
              <a:gdLst/>
              <a:ahLst/>
              <a:cxnLst/>
              <a:rect r="r" b="b" t="t" l="l"/>
              <a:pathLst>
                <a:path h="822960" w="4389120">
                  <a:moveTo>
                    <a:pt x="0" y="0"/>
                  </a:moveTo>
                  <a:lnTo>
                    <a:pt x="4389120" y="0"/>
                  </a:lnTo>
                  <a:lnTo>
                    <a:pt x="4389120" y="822960"/>
                  </a:lnTo>
                  <a:lnTo>
                    <a:pt x="0" y="822960"/>
                  </a:lnTo>
                  <a:close/>
                </a:path>
              </a:pathLst>
            </a:custGeom>
            <a:blipFill>
              <a:blip r:embed="rId4">
                <a:alphaModFix amt="0"/>
              </a:blip>
              <a:stretch>
                <a:fillRect l="0" t="-53920" r="0" b="-53920"/>
              </a:stretch>
            </a:blipFill>
          </p:spPr>
          <p:txBody>
            <a:bodyPr/>
            <a:p/>
          </p:txBody>
        </p:sp>
        <p:sp>
          <p:nvSpPr>
            <p:cNvPr name="TextBox 26" id="26"/>
            <p:cNvSpPr txBox="true"/>
            <p:nvPr/>
          </p:nvSpPr>
          <p:spPr>
            <a:xfrm>
              <a:off x="0" y="-47625"/>
              <a:ext cx="4389120" cy="870585"/>
            </a:xfrm>
            <a:prstGeom prst="rect">
              <a:avLst/>
            </a:prstGeom>
          </p:spPr>
          <p:txBody>
            <a:bodyPr anchor="ctr" rtlCol="false" tIns="0" lIns="0" bIns="0" rIns="0"/>
            <a:lstStyle/>
            <a:p>
              <a:pPr algn="l">
                <a:lnSpc>
                  <a:spcPts val="2520"/>
                </a:lnSpc>
              </a:pPr>
              <a:r>
                <a:rPr lang="en-US" sz="2100">
                  <a:solidFill>
                    <a:srgbClr val="57534E"/>
                  </a:solidFill>
                  <a:latin typeface="Calibri"/>
                  <a:ea typeface="Calibri"/>
                  <a:cs typeface="Calibri"/>
                  <a:sym typeface="Calibri"/>
                </a:rPr>
                <a:t>ServiceNotReady</a:t>
              </a:r>
            </a:p>
          </p:txBody>
        </p:sp>
      </p:grpSp>
      <p:grpSp>
        <p:nvGrpSpPr>
          <p:cNvPr name="Group 27" id="27"/>
          <p:cNvGrpSpPr/>
          <p:nvPr/>
        </p:nvGrpSpPr>
        <p:grpSpPr>
          <a:xfrm rot="0">
            <a:off x="1389934" y="4730477"/>
            <a:ext cx="3867144" cy="669313"/>
            <a:chOff x="0" y="0"/>
            <a:chExt cx="4754880" cy="822960"/>
          </a:xfrm>
        </p:grpSpPr>
        <p:sp>
          <p:nvSpPr>
            <p:cNvPr name="Freeform 28" id="28"/>
            <p:cNvSpPr/>
            <p:nvPr/>
          </p:nvSpPr>
          <p:spPr>
            <a:xfrm flipH="false" flipV="false" rot="0">
              <a:off x="0" y="0"/>
              <a:ext cx="4754880" cy="822960"/>
            </a:xfrm>
            <a:custGeom>
              <a:avLst/>
              <a:gdLst/>
              <a:ahLst/>
              <a:cxnLst/>
              <a:rect r="r" b="b" t="t" l="l"/>
              <a:pathLst>
                <a:path h="822960" w="4754880">
                  <a:moveTo>
                    <a:pt x="0" y="219456"/>
                  </a:moveTo>
                  <a:cubicBezTo>
                    <a:pt x="0" y="98298"/>
                    <a:pt x="98298" y="0"/>
                    <a:pt x="219456" y="0"/>
                  </a:cubicBezTo>
                  <a:lnTo>
                    <a:pt x="4535424" y="0"/>
                  </a:lnTo>
                  <a:cubicBezTo>
                    <a:pt x="4656582" y="0"/>
                    <a:pt x="4754880" y="98298"/>
                    <a:pt x="4754880" y="219456"/>
                  </a:cubicBezTo>
                  <a:lnTo>
                    <a:pt x="4754880" y="603504"/>
                  </a:lnTo>
                  <a:cubicBezTo>
                    <a:pt x="4754880" y="724662"/>
                    <a:pt x="4656582" y="822960"/>
                    <a:pt x="4535424" y="822960"/>
                  </a:cubicBezTo>
                  <a:lnTo>
                    <a:pt x="219456" y="822960"/>
                  </a:lnTo>
                  <a:cubicBezTo>
                    <a:pt x="98298" y="822960"/>
                    <a:pt x="0" y="724662"/>
                    <a:pt x="0" y="603504"/>
                  </a:cubicBezTo>
                  <a:close/>
                </a:path>
              </a:pathLst>
            </a:custGeom>
            <a:solidFill>
              <a:srgbClr val="F5F5F4"/>
            </a:solidFill>
          </p:spPr>
          <p:txBody>
            <a:bodyPr/>
            <a:p/>
          </p:txBody>
        </p:sp>
      </p:grpSp>
      <p:grpSp>
        <p:nvGrpSpPr>
          <p:cNvPr name="Group 29" id="29"/>
          <p:cNvGrpSpPr/>
          <p:nvPr/>
        </p:nvGrpSpPr>
        <p:grpSpPr>
          <a:xfrm rot="0">
            <a:off x="1613039" y="4730477"/>
            <a:ext cx="3569671" cy="669313"/>
            <a:chOff x="0" y="0"/>
            <a:chExt cx="4389120" cy="822960"/>
          </a:xfrm>
        </p:grpSpPr>
        <p:sp>
          <p:nvSpPr>
            <p:cNvPr name="Freeform 30" id="30"/>
            <p:cNvSpPr/>
            <p:nvPr/>
          </p:nvSpPr>
          <p:spPr>
            <a:xfrm flipH="false" flipV="false" rot="0">
              <a:off x="0" y="0"/>
              <a:ext cx="4389120" cy="822960"/>
            </a:xfrm>
            <a:custGeom>
              <a:avLst/>
              <a:gdLst/>
              <a:ahLst/>
              <a:cxnLst/>
              <a:rect r="r" b="b" t="t" l="l"/>
              <a:pathLst>
                <a:path h="822960" w="4389120">
                  <a:moveTo>
                    <a:pt x="0" y="0"/>
                  </a:moveTo>
                  <a:lnTo>
                    <a:pt x="4389120" y="0"/>
                  </a:lnTo>
                  <a:lnTo>
                    <a:pt x="4389120" y="822960"/>
                  </a:lnTo>
                  <a:lnTo>
                    <a:pt x="0" y="822960"/>
                  </a:lnTo>
                  <a:close/>
                </a:path>
              </a:pathLst>
            </a:custGeom>
            <a:blipFill>
              <a:blip r:embed="rId4">
                <a:alphaModFix amt="0"/>
              </a:blip>
              <a:stretch>
                <a:fillRect l="0" t="-53920" r="0" b="-53920"/>
              </a:stretch>
            </a:blipFill>
          </p:spPr>
          <p:txBody>
            <a:bodyPr/>
            <a:p/>
          </p:txBody>
        </p:sp>
        <p:sp>
          <p:nvSpPr>
            <p:cNvPr name="TextBox 31" id="31"/>
            <p:cNvSpPr txBox="true"/>
            <p:nvPr/>
          </p:nvSpPr>
          <p:spPr>
            <a:xfrm>
              <a:off x="0" y="-47625"/>
              <a:ext cx="4389120" cy="870585"/>
            </a:xfrm>
            <a:prstGeom prst="rect">
              <a:avLst/>
            </a:prstGeom>
          </p:spPr>
          <p:txBody>
            <a:bodyPr anchor="ctr" rtlCol="false" tIns="0" lIns="0" bIns="0" rIns="0"/>
            <a:lstStyle/>
            <a:p>
              <a:pPr algn="l">
                <a:lnSpc>
                  <a:spcPts val="2520"/>
                </a:lnSpc>
              </a:pPr>
              <a:r>
                <a:rPr lang="en-US" sz="2100">
                  <a:solidFill>
                    <a:srgbClr val="57534E"/>
                  </a:solidFill>
                  <a:latin typeface="Calibri"/>
                  <a:ea typeface="Calibri"/>
                  <a:cs typeface="Calibri"/>
                  <a:sym typeface="Calibri"/>
                </a:rPr>
                <a:t>HighLatencyP95</a:t>
              </a:r>
            </a:p>
          </p:txBody>
        </p:sp>
      </p:grpSp>
      <p:grpSp>
        <p:nvGrpSpPr>
          <p:cNvPr name="Group 32" id="32"/>
          <p:cNvGrpSpPr/>
          <p:nvPr/>
        </p:nvGrpSpPr>
        <p:grpSpPr>
          <a:xfrm rot="0">
            <a:off x="5480183" y="3317482"/>
            <a:ext cx="818050" cy="743682"/>
            <a:chOff x="0" y="0"/>
            <a:chExt cx="1005840" cy="914400"/>
          </a:xfrm>
        </p:grpSpPr>
        <p:sp>
          <p:nvSpPr>
            <p:cNvPr name="Freeform 33" id="33"/>
            <p:cNvSpPr/>
            <p:nvPr/>
          </p:nvSpPr>
          <p:spPr>
            <a:xfrm flipH="false" flipV="false" rot="0">
              <a:off x="0" y="0"/>
              <a:ext cx="1005840" cy="914400"/>
            </a:xfrm>
            <a:custGeom>
              <a:avLst/>
              <a:gdLst/>
              <a:ahLst/>
              <a:cxnLst/>
              <a:rect r="r" b="b" t="t" l="l"/>
              <a:pathLst>
                <a:path h="914400" w="1005840">
                  <a:moveTo>
                    <a:pt x="0" y="228600"/>
                  </a:moveTo>
                  <a:lnTo>
                    <a:pt x="548640" y="228600"/>
                  </a:lnTo>
                  <a:lnTo>
                    <a:pt x="548640" y="0"/>
                  </a:lnTo>
                  <a:lnTo>
                    <a:pt x="1005840" y="457200"/>
                  </a:lnTo>
                  <a:lnTo>
                    <a:pt x="548640" y="914400"/>
                  </a:lnTo>
                  <a:lnTo>
                    <a:pt x="548640" y="685800"/>
                  </a:lnTo>
                  <a:lnTo>
                    <a:pt x="0" y="685800"/>
                  </a:lnTo>
                  <a:close/>
                </a:path>
              </a:pathLst>
            </a:custGeom>
            <a:solidFill>
              <a:srgbClr val="57534E"/>
            </a:solidFill>
          </p:spPr>
          <p:txBody>
            <a:bodyPr/>
            <a:p/>
          </p:txBody>
        </p:sp>
      </p:grpSp>
      <p:grpSp>
        <p:nvGrpSpPr>
          <p:cNvPr name="Group 34" id="34"/>
          <p:cNvGrpSpPr/>
          <p:nvPr/>
        </p:nvGrpSpPr>
        <p:grpSpPr>
          <a:xfrm rot="0">
            <a:off x="6521337" y="2796905"/>
            <a:ext cx="1710467" cy="1859204"/>
            <a:chOff x="0" y="0"/>
            <a:chExt cx="2103120" cy="2286000"/>
          </a:xfrm>
        </p:grpSpPr>
        <p:sp>
          <p:nvSpPr>
            <p:cNvPr name="Freeform 35" id="35"/>
            <p:cNvSpPr/>
            <p:nvPr/>
          </p:nvSpPr>
          <p:spPr>
            <a:xfrm flipH="false" flipV="false" rot="0">
              <a:off x="0" y="0"/>
              <a:ext cx="2103120" cy="2286000"/>
            </a:xfrm>
            <a:custGeom>
              <a:avLst/>
              <a:gdLst/>
              <a:ahLst/>
              <a:cxnLst/>
              <a:rect r="r" b="b" t="t" l="l"/>
              <a:pathLst>
                <a:path h="2286000" w="2103120">
                  <a:moveTo>
                    <a:pt x="0" y="219456"/>
                  </a:moveTo>
                  <a:cubicBezTo>
                    <a:pt x="0" y="98298"/>
                    <a:pt x="98298" y="0"/>
                    <a:pt x="219456" y="0"/>
                  </a:cubicBezTo>
                  <a:lnTo>
                    <a:pt x="1883664" y="0"/>
                  </a:lnTo>
                  <a:cubicBezTo>
                    <a:pt x="2004822" y="0"/>
                    <a:pt x="2103120" y="98298"/>
                    <a:pt x="2103120" y="219456"/>
                  </a:cubicBezTo>
                  <a:lnTo>
                    <a:pt x="2103120" y="2066544"/>
                  </a:lnTo>
                  <a:cubicBezTo>
                    <a:pt x="2103120" y="2187702"/>
                    <a:pt x="2004822" y="2286000"/>
                    <a:pt x="1883664" y="2286000"/>
                  </a:cubicBezTo>
                  <a:lnTo>
                    <a:pt x="219456" y="2286000"/>
                  </a:lnTo>
                  <a:cubicBezTo>
                    <a:pt x="98298" y="2286000"/>
                    <a:pt x="0" y="2187702"/>
                    <a:pt x="0" y="2066544"/>
                  </a:cubicBezTo>
                  <a:close/>
                </a:path>
              </a:pathLst>
            </a:custGeom>
            <a:solidFill>
              <a:srgbClr val="E6522C"/>
            </a:solidFill>
          </p:spPr>
          <p:txBody>
            <a:bodyPr/>
            <a:p/>
          </p:txBody>
        </p:sp>
      </p:grpSp>
      <p:grpSp>
        <p:nvGrpSpPr>
          <p:cNvPr name="Group 36" id="36"/>
          <p:cNvGrpSpPr/>
          <p:nvPr/>
        </p:nvGrpSpPr>
        <p:grpSpPr>
          <a:xfrm rot="0">
            <a:off x="6521337" y="2796905"/>
            <a:ext cx="1710467" cy="1859204"/>
            <a:chOff x="0" y="0"/>
            <a:chExt cx="2103120" cy="2286000"/>
          </a:xfrm>
        </p:grpSpPr>
        <p:sp>
          <p:nvSpPr>
            <p:cNvPr name="Freeform 37" id="37"/>
            <p:cNvSpPr/>
            <p:nvPr/>
          </p:nvSpPr>
          <p:spPr>
            <a:xfrm flipH="false" flipV="false" rot="0">
              <a:off x="0" y="0"/>
              <a:ext cx="2103120" cy="2286000"/>
            </a:xfrm>
            <a:custGeom>
              <a:avLst/>
              <a:gdLst/>
              <a:ahLst/>
              <a:cxnLst/>
              <a:rect r="r" b="b" t="t" l="l"/>
              <a:pathLst>
                <a:path h="2286000" w="2103120">
                  <a:moveTo>
                    <a:pt x="0" y="0"/>
                  </a:moveTo>
                  <a:lnTo>
                    <a:pt x="2103120" y="0"/>
                  </a:lnTo>
                  <a:lnTo>
                    <a:pt x="2103120" y="2286000"/>
                  </a:lnTo>
                  <a:lnTo>
                    <a:pt x="0" y="2286000"/>
                  </a:lnTo>
                  <a:close/>
                </a:path>
              </a:pathLst>
            </a:custGeom>
            <a:blipFill>
              <a:blip r:embed="rId4">
                <a:alphaModFix amt="0"/>
              </a:blip>
              <a:stretch>
                <a:fillRect l="-89460" t="0" r="-89460" b="0"/>
              </a:stretch>
            </a:blipFill>
          </p:spPr>
          <p:txBody>
            <a:bodyPr/>
            <a:p/>
          </p:txBody>
        </p:sp>
        <p:sp>
          <p:nvSpPr>
            <p:cNvPr name="TextBox 38" id="38"/>
            <p:cNvSpPr txBox="true"/>
            <p:nvPr/>
          </p:nvSpPr>
          <p:spPr>
            <a:xfrm>
              <a:off x="0" y="-114300"/>
              <a:ext cx="2103120" cy="2400300"/>
            </a:xfrm>
            <a:prstGeom prst="rect">
              <a:avLst/>
            </a:prstGeom>
          </p:spPr>
          <p:txBody>
            <a:bodyPr anchor="ctr" rtlCol="false" tIns="0" lIns="0" bIns="0" rIns="0"/>
            <a:lstStyle/>
            <a:p>
              <a:pPr algn="ctr">
                <a:lnSpc>
                  <a:spcPts val="6480"/>
                </a:lnSpc>
              </a:pPr>
              <a:r>
                <a:rPr lang="en-US" sz="5400" b="true">
                  <a:solidFill>
                    <a:srgbClr val="FFFFFF"/>
                  </a:solidFill>
                  <a:latin typeface="Calibri"/>
                  <a:ea typeface="Calibri"/>
                  <a:cs typeface="Calibri"/>
                  <a:sym typeface="Calibri"/>
                </a:rPr>
                <a:t>1</a:t>
              </a:r>
            </a:p>
            <a:p>
              <a:pPr algn="ctr">
                <a:lnSpc>
                  <a:spcPts val="2340"/>
                </a:lnSpc>
              </a:pPr>
              <a:r>
                <a:rPr lang="en-US" sz="1950">
                  <a:solidFill>
                    <a:srgbClr val="FFFFFF"/>
                  </a:solidFill>
                  <a:latin typeface="Calibri"/>
                  <a:ea typeface="Calibri"/>
                  <a:cs typeface="Calibri"/>
                  <a:sym typeface="Calibri"/>
                </a:rPr>
                <a:t>message</a:t>
              </a:r>
            </a:p>
          </p:txBody>
        </p:sp>
      </p:grpSp>
      <p:sp>
        <p:nvSpPr>
          <p:cNvPr name="TextBox 39" id="39"/>
          <p:cNvSpPr txBox="true"/>
          <p:nvPr/>
        </p:nvSpPr>
        <p:spPr>
          <a:xfrm rot="0">
            <a:off x="1389934" y="5798374"/>
            <a:ext cx="7139342" cy="3468560"/>
          </a:xfrm>
          <a:prstGeom prst="rect">
            <a:avLst/>
          </a:prstGeom>
        </p:spPr>
        <p:txBody>
          <a:bodyPr anchor="t" rtlCol="false" tIns="0" lIns="0" bIns="0" rIns="0">
            <a:spAutoFit/>
          </a:bodyPr>
          <a:lstStyle/>
          <a:p>
            <a:pPr algn="l" marL="441561" indent="-220780" lvl="1">
              <a:lnSpc>
                <a:spcPts val="2927"/>
              </a:lnSpc>
              <a:buFont typeface="Arial"/>
              <a:buChar char="•"/>
            </a:pPr>
            <a:r>
              <a:rPr lang="en-US" sz="2439">
                <a:solidFill>
                  <a:srgbClr val="1C1917"/>
                </a:solidFill>
                <a:latin typeface="Calibri"/>
                <a:ea typeface="Calibri"/>
                <a:cs typeface="Calibri"/>
                <a:sym typeface="Calibri"/>
              </a:rPr>
              <a:t>4 alerts raised in Prometheus (3 firing, 1 pending); on-call got 1 email about the cause.</a:t>
            </a:r>
          </a:p>
          <a:p>
            <a:pPr algn="l" marL="441561" indent="-220780" lvl="1">
              <a:lnSpc>
                <a:spcPts val="2927"/>
              </a:lnSpc>
              <a:buFont typeface="Arial"/>
              <a:buChar char="•"/>
            </a:pPr>
            <a:r>
              <a:rPr lang="en-US" sz="2439">
                <a:solidFill>
                  <a:srgbClr val="1C1917"/>
                </a:solidFill>
                <a:latin typeface="Calibri"/>
                <a:ea typeface="Calibri"/>
                <a:cs typeface="Calibri"/>
                <a:sym typeface="Calibri"/>
              </a:rPr>
              <a:t>Inhibition: a firing cause hides its symptoms.</a:t>
            </a:r>
          </a:p>
          <a:p>
            <a:pPr algn="l" marL="441561" indent="-220780" lvl="1">
              <a:lnSpc>
                <a:spcPts val="2927"/>
              </a:lnSpc>
              <a:buFont typeface="Arial"/>
              <a:buChar char="•"/>
            </a:pPr>
            <a:r>
              <a:rPr lang="en-US" sz="2439">
                <a:solidFill>
                  <a:srgbClr val="1C1917"/>
                </a:solidFill>
                <a:latin typeface="Calibri"/>
                <a:ea typeface="Calibri"/>
                <a:cs typeface="Calibri"/>
                <a:sym typeface="Calibri"/>
              </a:rPr>
              <a:t>Grouping: related alerts share one message.</a:t>
            </a:r>
          </a:p>
          <a:p>
            <a:pPr algn="l" marL="441561" indent="-220780" lvl="1">
              <a:lnSpc>
                <a:spcPts val="2927"/>
              </a:lnSpc>
              <a:buFont typeface="Arial"/>
              <a:buChar char="•"/>
            </a:pPr>
            <a:r>
              <a:rPr lang="en-US" sz="2439">
                <a:solidFill>
                  <a:srgbClr val="1C1917"/>
                </a:solidFill>
                <a:latin typeface="Calibri"/>
                <a:ea typeface="Calibri"/>
                <a:cs typeface="Calibri"/>
                <a:sym typeface="Calibri"/>
              </a:rPr>
              <a:t>Causes wait less than symptoms (15 s vs 30 s), so the cause is already firing when symptoms arrive.</a:t>
            </a:r>
          </a:p>
        </p:txBody>
      </p:sp>
      <p:grpSp>
        <p:nvGrpSpPr>
          <p:cNvPr name="Group 40" id="40"/>
          <p:cNvGrpSpPr/>
          <p:nvPr/>
        </p:nvGrpSpPr>
        <p:grpSpPr>
          <a:xfrm rot="0">
            <a:off x="9870948" y="1321118"/>
            <a:ext cx="6775704" cy="6926580"/>
            <a:chOff x="0" y="0"/>
            <a:chExt cx="9034272" cy="9235440"/>
          </a:xfrm>
        </p:grpSpPr>
        <p:sp>
          <p:nvSpPr>
            <p:cNvPr name="Freeform 41" id="41" descr="Alertmanager with the Inhibited box ticked, showing HighErrorRate, HighLatencyP95 and ServiceNotReady held back"/>
            <p:cNvSpPr/>
            <p:nvPr/>
          </p:nvSpPr>
          <p:spPr>
            <a:xfrm flipH="false" flipV="false" rot="0">
              <a:off x="0" y="0"/>
              <a:ext cx="9034272" cy="9235440"/>
            </a:xfrm>
            <a:custGeom>
              <a:avLst/>
              <a:gdLst/>
              <a:ahLst/>
              <a:cxnLst/>
              <a:rect r="r" b="b" t="t" l="l"/>
              <a:pathLst>
                <a:path h="9235440" w="9034272">
                  <a:moveTo>
                    <a:pt x="0" y="0"/>
                  </a:moveTo>
                  <a:lnTo>
                    <a:pt x="9034272" y="0"/>
                  </a:lnTo>
                  <a:lnTo>
                    <a:pt x="9034272" y="9235440"/>
                  </a:lnTo>
                  <a:lnTo>
                    <a:pt x="0" y="9235440"/>
                  </a:lnTo>
                  <a:lnTo>
                    <a:pt x="0" y="0"/>
                  </a:lnTo>
                  <a:close/>
                </a:path>
              </a:pathLst>
            </a:custGeom>
            <a:blipFill>
              <a:blip r:embed="rId5"/>
              <a:stretch>
                <a:fillRect l="0" t="-14" r="0" b="-14"/>
              </a:stretch>
            </a:blipFill>
          </p:spPr>
          <p:txBody>
            <a:bodyPr/>
            <a:p/>
          </p:txBody>
        </p:sp>
      </p:grpSp>
      <p:grpSp>
        <p:nvGrpSpPr>
          <p:cNvPr name="Group 42" id="42"/>
          <p:cNvGrpSpPr/>
          <p:nvPr/>
        </p:nvGrpSpPr>
        <p:grpSpPr>
          <a:xfrm rot="0">
            <a:off x="9258300" y="8247698"/>
            <a:ext cx="8366760" cy="491305"/>
            <a:chOff x="0" y="0"/>
            <a:chExt cx="11155680" cy="655073"/>
          </a:xfrm>
        </p:grpSpPr>
        <p:sp>
          <p:nvSpPr>
            <p:cNvPr name="Freeform 43" id="43"/>
            <p:cNvSpPr/>
            <p:nvPr/>
          </p:nvSpPr>
          <p:spPr>
            <a:xfrm flipH="false" flipV="false" rot="0">
              <a:off x="0" y="0"/>
              <a:ext cx="11155680" cy="655073"/>
            </a:xfrm>
            <a:custGeom>
              <a:avLst/>
              <a:gdLst/>
              <a:ahLst/>
              <a:cxnLst/>
              <a:rect r="r" b="b" t="t" l="l"/>
              <a:pathLst>
                <a:path h="655073" w="11155680">
                  <a:moveTo>
                    <a:pt x="0" y="0"/>
                  </a:moveTo>
                  <a:lnTo>
                    <a:pt x="11155680" y="0"/>
                  </a:lnTo>
                  <a:lnTo>
                    <a:pt x="11155680" y="655073"/>
                  </a:lnTo>
                  <a:lnTo>
                    <a:pt x="0" y="655073"/>
                  </a:lnTo>
                  <a:close/>
                </a:path>
              </a:pathLst>
            </a:custGeom>
            <a:blipFill>
              <a:blip r:embed="rId4">
                <a:alphaModFix amt="0"/>
              </a:blip>
              <a:stretch>
                <a:fillRect l="0" t="-282968" r="0" b="-280679"/>
              </a:stretch>
            </a:blipFill>
          </p:spPr>
          <p:txBody>
            <a:bodyPr/>
            <a:p/>
          </p:txBody>
        </p:sp>
        <p:sp>
          <p:nvSpPr>
            <p:cNvPr name="TextBox 44" id="44"/>
            <p:cNvSpPr txBox="true"/>
            <p:nvPr/>
          </p:nvSpPr>
          <p:spPr>
            <a:xfrm>
              <a:off x="0" y="-38100"/>
              <a:ext cx="11155680" cy="693173"/>
            </a:xfrm>
            <a:prstGeom prst="rect">
              <a:avLst/>
            </a:prstGeom>
          </p:spPr>
          <p:txBody>
            <a:bodyPr anchor="ctr" rtlCol="false" tIns="0" lIns="0" bIns="0" rIns="0"/>
            <a:lstStyle/>
            <a:p>
              <a:pPr algn="l">
                <a:lnSpc>
                  <a:spcPts val="2160"/>
                </a:lnSpc>
              </a:pPr>
              <a:r>
                <a:rPr lang="en-US" sz="1800" i="true">
                  <a:solidFill>
                    <a:srgbClr val="57534E"/>
                  </a:solidFill>
                  <a:latin typeface="Calibri"/>
                  <a:ea typeface="Calibri"/>
                  <a:cs typeface="Calibri"/>
                  <a:sym typeface="Calibri"/>
                </a:rPr>
                <a:t>Alertmanager during the outage, with Inhibited ticked: the symptoms are held back</a:t>
              </a:r>
            </a:p>
          </p:txBody>
        </p:sp>
      </p:grpSp>
      <p:sp>
        <p:nvSpPr>
          <p:cNvPr name="TextBox 45" id="45"/>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9</a:t>
            </a:r>
          </a:p>
        </p:txBody>
      </p:sp>
      <p:grpSp>
        <p:nvGrpSpPr>
          <p:cNvPr name="Group 46" id="46"/>
          <p:cNvGrpSpPr/>
          <p:nvPr/>
        </p:nvGrpSpPr>
        <p:grpSpPr>
          <a:xfrm rot="0">
            <a:off x="125707" y="43858"/>
            <a:ext cx="3471606" cy="1028700"/>
            <a:chOff x="0" y="0"/>
            <a:chExt cx="2742997" cy="812800"/>
          </a:xfrm>
        </p:grpSpPr>
        <p:sp>
          <p:nvSpPr>
            <p:cNvPr name="Freeform 47" id="47"/>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6"/>
              <a:stretch>
                <a:fillRect l="-833" t="0" r="-833" b="0"/>
              </a:stretch>
            </a:blipFill>
          </p:spPr>
          <p:txBody>
            <a:bodyPr/>
            <a:p/>
          </p:txBody>
        </p:sp>
      </p:grpSp>
      <p:grpSp>
        <p:nvGrpSpPr>
          <p:cNvPr name="Group 48" id="48"/>
          <p:cNvGrpSpPr>
            <a:grpSpLocks noChangeAspect="true"/>
          </p:cNvGrpSpPr>
          <p:nvPr/>
        </p:nvGrpSpPr>
        <p:grpSpPr>
          <a:xfrm rot="0">
            <a:off x="16490259" y="140413"/>
            <a:ext cx="1616205" cy="888287"/>
            <a:chOff x="0" y="0"/>
            <a:chExt cx="2627014" cy="1443840"/>
          </a:xfrm>
        </p:grpSpPr>
        <p:sp>
          <p:nvSpPr>
            <p:cNvPr name="Freeform 49" id="49"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7"/>
              <a:stretch>
                <a:fillRect l="0" t="0" r="0" b="-35871"/>
              </a:stretch>
            </a:blipFill>
          </p:spPr>
          <p:txBody>
            <a:body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sp>
      </p:grpSp>
      <p:grpSp>
        <p:nvGrpSpPr>
          <p:cNvPr name="Group 4" id="4"/>
          <p:cNvGrpSpPr/>
          <p:nvPr/>
        </p:nvGrpSpPr>
        <p:grpSpPr>
          <a:xfrm rot="0">
            <a:off x="1691636" y="43858"/>
            <a:ext cx="16596360" cy="1165860"/>
            <a:chOff x="0" y="0"/>
            <a:chExt cx="22128480" cy="1554480"/>
          </a:xfrm>
        </p:grpSpPr>
        <p:sp>
          <p:nvSpPr>
            <p:cNvPr name="Freeform 5" id="5"/>
            <p:cNvSpPr/>
            <p:nvPr/>
          </p:nvSpPr>
          <p:spPr>
            <a:xfrm flipH="false" flipV="false" rot="0">
              <a:off x="0" y="0"/>
              <a:ext cx="22128480" cy="1554480"/>
            </a:xfrm>
            <a:custGeom>
              <a:avLst/>
              <a:gdLst/>
              <a:ahLst/>
              <a:cxnLst/>
              <a:rect r="r" b="b" t="t" l="l"/>
              <a:pathLst>
                <a:path h="1554480" w="22128480">
                  <a:moveTo>
                    <a:pt x="0" y="0"/>
                  </a:moveTo>
                  <a:lnTo>
                    <a:pt x="22128480" y="0"/>
                  </a:lnTo>
                  <a:lnTo>
                    <a:pt x="22128480" y="1554480"/>
                  </a:lnTo>
                  <a:lnTo>
                    <a:pt x="0" y="1554480"/>
                  </a:lnTo>
                  <a:close/>
                </a:path>
              </a:pathLst>
            </a:custGeom>
            <a:blipFill>
              <a:blip r:embed="rId3">
                <a:alphaModFix amt="0"/>
              </a:blip>
              <a:stretch>
                <a:fillRect l="0" t="-227375" r="0" b="-227375"/>
              </a:stretch>
            </a:blipFill>
          </p:spPr>
        </p:sp>
        <p:sp>
          <p:nvSpPr>
            <p:cNvPr name="TextBox 6" id="6"/>
            <p:cNvSpPr txBox="true"/>
            <p:nvPr/>
          </p:nvSpPr>
          <p:spPr>
            <a:xfrm>
              <a:off x="0" y="-9525"/>
              <a:ext cx="22128480" cy="1564005"/>
            </a:xfrm>
            <a:prstGeom prst="rect">
              <a:avLst/>
            </a:prstGeom>
          </p:spPr>
          <p:txBody>
            <a:bodyPr anchor="ctr" rtlCol="false" tIns="0" lIns="0" bIns="0" rIns="0"/>
            <a:lstStyle/>
            <a:p>
              <a:pPr algn="ctr">
                <a:lnSpc>
                  <a:spcPts val="5759"/>
                </a:lnSpc>
              </a:pPr>
              <a:r>
                <a:rPr lang="en-US" sz="4800" b="true">
                  <a:solidFill>
                    <a:srgbClr val="1C1917"/>
                  </a:solidFill>
                  <a:latin typeface="Cambria"/>
                  <a:ea typeface="Cambria"/>
                  <a:cs typeface="Cambria"/>
                  <a:sym typeface="Cambria"/>
                </a:rPr>
                <a:t>What on-call and the team see</a:t>
              </a:r>
            </a:p>
          </p:txBody>
        </p:sp>
      </p:grpSp>
      <p:grpSp>
        <p:nvGrpSpPr>
          <p:cNvPr name="Group 7" id="7"/>
          <p:cNvGrpSpPr/>
          <p:nvPr/>
        </p:nvGrpSpPr>
        <p:grpSpPr>
          <a:xfrm rot="0">
            <a:off x="812194" y="1312372"/>
            <a:ext cx="7787738" cy="6275243"/>
            <a:chOff x="0" y="0"/>
            <a:chExt cx="8851392" cy="7132320"/>
          </a:xfrm>
        </p:grpSpPr>
        <p:sp>
          <p:nvSpPr>
            <p:cNvPr name="Freeform 8" id="8" descr="Alert email for DependencyDown with summary, details, what to do and labels"/>
            <p:cNvSpPr/>
            <p:nvPr/>
          </p:nvSpPr>
          <p:spPr>
            <a:xfrm flipH="false" flipV="false" rot="0">
              <a:off x="0" y="0"/>
              <a:ext cx="8851392" cy="7132320"/>
            </a:xfrm>
            <a:custGeom>
              <a:avLst/>
              <a:gdLst/>
              <a:ahLst/>
              <a:cxnLst/>
              <a:rect r="r" b="b" t="t" l="l"/>
              <a:pathLst>
                <a:path h="7132320" w="8851392">
                  <a:moveTo>
                    <a:pt x="0" y="0"/>
                  </a:moveTo>
                  <a:lnTo>
                    <a:pt x="8851392" y="0"/>
                  </a:lnTo>
                  <a:lnTo>
                    <a:pt x="8851392" y="7132320"/>
                  </a:lnTo>
                  <a:lnTo>
                    <a:pt x="0" y="7132320"/>
                  </a:lnTo>
                  <a:lnTo>
                    <a:pt x="0" y="0"/>
                  </a:lnTo>
                  <a:close/>
                </a:path>
              </a:pathLst>
            </a:custGeom>
            <a:blipFill>
              <a:blip r:embed="rId4"/>
              <a:stretch>
                <a:fillRect l="-174" t="0" r="-174" b="0"/>
              </a:stretch>
            </a:blipFill>
          </p:spPr>
        </p:sp>
      </p:grpSp>
      <p:grpSp>
        <p:nvGrpSpPr>
          <p:cNvPr name="Group 9" id="9"/>
          <p:cNvGrpSpPr/>
          <p:nvPr/>
        </p:nvGrpSpPr>
        <p:grpSpPr>
          <a:xfrm rot="0">
            <a:off x="9915325" y="1209718"/>
            <a:ext cx="6781695" cy="6377897"/>
            <a:chOff x="0" y="0"/>
            <a:chExt cx="7406640" cy="6965631"/>
          </a:xfrm>
        </p:grpSpPr>
        <p:sp>
          <p:nvSpPr>
            <p:cNvPr name="Freeform 10" id="10" descr="Ops chat channel with firing and resolved alert messages and a green heartbeat badge"/>
            <p:cNvSpPr/>
            <p:nvPr/>
          </p:nvSpPr>
          <p:spPr>
            <a:xfrm flipH="false" flipV="false" rot="0">
              <a:off x="0" y="0"/>
              <a:ext cx="7406640" cy="6965631"/>
            </a:xfrm>
            <a:custGeom>
              <a:avLst/>
              <a:gdLst/>
              <a:ahLst/>
              <a:cxnLst/>
              <a:rect r="r" b="b" t="t" l="l"/>
              <a:pathLst>
                <a:path h="6965631" w="7406640">
                  <a:moveTo>
                    <a:pt x="0" y="0"/>
                  </a:moveTo>
                  <a:lnTo>
                    <a:pt x="7406640" y="0"/>
                  </a:lnTo>
                  <a:lnTo>
                    <a:pt x="7406640" y="6965631"/>
                  </a:lnTo>
                  <a:lnTo>
                    <a:pt x="0" y="6965631"/>
                  </a:lnTo>
                  <a:lnTo>
                    <a:pt x="0" y="0"/>
                  </a:lnTo>
                  <a:close/>
                </a:path>
              </a:pathLst>
            </a:custGeom>
            <a:blipFill>
              <a:blip r:embed="rId5"/>
              <a:stretch>
                <a:fillRect l="0" t="-1155" r="0" b="-1155"/>
              </a:stretch>
            </a:blipFill>
          </p:spPr>
        </p:sp>
      </p:grpSp>
      <p:sp>
        <p:nvSpPr>
          <p:cNvPr name="TextBox 11" id="11"/>
          <p:cNvSpPr txBox="true"/>
          <p:nvPr/>
        </p:nvSpPr>
        <p:spPr>
          <a:xfrm rot="0">
            <a:off x="822960" y="7692390"/>
            <a:ext cx="8161020" cy="1565910"/>
          </a:xfrm>
          <a:prstGeom prst="rect">
            <a:avLst/>
          </a:prstGeom>
        </p:spPr>
        <p:txBody>
          <a:bodyPr anchor="t" rtlCol="false" tIns="0" lIns="0" bIns="0" rIns="0">
            <a:spAutoFit/>
          </a:bodyPr>
          <a:lstStyle/>
          <a:p>
            <a:pPr algn="l">
              <a:lnSpc>
                <a:spcPts val="2700"/>
              </a:lnSpc>
            </a:pPr>
            <a:r>
              <a:rPr lang="en-US" sz="2250" b="true">
                <a:solidFill>
                  <a:srgbClr val="E6522C"/>
                </a:solidFill>
                <a:latin typeface="Calibri"/>
                <a:ea typeface="Calibri"/>
                <a:cs typeface="Calibri"/>
                <a:sym typeface="Calibri"/>
              </a:rPr>
              <a:t>On-call email</a:t>
            </a:r>
          </a:p>
          <a:p>
            <a:pPr algn="l">
              <a:lnSpc>
                <a:spcPts val="2700"/>
              </a:lnSpc>
            </a:pPr>
            <a:r>
              <a:rPr lang="en-US" sz="2250">
                <a:solidFill>
                  <a:srgbClr val="1C1917"/>
                </a:solidFill>
                <a:latin typeface="Calibri"/>
                <a:ea typeface="Calibri"/>
                <a:cs typeface="Calibri"/>
                <a:sym typeface="Calibri"/>
              </a:rPr>
              <a:t>Subject and HTML body come from our template, including a "what to do" line.</a:t>
            </a:r>
          </a:p>
        </p:txBody>
      </p:sp>
      <p:sp>
        <p:nvSpPr>
          <p:cNvPr name="TextBox 12" id="12"/>
          <p:cNvSpPr txBox="true"/>
          <p:nvPr/>
        </p:nvSpPr>
        <p:spPr>
          <a:xfrm rot="0">
            <a:off x="9258300" y="7692390"/>
            <a:ext cx="8161020" cy="1565910"/>
          </a:xfrm>
          <a:prstGeom prst="rect">
            <a:avLst/>
          </a:prstGeom>
        </p:spPr>
        <p:txBody>
          <a:bodyPr anchor="t" rtlCol="false" tIns="0" lIns="0" bIns="0" rIns="0">
            <a:spAutoFit/>
          </a:bodyPr>
          <a:lstStyle/>
          <a:p>
            <a:pPr algn="l">
              <a:lnSpc>
                <a:spcPts val="2700"/>
              </a:lnSpc>
            </a:pPr>
            <a:r>
              <a:rPr lang="en-US" sz="2250" b="true">
                <a:solidFill>
                  <a:srgbClr val="E6522C"/>
                </a:solidFill>
                <a:latin typeface="Calibri"/>
                <a:ea typeface="Calibri"/>
                <a:cs typeface="Calibri"/>
                <a:sym typeface="Calibri"/>
              </a:rPr>
              <a:t>#ops-chat</a:t>
            </a:r>
          </a:p>
          <a:p>
            <a:pPr algn="l">
              <a:lnSpc>
                <a:spcPts val="2700"/>
              </a:lnSpc>
            </a:pPr>
            <a:r>
              <a:rPr lang="en-US" sz="2250">
                <a:solidFill>
                  <a:srgbClr val="1C1917"/>
                </a:solidFill>
                <a:latin typeface="Calibri"/>
                <a:ea typeface="Calibri"/>
                <a:cs typeface="Calibri"/>
                <a:sym typeface="Calibri"/>
              </a:rPr>
              <a:t>Every warning and critical alert appears here, first as FIRING, then as RESOLVED.</a:t>
            </a:r>
          </a:p>
        </p:txBody>
      </p:sp>
      <p:sp>
        <p:nvSpPr>
          <p:cNvPr name="TextBox 13" id="13"/>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10</a:t>
            </a:r>
          </a:p>
        </p:txBody>
      </p:sp>
      <p:grpSp>
        <p:nvGrpSpPr>
          <p:cNvPr name="Group 14" id="14"/>
          <p:cNvGrpSpPr/>
          <p:nvPr/>
        </p:nvGrpSpPr>
        <p:grpSpPr>
          <a:xfrm rot="0">
            <a:off x="125707" y="43858"/>
            <a:ext cx="3471606" cy="1028700"/>
            <a:chOff x="0" y="0"/>
            <a:chExt cx="2742997" cy="812800"/>
          </a:xfrm>
        </p:grpSpPr>
        <p:sp>
          <p:nvSpPr>
            <p:cNvPr name="Freeform 15" id="15"/>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6"/>
              <a:stretch>
                <a:fillRect l="-833" t="0" r="-833" b="0"/>
              </a:stretch>
            </a:blipFill>
          </p:spPr>
        </p:sp>
      </p:grpSp>
      <p:grpSp>
        <p:nvGrpSpPr>
          <p:cNvPr name="Group 16" id="16"/>
          <p:cNvGrpSpPr>
            <a:grpSpLocks noChangeAspect="true"/>
          </p:cNvGrpSpPr>
          <p:nvPr/>
        </p:nvGrpSpPr>
        <p:grpSpPr>
          <a:xfrm rot="5400000">
            <a:off x="11132594" y="2264880"/>
            <a:ext cx="311239" cy="13999572"/>
            <a:chOff x="0" y="0"/>
            <a:chExt cx="414986" cy="18666096"/>
          </a:xfrm>
        </p:grpSpPr>
        <p:sp>
          <p:nvSpPr>
            <p:cNvPr name="Freeform 17" id="17"/>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7"/>
              <a:stretch>
                <a:fillRect l="0" t="0" r="-274183" b="0"/>
              </a:stretch>
            </a:blipFill>
          </p:spPr>
        </p:sp>
      </p:grpSp>
      <p:grpSp>
        <p:nvGrpSpPr>
          <p:cNvPr name="Group 18" id="18"/>
          <p:cNvGrpSpPr>
            <a:grpSpLocks noChangeAspect="true"/>
          </p:cNvGrpSpPr>
          <p:nvPr/>
        </p:nvGrpSpPr>
        <p:grpSpPr>
          <a:xfrm rot="0">
            <a:off x="16490259" y="140413"/>
            <a:ext cx="1616205" cy="888287"/>
            <a:chOff x="0" y="0"/>
            <a:chExt cx="2627014" cy="1443840"/>
          </a:xfrm>
        </p:grpSpPr>
        <p:sp>
          <p:nvSpPr>
            <p:cNvPr name="Freeform 19" id="19"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8"/>
              <a:stretch>
                <a:fillRect l="0" t="0" r="0" b="-35871"/>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sp>
      </p:grpSp>
      <p:grpSp>
        <p:nvGrpSpPr>
          <p:cNvPr name="Group 4" id="4"/>
          <p:cNvGrpSpPr/>
          <p:nvPr/>
        </p:nvGrpSpPr>
        <p:grpSpPr>
          <a:xfrm rot="0">
            <a:off x="1691640" y="171450"/>
            <a:ext cx="16596360" cy="1165860"/>
            <a:chOff x="0" y="0"/>
            <a:chExt cx="22128480" cy="1554480"/>
          </a:xfrm>
        </p:grpSpPr>
        <p:sp>
          <p:nvSpPr>
            <p:cNvPr name="Freeform 5" id="5"/>
            <p:cNvSpPr/>
            <p:nvPr/>
          </p:nvSpPr>
          <p:spPr>
            <a:xfrm flipH="false" flipV="false" rot="0">
              <a:off x="0" y="0"/>
              <a:ext cx="22128480" cy="1554480"/>
            </a:xfrm>
            <a:custGeom>
              <a:avLst/>
              <a:gdLst/>
              <a:ahLst/>
              <a:cxnLst/>
              <a:rect r="r" b="b" t="t" l="l"/>
              <a:pathLst>
                <a:path h="1554480" w="22128480">
                  <a:moveTo>
                    <a:pt x="0" y="0"/>
                  </a:moveTo>
                  <a:lnTo>
                    <a:pt x="22128480" y="0"/>
                  </a:lnTo>
                  <a:lnTo>
                    <a:pt x="22128480" y="1554480"/>
                  </a:lnTo>
                  <a:lnTo>
                    <a:pt x="0" y="1554480"/>
                  </a:lnTo>
                  <a:close/>
                </a:path>
              </a:pathLst>
            </a:custGeom>
            <a:blipFill>
              <a:blip r:embed="rId3">
                <a:alphaModFix amt="0"/>
              </a:blip>
              <a:stretch>
                <a:fillRect l="0" t="-227375" r="0" b="-227375"/>
              </a:stretch>
            </a:blipFill>
          </p:spPr>
        </p:sp>
        <p:sp>
          <p:nvSpPr>
            <p:cNvPr name="TextBox 6" id="6"/>
            <p:cNvSpPr txBox="true"/>
            <p:nvPr/>
          </p:nvSpPr>
          <p:spPr>
            <a:xfrm>
              <a:off x="0" y="-9525"/>
              <a:ext cx="22128480" cy="1564005"/>
            </a:xfrm>
            <a:prstGeom prst="rect">
              <a:avLst/>
            </a:prstGeom>
          </p:spPr>
          <p:txBody>
            <a:bodyPr anchor="ctr" rtlCol="false" tIns="0" lIns="0" bIns="0" rIns="0"/>
            <a:lstStyle/>
            <a:p>
              <a:pPr algn="ctr">
                <a:lnSpc>
                  <a:spcPts val="5759"/>
                </a:lnSpc>
              </a:pPr>
              <a:r>
                <a:rPr lang="en-US" sz="4800" b="true">
                  <a:solidFill>
                    <a:srgbClr val="1C1917"/>
                  </a:solidFill>
                  <a:latin typeface="Cambria"/>
                  <a:ea typeface="Cambria"/>
                  <a:cs typeface="Cambria"/>
                  <a:sym typeface="Cambria"/>
                </a:rPr>
                <a:t>Every failure detected within 90 seconds</a:t>
              </a:r>
            </a:p>
          </p:txBody>
        </p:sp>
      </p:grpSp>
      <p:grpSp>
        <p:nvGrpSpPr>
          <p:cNvPr name="Group 8" id="8"/>
          <p:cNvGrpSpPr/>
          <p:nvPr/>
        </p:nvGrpSpPr>
        <p:grpSpPr>
          <a:xfrm rot="0">
            <a:off x="12230100" y="1622728"/>
            <a:ext cx="5212080" cy="1069848"/>
            <a:chOff x="0" y="0"/>
            <a:chExt cx="6949440" cy="1426464"/>
          </a:xfrm>
        </p:grpSpPr>
        <p:sp>
          <p:nvSpPr>
            <p:cNvPr name="Freeform 9" id="9"/>
            <p:cNvSpPr/>
            <p:nvPr/>
          </p:nvSpPr>
          <p:spPr>
            <a:xfrm flipH="false" flipV="false" rot="0">
              <a:off x="0" y="0"/>
              <a:ext cx="6949440" cy="1426464"/>
            </a:xfrm>
            <a:custGeom>
              <a:avLst/>
              <a:gdLst/>
              <a:ahLst/>
              <a:cxnLst/>
              <a:rect r="r" b="b" t="t" l="l"/>
              <a:pathLst>
                <a:path h="1426464" w="6949440">
                  <a:moveTo>
                    <a:pt x="0" y="0"/>
                  </a:moveTo>
                  <a:lnTo>
                    <a:pt x="6949440" y="0"/>
                  </a:lnTo>
                  <a:lnTo>
                    <a:pt x="6949440" y="1426464"/>
                  </a:lnTo>
                  <a:lnTo>
                    <a:pt x="0" y="1426464"/>
                  </a:lnTo>
                  <a:close/>
                </a:path>
              </a:pathLst>
            </a:custGeom>
            <a:blipFill>
              <a:blip r:embed="rId3">
                <a:alphaModFix amt="0"/>
              </a:blip>
              <a:stretch>
                <a:fillRect l="0" t="-44927" r="0" b="-44927"/>
              </a:stretch>
            </a:blipFill>
          </p:spPr>
        </p:sp>
        <p:sp>
          <p:nvSpPr>
            <p:cNvPr name="TextBox 10" id="10"/>
            <p:cNvSpPr txBox="true"/>
            <p:nvPr/>
          </p:nvSpPr>
          <p:spPr>
            <a:xfrm>
              <a:off x="0" y="-9525"/>
              <a:ext cx="6949440" cy="1435989"/>
            </a:xfrm>
            <a:prstGeom prst="rect">
              <a:avLst/>
            </a:prstGeom>
          </p:spPr>
          <p:txBody>
            <a:bodyPr anchor="ctr" rtlCol="false" tIns="0" lIns="0" bIns="0" rIns="0"/>
            <a:lstStyle/>
            <a:p>
              <a:pPr algn="l">
                <a:lnSpc>
                  <a:spcPts val="7200"/>
                </a:lnSpc>
              </a:pPr>
              <a:r>
                <a:rPr lang="en-US" sz="6000" b="true">
                  <a:solidFill>
                    <a:srgbClr val="E6522C"/>
                  </a:solidFill>
                  <a:latin typeface="Cambria"/>
                  <a:ea typeface="Cambria"/>
                  <a:cs typeface="Cambria"/>
                  <a:sym typeface="Cambria"/>
                </a:rPr>
                <a:t>9 / 9</a:t>
              </a:r>
            </a:p>
          </p:txBody>
        </p:sp>
      </p:grpSp>
      <p:grpSp>
        <p:nvGrpSpPr>
          <p:cNvPr name="Group 11" id="11"/>
          <p:cNvGrpSpPr/>
          <p:nvPr/>
        </p:nvGrpSpPr>
        <p:grpSpPr>
          <a:xfrm rot="0">
            <a:off x="12230100" y="2665144"/>
            <a:ext cx="5212080" cy="548640"/>
            <a:chOff x="0" y="0"/>
            <a:chExt cx="6949440" cy="731520"/>
          </a:xfrm>
        </p:grpSpPr>
        <p:sp>
          <p:nvSpPr>
            <p:cNvPr name="Freeform 12" id="12"/>
            <p:cNvSpPr/>
            <p:nvPr/>
          </p:nvSpPr>
          <p:spPr>
            <a:xfrm flipH="false" flipV="false" rot="0">
              <a:off x="0" y="0"/>
              <a:ext cx="6949440" cy="731520"/>
            </a:xfrm>
            <a:custGeom>
              <a:avLst/>
              <a:gdLst/>
              <a:ahLst/>
              <a:cxnLst/>
              <a:rect r="r" b="b" t="t" l="l"/>
              <a:pathLst>
                <a:path h="731520" w="6949440">
                  <a:moveTo>
                    <a:pt x="0" y="0"/>
                  </a:moveTo>
                  <a:lnTo>
                    <a:pt x="6949440" y="0"/>
                  </a:lnTo>
                  <a:lnTo>
                    <a:pt x="6949440" y="731520"/>
                  </a:lnTo>
                  <a:lnTo>
                    <a:pt x="0" y="731520"/>
                  </a:lnTo>
                  <a:close/>
                </a:path>
              </a:pathLst>
            </a:custGeom>
            <a:blipFill>
              <a:blip r:embed="rId3">
                <a:alphaModFix amt="0"/>
              </a:blip>
              <a:stretch>
                <a:fillRect l="0" t="-135107" r="0" b="-135107"/>
              </a:stretch>
            </a:blipFill>
          </p:spPr>
        </p:sp>
        <p:sp>
          <p:nvSpPr>
            <p:cNvPr name="TextBox 13" id="13"/>
            <p:cNvSpPr txBox="true"/>
            <p:nvPr/>
          </p:nvSpPr>
          <p:spPr>
            <a:xfrm>
              <a:off x="0" y="-47625"/>
              <a:ext cx="6949440" cy="779145"/>
            </a:xfrm>
            <a:prstGeom prst="rect">
              <a:avLst/>
            </a:prstGeom>
          </p:spPr>
          <p:txBody>
            <a:bodyPr anchor="ctr" rtlCol="false" tIns="0" lIns="0" bIns="0" rIns="0"/>
            <a:lstStyle/>
            <a:p>
              <a:pPr algn="l">
                <a:lnSpc>
                  <a:spcPts val="2520"/>
                </a:lnSpc>
              </a:pPr>
              <a:r>
                <a:rPr lang="en-US" sz="2100">
                  <a:solidFill>
                    <a:srgbClr val="57534E"/>
                  </a:solidFill>
                  <a:latin typeface="Calibri"/>
                  <a:ea typeface="Calibri"/>
                  <a:cs typeface="Calibri"/>
                  <a:sym typeface="Calibri"/>
                </a:rPr>
                <a:t>failures detected</a:t>
              </a:r>
            </a:p>
          </p:txBody>
        </p:sp>
      </p:grpSp>
      <p:grpSp>
        <p:nvGrpSpPr>
          <p:cNvPr name="Group 14" id="14"/>
          <p:cNvGrpSpPr/>
          <p:nvPr/>
        </p:nvGrpSpPr>
        <p:grpSpPr>
          <a:xfrm rot="0">
            <a:off x="12230100" y="3474388"/>
            <a:ext cx="5212080" cy="1069848"/>
            <a:chOff x="0" y="0"/>
            <a:chExt cx="6949440" cy="1426464"/>
          </a:xfrm>
        </p:grpSpPr>
        <p:sp>
          <p:nvSpPr>
            <p:cNvPr name="Freeform 15" id="15"/>
            <p:cNvSpPr/>
            <p:nvPr/>
          </p:nvSpPr>
          <p:spPr>
            <a:xfrm flipH="false" flipV="false" rot="0">
              <a:off x="0" y="0"/>
              <a:ext cx="6949440" cy="1426464"/>
            </a:xfrm>
            <a:custGeom>
              <a:avLst/>
              <a:gdLst/>
              <a:ahLst/>
              <a:cxnLst/>
              <a:rect r="r" b="b" t="t" l="l"/>
              <a:pathLst>
                <a:path h="1426464" w="6949440">
                  <a:moveTo>
                    <a:pt x="0" y="0"/>
                  </a:moveTo>
                  <a:lnTo>
                    <a:pt x="6949440" y="0"/>
                  </a:lnTo>
                  <a:lnTo>
                    <a:pt x="6949440" y="1426464"/>
                  </a:lnTo>
                  <a:lnTo>
                    <a:pt x="0" y="1426464"/>
                  </a:lnTo>
                  <a:close/>
                </a:path>
              </a:pathLst>
            </a:custGeom>
            <a:blipFill>
              <a:blip r:embed="rId3">
                <a:alphaModFix amt="0"/>
              </a:blip>
              <a:stretch>
                <a:fillRect l="0" t="-44927" r="0" b="-44927"/>
              </a:stretch>
            </a:blipFill>
          </p:spPr>
        </p:sp>
        <p:sp>
          <p:nvSpPr>
            <p:cNvPr name="TextBox 16" id="16"/>
            <p:cNvSpPr txBox="true"/>
            <p:nvPr/>
          </p:nvSpPr>
          <p:spPr>
            <a:xfrm>
              <a:off x="0" y="-9525"/>
              <a:ext cx="6949440" cy="1435989"/>
            </a:xfrm>
            <a:prstGeom prst="rect">
              <a:avLst/>
            </a:prstGeom>
          </p:spPr>
          <p:txBody>
            <a:bodyPr anchor="ctr" rtlCol="false" tIns="0" lIns="0" bIns="0" rIns="0"/>
            <a:lstStyle/>
            <a:p>
              <a:pPr algn="l">
                <a:lnSpc>
                  <a:spcPts val="7200"/>
                </a:lnSpc>
              </a:pPr>
              <a:r>
                <a:rPr lang="en-US" sz="6000" b="true">
                  <a:solidFill>
                    <a:srgbClr val="E6522C"/>
                  </a:solidFill>
                  <a:latin typeface="Cambria"/>
                  <a:ea typeface="Cambria"/>
                  <a:cs typeface="Cambria"/>
                  <a:sym typeface="Cambria"/>
                </a:rPr>
                <a:t>60 s</a:t>
              </a:r>
            </a:p>
          </p:txBody>
        </p:sp>
      </p:grpSp>
      <p:grpSp>
        <p:nvGrpSpPr>
          <p:cNvPr name="Group 17" id="17"/>
          <p:cNvGrpSpPr/>
          <p:nvPr/>
        </p:nvGrpSpPr>
        <p:grpSpPr>
          <a:xfrm rot="0">
            <a:off x="12230100" y="4516804"/>
            <a:ext cx="5212080" cy="548640"/>
            <a:chOff x="0" y="0"/>
            <a:chExt cx="6949440" cy="731520"/>
          </a:xfrm>
        </p:grpSpPr>
        <p:sp>
          <p:nvSpPr>
            <p:cNvPr name="Freeform 18" id="18"/>
            <p:cNvSpPr/>
            <p:nvPr/>
          </p:nvSpPr>
          <p:spPr>
            <a:xfrm flipH="false" flipV="false" rot="0">
              <a:off x="0" y="0"/>
              <a:ext cx="6949440" cy="731520"/>
            </a:xfrm>
            <a:custGeom>
              <a:avLst/>
              <a:gdLst/>
              <a:ahLst/>
              <a:cxnLst/>
              <a:rect r="r" b="b" t="t" l="l"/>
              <a:pathLst>
                <a:path h="731520" w="6949440">
                  <a:moveTo>
                    <a:pt x="0" y="0"/>
                  </a:moveTo>
                  <a:lnTo>
                    <a:pt x="6949440" y="0"/>
                  </a:lnTo>
                  <a:lnTo>
                    <a:pt x="6949440" y="731520"/>
                  </a:lnTo>
                  <a:lnTo>
                    <a:pt x="0" y="731520"/>
                  </a:lnTo>
                  <a:close/>
                </a:path>
              </a:pathLst>
            </a:custGeom>
            <a:blipFill>
              <a:blip r:embed="rId3">
                <a:alphaModFix amt="0"/>
              </a:blip>
              <a:stretch>
                <a:fillRect l="0" t="-135107" r="0" b="-135107"/>
              </a:stretch>
            </a:blipFill>
          </p:spPr>
        </p:sp>
        <p:sp>
          <p:nvSpPr>
            <p:cNvPr name="TextBox 19" id="19"/>
            <p:cNvSpPr txBox="true"/>
            <p:nvPr/>
          </p:nvSpPr>
          <p:spPr>
            <a:xfrm>
              <a:off x="0" y="-47625"/>
              <a:ext cx="6949440" cy="779145"/>
            </a:xfrm>
            <a:prstGeom prst="rect">
              <a:avLst/>
            </a:prstGeom>
          </p:spPr>
          <p:txBody>
            <a:bodyPr anchor="ctr" rtlCol="false" tIns="0" lIns="0" bIns="0" rIns="0"/>
            <a:lstStyle/>
            <a:p>
              <a:pPr algn="l">
                <a:lnSpc>
                  <a:spcPts val="2520"/>
                </a:lnSpc>
              </a:pPr>
              <a:r>
                <a:rPr lang="en-US" sz="2100">
                  <a:solidFill>
                    <a:srgbClr val="57534E"/>
                  </a:solidFill>
                  <a:latin typeface="Calibri"/>
                  <a:ea typeface="Calibri"/>
                  <a:cs typeface="Calibri"/>
                  <a:sym typeface="Calibri"/>
                </a:rPr>
                <a:t>median time to first message</a:t>
              </a:r>
            </a:p>
          </p:txBody>
        </p:sp>
      </p:grpSp>
      <p:grpSp>
        <p:nvGrpSpPr>
          <p:cNvPr name="Group 20" id="20"/>
          <p:cNvGrpSpPr/>
          <p:nvPr/>
        </p:nvGrpSpPr>
        <p:grpSpPr>
          <a:xfrm rot="0">
            <a:off x="12230100" y="5326048"/>
            <a:ext cx="5212080" cy="1069848"/>
            <a:chOff x="0" y="0"/>
            <a:chExt cx="6949440" cy="1426464"/>
          </a:xfrm>
        </p:grpSpPr>
        <p:sp>
          <p:nvSpPr>
            <p:cNvPr name="Freeform 21" id="21"/>
            <p:cNvSpPr/>
            <p:nvPr/>
          </p:nvSpPr>
          <p:spPr>
            <a:xfrm flipH="false" flipV="false" rot="0">
              <a:off x="0" y="0"/>
              <a:ext cx="6949440" cy="1426464"/>
            </a:xfrm>
            <a:custGeom>
              <a:avLst/>
              <a:gdLst/>
              <a:ahLst/>
              <a:cxnLst/>
              <a:rect r="r" b="b" t="t" l="l"/>
              <a:pathLst>
                <a:path h="1426464" w="6949440">
                  <a:moveTo>
                    <a:pt x="0" y="0"/>
                  </a:moveTo>
                  <a:lnTo>
                    <a:pt x="6949440" y="0"/>
                  </a:lnTo>
                  <a:lnTo>
                    <a:pt x="6949440" y="1426464"/>
                  </a:lnTo>
                  <a:lnTo>
                    <a:pt x="0" y="1426464"/>
                  </a:lnTo>
                  <a:close/>
                </a:path>
              </a:pathLst>
            </a:custGeom>
            <a:blipFill>
              <a:blip r:embed="rId3">
                <a:alphaModFix amt="0"/>
              </a:blip>
              <a:stretch>
                <a:fillRect l="0" t="-44927" r="0" b="-44927"/>
              </a:stretch>
            </a:blipFill>
          </p:spPr>
        </p:sp>
        <p:sp>
          <p:nvSpPr>
            <p:cNvPr name="TextBox 22" id="22"/>
            <p:cNvSpPr txBox="true"/>
            <p:nvPr/>
          </p:nvSpPr>
          <p:spPr>
            <a:xfrm>
              <a:off x="0" y="-9525"/>
              <a:ext cx="6949440" cy="1435989"/>
            </a:xfrm>
            <a:prstGeom prst="rect">
              <a:avLst/>
            </a:prstGeom>
          </p:spPr>
          <p:txBody>
            <a:bodyPr anchor="ctr" rtlCol="false" tIns="0" lIns="0" bIns="0" rIns="0"/>
            <a:lstStyle/>
            <a:p>
              <a:pPr algn="l">
                <a:lnSpc>
                  <a:spcPts val="7200"/>
                </a:lnSpc>
              </a:pPr>
              <a:r>
                <a:rPr lang="en-US" sz="6000" b="true">
                  <a:solidFill>
                    <a:srgbClr val="E6522C"/>
                  </a:solidFill>
                  <a:latin typeface="Cambria"/>
                  <a:ea typeface="Cambria"/>
                  <a:cs typeface="Cambria"/>
                  <a:sym typeface="Cambria"/>
                </a:rPr>
                <a:t>0</a:t>
              </a:r>
            </a:p>
          </p:txBody>
        </p:sp>
      </p:grpSp>
      <p:grpSp>
        <p:nvGrpSpPr>
          <p:cNvPr name="Group 23" id="23"/>
          <p:cNvGrpSpPr/>
          <p:nvPr/>
        </p:nvGrpSpPr>
        <p:grpSpPr>
          <a:xfrm rot="0">
            <a:off x="12230100" y="6368464"/>
            <a:ext cx="5212080" cy="548640"/>
            <a:chOff x="0" y="0"/>
            <a:chExt cx="6949440" cy="731520"/>
          </a:xfrm>
        </p:grpSpPr>
        <p:sp>
          <p:nvSpPr>
            <p:cNvPr name="Freeform 24" id="24"/>
            <p:cNvSpPr/>
            <p:nvPr/>
          </p:nvSpPr>
          <p:spPr>
            <a:xfrm flipH="false" flipV="false" rot="0">
              <a:off x="0" y="0"/>
              <a:ext cx="6949440" cy="731520"/>
            </a:xfrm>
            <a:custGeom>
              <a:avLst/>
              <a:gdLst/>
              <a:ahLst/>
              <a:cxnLst/>
              <a:rect r="r" b="b" t="t" l="l"/>
              <a:pathLst>
                <a:path h="731520" w="6949440">
                  <a:moveTo>
                    <a:pt x="0" y="0"/>
                  </a:moveTo>
                  <a:lnTo>
                    <a:pt x="6949440" y="0"/>
                  </a:lnTo>
                  <a:lnTo>
                    <a:pt x="6949440" y="731520"/>
                  </a:lnTo>
                  <a:lnTo>
                    <a:pt x="0" y="731520"/>
                  </a:lnTo>
                  <a:close/>
                </a:path>
              </a:pathLst>
            </a:custGeom>
            <a:blipFill>
              <a:blip r:embed="rId3">
                <a:alphaModFix amt="0"/>
              </a:blip>
              <a:stretch>
                <a:fillRect l="0" t="-135107" r="0" b="-135107"/>
              </a:stretch>
            </a:blipFill>
          </p:spPr>
        </p:sp>
        <p:sp>
          <p:nvSpPr>
            <p:cNvPr name="TextBox 25" id="25"/>
            <p:cNvSpPr txBox="true"/>
            <p:nvPr/>
          </p:nvSpPr>
          <p:spPr>
            <a:xfrm>
              <a:off x="0" y="-47625"/>
              <a:ext cx="6949440" cy="779145"/>
            </a:xfrm>
            <a:prstGeom prst="rect">
              <a:avLst/>
            </a:prstGeom>
          </p:spPr>
          <p:txBody>
            <a:bodyPr anchor="ctr" rtlCol="false" tIns="0" lIns="0" bIns="0" rIns="0"/>
            <a:lstStyle/>
            <a:p>
              <a:pPr algn="l">
                <a:lnSpc>
                  <a:spcPts val="2520"/>
                </a:lnSpc>
              </a:pPr>
              <a:r>
                <a:rPr lang="en-US" sz="2100">
                  <a:solidFill>
                    <a:srgbClr val="57534E"/>
                  </a:solidFill>
                  <a:latin typeface="Calibri"/>
                  <a:ea typeface="Calibri"/>
                  <a:cs typeface="Calibri"/>
                  <a:sym typeface="Calibri"/>
                </a:rPr>
                <a:t>pages for a 10-second blip</a:t>
              </a:r>
            </a:p>
          </p:txBody>
        </p:sp>
      </p:grpSp>
      <p:grpSp>
        <p:nvGrpSpPr>
          <p:cNvPr name="Group 26" id="26"/>
          <p:cNvGrpSpPr/>
          <p:nvPr/>
        </p:nvGrpSpPr>
        <p:grpSpPr>
          <a:xfrm rot="0">
            <a:off x="12230100" y="7177708"/>
            <a:ext cx="5212080" cy="1069848"/>
            <a:chOff x="0" y="0"/>
            <a:chExt cx="6949440" cy="1426464"/>
          </a:xfrm>
        </p:grpSpPr>
        <p:sp>
          <p:nvSpPr>
            <p:cNvPr name="Freeform 27" id="27"/>
            <p:cNvSpPr/>
            <p:nvPr/>
          </p:nvSpPr>
          <p:spPr>
            <a:xfrm flipH="false" flipV="false" rot="0">
              <a:off x="0" y="0"/>
              <a:ext cx="6949440" cy="1426464"/>
            </a:xfrm>
            <a:custGeom>
              <a:avLst/>
              <a:gdLst/>
              <a:ahLst/>
              <a:cxnLst/>
              <a:rect r="r" b="b" t="t" l="l"/>
              <a:pathLst>
                <a:path h="1426464" w="6949440">
                  <a:moveTo>
                    <a:pt x="0" y="0"/>
                  </a:moveTo>
                  <a:lnTo>
                    <a:pt x="6949440" y="0"/>
                  </a:lnTo>
                  <a:lnTo>
                    <a:pt x="6949440" y="1426464"/>
                  </a:lnTo>
                  <a:lnTo>
                    <a:pt x="0" y="1426464"/>
                  </a:lnTo>
                  <a:close/>
                </a:path>
              </a:pathLst>
            </a:custGeom>
            <a:blipFill>
              <a:blip r:embed="rId3">
                <a:alphaModFix amt="0"/>
              </a:blip>
              <a:stretch>
                <a:fillRect l="0" t="-44927" r="0" b="-44927"/>
              </a:stretch>
            </a:blipFill>
          </p:spPr>
        </p:sp>
        <p:sp>
          <p:nvSpPr>
            <p:cNvPr name="TextBox 28" id="28"/>
            <p:cNvSpPr txBox="true"/>
            <p:nvPr/>
          </p:nvSpPr>
          <p:spPr>
            <a:xfrm>
              <a:off x="0" y="-9525"/>
              <a:ext cx="6949440" cy="1435989"/>
            </a:xfrm>
            <a:prstGeom prst="rect">
              <a:avLst/>
            </a:prstGeom>
          </p:spPr>
          <p:txBody>
            <a:bodyPr anchor="ctr" rtlCol="false" tIns="0" lIns="0" bIns="0" rIns="0"/>
            <a:lstStyle/>
            <a:p>
              <a:pPr algn="l">
                <a:lnSpc>
                  <a:spcPts val="7200"/>
                </a:lnSpc>
              </a:pPr>
              <a:r>
                <a:rPr lang="en-US" sz="6000" b="true">
                  <a:solidFill>
                    <a:srgbClr val="E6522C"/>
                  </a:solidFill>
                  <a:latin typeface="Cambria"/>
                  <a:ea typeface="Cambria"/>
                  <a:cs typeface="Cambria"/>
                  <a:sym typeface="Cambria"/>
                </a:rPr>
                <a:t>4 → 1</a:t>
              </a:r>
            </a:p>
          </p:txBody>
        </p:sp>
      </p:grpSp>
      <p:grpSp>
        <p:nvGrpSpPr>
          <p:cNvPr name="Group 29" id="29"/>
          <p:cNvGrpSpPr/>
          <p:nvPr/>
        </p:nvGrpSpPr>
        <p:grpSpPr>
          <a:xfrm rot="0">
            <a:off x="12230100" y="8220124"/>
            <a:ext cx="5212080" cy="548640"/>
            <a:chOff x="0" y="0"/>
            <a:chExt cx="6949440" cy="731520"/>
          </a:xfrm>
        </p:grpSpPr>
        <p:sp>
          <p:nvSpPr>
            <p:cNvPr name="Freeform 30" id="30"/>
            <p:cNvSpPr/>
            <p:nvPr/>
          </p:nvSpPr>
          <p:spPr>
            <a:xfrm flipH="false" flipV="false" rot="0">
              <a:off x="0" y="0"/>
              <a:ext cx="6949440" cy="731520"/>
            </a:xfrm>
            <a:custGeom>
              <a:avLst/>
              <a:gdLst/>
              <a:ahLst/>
              <a:cxnLst/>
              <a:rect r="r" b="b" t="t" l="l"/>
              <a:pathLst>
                <a:path h="731520" w="6949440">
                  <a:moveTo>
                    <a:pt x="0" y="0"/>
                  </a:moveTo>
                  <a:lnTo>
                    <a:pt x="6949440" y="0"/>
                  </a:lnTo>
                  <a:lnTo>
                    <a:pt x="6949440" y="731520"/>
                  </a:lnTo>
                  <a:lnTo>
                    <a:pt x="0" y="731520"/>
                  </a:lnTo>
                  <a:close/>
                </a:path>
              </a:pathLst>
            </a:custGeom>
            <a:blipFill>
              <a:blip r:embed="rId3">
                <a:alphaModFix amt="0"/>
              </a:blip>
              <a:stretch>
                <a:fillRect l="0" t="-135107" r="0" b="-135107"/>
              </a:stretch>
            </a:blipFill>
          </p:spPr>
        </p:sp>
        <p:sp>
          <p:nvSpPr>
            <p:cNvPr name="TextBox 31" id="31"/>
            <p:cNvSpPr txBox="true"/>
            <p:nvPr/>
          </p:nvSpPr>
          <p:spPr>
            <a:xfrm>
              <a:off x="0" y="-47625"/>
              <a:ext cx="6949440" cy="779145"/>
            </a:xfrm>
            <a:prstGeom prst="rect">
              <a:avLst/>
            </a:prstGeom>
          </p:spPr>
          <p:txBody>
            <a:bodyPr anchor="ctr" rtlCol="false" tIns="0" lIns="0" bIns="0" rIns="0"/>
            <a:lstStyle/>
            <a:p>
              <a:pPr algn="l">
                <a:lnSpc>
                  <a:spcPts val="2520"/>
                </a:lnSpc>
              </a:pPr>
              <a:r>
                <a:rPr lang="en-US" sz="2100">
                  <a:solidFill>
                    <a:srgbClr val="57534E"/>
                  </a:solidFill>
                  <a:latin typeface="Calibri"/>
                  <a:ea typeface="Calibri"/>
                  <a:cs typeface="Calibri"/>
                  <a:sym typeface="Calibri"/>
                </a:rPr>
                <a:t>alerts → messages, database outage</a:t>
              </a:r>
            </a:p>
          </p:txBody>
        </p:sp>
      </p:grpSp>
      <p:sp>
        <p:nvSpPr>
          <p:cNvPr name="TextBox 32" id="32"/>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11</a:t>
            </a:r>
          </a:p>
        </p:txBody>
      </p:sp>
      <p:grpSp>
        <p:nvGrpSpPr>
          <p:cNvPr name="Group 33" id="33"/>
          <p:cNvGrpSpPr/>
          <p:nvPr/>
        </p:nvGrpSpPr>
        <p:grpSpPr>
          <a:xfrm rot="0">
            <a:off x="125707" y="43858"/>
            <a:ext cx="3471606" cy="1028700"/>
            <a:chOff x="0" y="0"/>
            <a:chExt cx="2742997" cy="812800"/>
          </a:xfrm>
        </p:grpSpPr>
        <p:sp>
          <p:nvSpPr>
            <p:cNvPr name="Freeform 34" id="34"/>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5"/>
              <a:stretch>
                <a:fillRect l="-833" t="0" r="-833" b="0"/>
              </a:stretch>
            </a:blipFill>
          </p:spPr>
        </p:sp>
      </p:grpSp>
      <p:grpSp>
        <p:nvGrpSpPr>
          <p:cNvPr name="Group 35" id="35"/>
          <p:cNvGrpSpPr>
            <a:grpSpLocks noChangeAspect="true"/>
          </p:cNvGrpSpPr>
          <p:nvPr/>
        </p:nvGrpSpPr>
        <p:grpSpPr>
          <a:xfrm rot="5400000">
            <a:off x="11132594" y="2264880"/>
            <a:ext cx="311239" cy="13999572"/>
            <a:chOff x="0" y="0"/>
            <a:chExt cx="414986" cy="18666096"/>
          </a:xfrm>
        </p:grpSpPr>
        <p:sp>
          <p:nvSpPr>
            <p:cNvPr name="Freeform 36" id="36"/>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6"/>
              <a:stretch>
                <a:fillRect l="0" t="0" r="-274183" b="0"/>
              </a:stretch>
            </a:blipFill>
          </p:spPr>
        </p:sp>
      </p:grpSp>
      <p:grpSp>
        <p:nvGrpSpPr>
          <p:cNvPr name="Group 37" id="37"/>
          <p:cNvGrpSpPr>
            <a:grpSpLocks noChangeAspect="true"/>
          </p:cNvGrpSpPr>
          <p:nvPr/>
        </p:nvGrpSpPr>
        <p:grpSpPr>
          <a:xfrm rot="0">
            <a:off x="16490259" y="140413"/>
            <a:ext cx="1616205" cy="888287"/>
            <a:chOff x="0" y="0"/>
            <a:chExt cx="2627014" cy="1443840"/>
          </a:xfrm>
        </p:grpSpPr>
        <p:sp>
          <p:nvSpPr>
            <p:cNvPr name="Freeform 38" id="38"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7"/>
              <a:stretch>
                <a:fillRect l="0" t="0" r="0" b="-35871"/>
              </a:stretch>
            </a:blipFill>
          </p:spPr>
        </p:sp>
      </p:grpSp>
      <p:graphicFrame>
        <p:nvGraphicFramePr>
          <p:cNvPr id="39" name="detection time chart"/>
          <p:cNvGraphicFramePr>
            <a:graphicFrameLocks noGrp="1"/>
          </p:cNvGraphicFramePr>
          <p:nvPr/>
        </p:nvGraphicFramePr>
        <p:xfrm>
          <a:off x="640080" y="1554480"/>
          <a:ext cx="11247120" cy="7406640"/>
        </p:xfrm>
        <a:graphic>
          <a:graphicData uri="http://schemas.openxmlformats.org/drawingml/2006/chart">
            <c:chart xmlns:c="http://schemas.openxmlformats.org/drawingml/2006/chart" r:id="rId8"/>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sp>
      </p:grpSp>
      <p:grpSp>
        <p:nvGrpSpPr>
          <p:cNvPr name="Group 4" id="4"/>
          <p:cNvGrpSpPr/>
          <p:nvPr/>
        </p:nvGrpSpPr>
        <p:grpSpPr>
          <a:xfrm rot="0">
            <a:off x="1028700" y="335280"/>
            <a:ext cx="16596360" cy="1165860"/>
            <a:chOff x="0" y="0"/>
            <a:chExt cx="22128480" cy="1554480"/>
          </a:xfrm>
        </p:grpSpPr>
        <p:sp>
          <p:nvSpPr>
            <p:cNvPr name="Freeform 5" id="5"/>
            <p:cNvSpPr/>
            <p:nvPr/>
          </p:nvSpPr>
          <p:spPr>
            <a:xfrm flipH="false" flipV="false" rot="0">
              <a:off x="0" y="0"/>
              <a:ext cx="22128480" cy="1554480"/>
            </a:xfrm>
            <a:custGeom>
              <a:avLst/>
              <a:gdLst/>
              <a:ahLst/>
              <a:cxnLst/>
              <a:rect r="r" b="b" t="t" l="l"/>
              <a:pathLst>
                <a:path h="1554480" w="22128480">
                  <a:moveTo>
                    <a:pt x="0" y="0"/>
                  </a:moveTo>
                  <a:lnTo>
                    <a:pt x="22128480" y="0"/>
                  </a:lnTo>
                  <a:lnTo>
                    <a:pt x="22128480" y="1554480"/>
                  </a:lnTo>
                  <a:lnTo>
                    <a:pt x="0" y="1554480"/>
                  </a:lnTo>
                  <a:close/>
                </a:path>
              </a:pathLst>
            </a:custGeom>
            <a:blipFill>
              <a:blip r:embed="rId3">
                <a:alphaModFix amt="0"/>
              </a:blip>
              <a:stretch>
                <a:fillRect l="0" t="-227375" r="0" b="-227375"/>
              </a:stretch>
            </a:blipFill>
          </p:spPr>
        </p:sp>
        <p:sp>
          <p:nvSpPr>
            <p:cNvPr name="TextBox 6" id="6"/>
            <p:cNvSpPr txBox="true"/>
            <p:nvPr/>
          </p:nvSpPr>
          <p:spPr>
            <a:xfrm>
              <a:off x="0" y="-9525"/>
              <a:ext cx="22128480" cy="1564005"/>
            </a:xfrm>
            <a:prstGeom prst="rect">
              <a:avLst/>
            </a:prstGeom>
          </p:spPr>
          <p:txBody>
            <a:bodyPr anchor="ctr" rtlCol="false" tIns="0" lIns="0" bIns="0" rIns="0"/>
            <a:lstStyle/>
            <a:p>
              <a:pPr algn="ctr">
                <a:lnSpc>
                  <a:spcPts val="5759"/>
                </a:lnSpc>
              </a:pPr>
              <a:r>
                <a:rPr lang="en-US" sz="4800" b="true">
                  <a:solidFill>
                    <a:srgbClr val="1C1917"/>
                  </a:solidFill>
                  <a:latin typeface="Cambria"/>
                  <a:ea typeface="Cambria"/>
                  <a:cs typeface="Cambria"/>
                  <a:sym typeface="Cambria"/>
                </a:rPr>
                <a:t>How it compares</a:t>
              </a:r>
            </a:p>
          </p:txBody>
        </p:sp>
      </p:grpSp>
      <p:graphicFrame>
        <p:nvGraphicFramePr>
          <p:cNvPr name="Table 7" id="7"/>
          <p:cNvGraphicFramePr>
            <a:graphicFrameLocks noGrp="true"/>
          </p:cNvGraphicFramePr>
          <p:nvPr/>
        </p:nvGraphicFramePr>
        <p:xfrm>
          <a:off x="822960" y="1920240"/>
          <a:ext cx="16535400" cy="5867400"/>
        </p:xfrm>
        <a:graphic>
          <a:graphicData uri="http://schemas.openxmlformats.org/drawingml/2006/table">
            <a:tbl>
              <a:tblPr/>
              <a:tblGrid>
                <a:gridCol w="3074764"/>
                <a:gridCol w="3074764"/>
                <a:gridCol w="2596468"/>
                <a:gridCol w="2596468"/>
                <a:gridCol w="2596468"/>
                <a:gridCol w="2596468"/>
              </a:tblGrid>
              <a:tr h="838200">
                <a:tc>
                  <a:txBody>
                    <a:bodyPr anchor="t" rtlCol="false"/>
                    <a:lstStyle/>
                    <a:p>
                      <a:pPr algn="l">
                        <a:lnSpc>
                          <a:spcPts val="1679"/>
                        </a:lnSpc>
                        <a:defRPr/>
                      </a:pP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292524"/>
                    </a:solidFill>
                  </a:tcPr>
                </a:tc>
                <a:tc>
                  <a:txBody>
                    <a:bodyPr anchor="t" rtlCol="false"/>
                    <a:lstStyle/>
                    <a:p>
                      <a:pPr algn="l">
                        <a:lnSpc>
                          <a:spcPts val="2520"/>
                        </a:lnSpc>
                        <a:defRPr/>
                      </a:pPr>
                      <a:r>
                        <a:rPr lang="en-US" sz="2100" b="true">
                          <a:solidFill>
                            <a:srgbClr val="FFFFFF"/>
                          </a:solidFill>
                          <a:latin typeface="Calibri"/>
                          <a:ea typeface="Calibri"/>
                          <a:cs typeface="Calibri"/>
                          <a:sym typeface="Calibri"/>
                        </a:rPr>
                        <a:t>Prometheus + Alertmanager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E6522C"/>
                    </a:solidFill>
                  </a:tcPr>
                </a:tc>
                <a:tc>
                  <a:txBody>
                    <a:bodyPr anchor="t" rtlCol="false"/>
                    <a:lstStyle/>
                    <a:p>
                      <a:pPr algn="l">
                        <a:lnSpc>
                          <a:spcPts val="2520"/>
                        </a:lnSpc>
                        <a:defRPr/>
                      </a:pPr>
                      <a:r>
                        <a:rPr lang="en-US" sz="2100" b="true">
                          <a:solidFill>
                            <a:srgbClr val="FFFFFF"/>
                          </a:solidFill>
                          <a:latin typeface="Calibri"/>
                          <a:ea typeface="Calibri"/>
                          <a:cs typeface="Calibri"/>
                          <a:sym typeface="Calibri"/>
                        </a:rPr>
                        <a:t>Nagios Core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292524"/>
                    </a:solidFill>
                  </a:tcPr>
                </a:tc>
                <a:tc>
                  <a:txBody>
                    <a:bodyPr anchor="t" rtlCol="false"/>
                    <a:lstStyle/>
                    <a:p>
                      <a:pPr algn="l">
                        <a:lnSpc>
                          <a:spcPts val="2520"/>
                        </a:lnSpc>
                        <a:defRPr/>
                      </a:pPr>
                      <a:r>
                        <a:rPr lang="en-US" sz="2100" b="true">
                          <a:solidFill>
                            <a:srgbClr val="FFFFFF"/>
                          </a:solidFill>
                          <a:latin typeface="Calibri"/>
                          <a:ea typeface="Calibri"/>
                          <a:cs typeface="Calibri"/>
                          <a:sym typeface="Calibri"/>
                        </a:rPr>
                        <a:t>Zabbix</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292524"/>
                    </a:solidFill>
                  </a:tcPr>
                </a:tc>
                <a:tc>
                  <a:txBody>
                    <a:bodyPr anchor="t" rtlCol="false"/>
                    <a:lstStyle/>
                    <a:p>
                      <a:pPr algn="l">
                        <a:lnSpc>
                          <a:spcPts val="2520"/>
                        </a:lnSpc>
                        <a:defRPr/>
                      </a:pPr>
                      <a:r>
                        <a:rPr lang="en-US" sz="2100" b="true">
                          <a:solidFill>
                            <a:srgbClr val="FFFFFF"/>
                          </a:solidFill>
                          <a:latin typeface="Calibri"/>
                          <a:ea typeface="Calibri"/>
                          <a:cs typeface="Calibri"/>
                          <a:sym typeface="Calibri"/>
                        </a:rPr>
                        <a:t>Datadog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292524"/>
                    </a:solidFill>
                  </a:tcPr>
                </a:tc>
                <a:tc>
                  <a:txBody>
                    <a:bodyPr anchor="t" rtlCol="false"/>
                    <a:lstStyle/>
                    <a:p>
                      <a:pPr algn="l">
                        <a:lnSpc>
                          <a:spcPts val="2520"/>
                        </a:lnSpc>
                        <a:defRPr/>
                      </a:pPr>
                      <a:r>
                        <a:rPr lang="en-US" sz="2100" b="true">
                          <a:solidFill>
                            <a:srgbClr val="FFFFFF"/>
                          </a:solidFill>
                          <a:latin typeface="Calibri"/>
                          <a:ea typeface="Calibri"/>
                          <a:cs typeface="Calibri"/>
                          <a:sym typeface="Calibri"/>
                        </a:rPr>
                        <a:t>CloudWatch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292524"/>
                    </a:solidFill>
                  </a:tcPr>
                </a:tc>
              </a:tr>
              <a:tr h="838200">
                <a:tc>
                  <a:txBody>
                    <a:bodyPr anchor="t" rtlCol="false"/>
                    <a:lstStyle/>
                    <a:p>
                      <a:pPr algn="l">
                        <a:lnSpc>
                          <a:spcPts val="2520"/>
                        </a:lnSpc>
                        <a:defRPr/>
                      </a:pPr>
                      <a:r>
                        <a:rPr lang="en-US" sz="2100" b="true">
                          <a:solidFill>
                            <a:srgbClr val="1C1917"/>
                          </a:solidFill>
                          <a:latin typeface="Calibri"/>
                          <a:ea typeface="Calibri"/>
                          <a:cs typeface="Calibri"/>
                          <a:sym typeface="Calibri"/>
                        </a:rPr>
                        <a:t>Cost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free, open source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DEDE8"/>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free; XI is paid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free, open source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paid per host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pay per metric and alarm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38200">
                <a:tc>
                  <a:txBody>
                    <a:bodyPr anchor="t" rtlCol="false"/>
                    <a:lstStyle/>
                    <a:p>
                      <a:pPr algn="l">
                        <a:lnSpc>
                          <a:spcPts val="2520"/>
                        </a:lnSpc>
                        <a:defRPr/>
                      </a:pPr>
                      <a:r>
                        <a:rPr lang="en-US" sz="2100" b="true">
                          <a:solidFill>
                            <a:srgbClr val="1C1917"/>
                          </a:solidFill>
                          <a:latin typeface="Calibri"/>
                          <a:ea typeface="Calibri"/>
                          <a:cs typeface="Calibri"/>
                          <a:sym typeface="Calibri"/>
                        </a:rPr>
                        <a:t>How data arrives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pull over HTTP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DEDE8"/>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plugin checks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agents, SNMP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agent to SaaS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AWS services, agent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r>
              <a:tr h="838200">
                <a:tc>
                  <a:txBody>
                    <a:bodyPr anchor="t" rtlCol="false"/>
                    <a:lstStyle/>
                    <a:p>
                      <a:pPr algn="l">
                        <a:lnSpc>
                          <a:spcPts val="2520"/>
                        </a:lnSpc>
                        <a:defRPr/>
                      </a:pPr>
                      <a:r>
                        <a:rPr lang="en-US" sz="2100" b="true">
                          <a:solidFill>
                            <a:srgbClr val="1C1917"/>
                          </a:solidFill>
                          <a:latin typeface="Calibri"/>
                          <a:ea typeface="Calibri"/>
                          <a:cs typeface="Calibri"/>
                          <a:sym typeface="Calibri"/>
                        </a:rPr>
                        <a:t>Fit for containers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native discovery, cAdvisor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DEDE8"/>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weak: static hosts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Docker template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strong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ECS and EKS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38200">
                <a:tc>
                  <a:txBody>
                    <a:bodyPr anchor="t" rtlCol="false"/>
                    <a:lstStyle/>
                    <a:p>
                      <a:pPr algn="l">
                        <a:lnSpc>
                          <a:spcPts val="2520"/>
                        </a:lnSpc>
                        <a:defRPr/>
                      </a:pPr>
                      <a:r>
                        <a:rPr lang="en-US" sz="2100" b="true">
                          <a:solidFill>
                            <a:srgbClr val="1C1917"/>
                          </a:solidFill>
                          <a:latin typeface="Calibri"/>
                          <a:ea typeface="Calibri"/>
                          <a:cs typeface="Calibri"/>
                          <a:sym typeface="Calibri"/>
                        </a:rPr>
                        <a:t>Alert noise control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group, inhibit, silence, route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DEDE8"/>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escalations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actions, escalations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notification rules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alarms to SNS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r>
              <a:tr h="838200">
                <a:tc>
                  <a:txBody>
                    <a:bodyPr anchor="t" rtlCol="false"/>
                    <a:lstStyle/>
                    <a:p>
                      <a:pPr algn="l">
                        <a:lnSpc>
                          <a:spcPts val="2520"/>
                        </a:lnSpc>
                        <a:defRPr/>
                      </a:pPr>
                      <a:r>
                        <a:rPr lang="en-US" sz="2100" b="true">
                          <a:solidFill>
                            <a:srgbClr val="1C1917"/>
                          </a:solidFill>
                          <a:latin typeface="Calibri"/>
                          <a:ea typeface="Calibri"/>
                          <a:cs typeface="Calibri"/>
                          <a:sym typeface="Calibri"/>
                        </a:rPr>
                        <a:t>Config as code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YAML + unit tests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DEDE8"/>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text files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mostly web UI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UI, Terraform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CloudFormation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838200">
                <a:tc>
                  <a:txBody>
                    <a:bodyPr anchor="t" rtlCol="false"/>
                    <a:lstStyle/>
                    <a:p>
                      <a:pPr algn="l">
                        <a:lnSpc>
                          <a:spcPts val="2520"/>
                        </a:lnSpc>
                        <a:defRPr/>
                      </a:pPr>
                      <a:r>
                        <a:rPr lang="en-US" sz="2100" b="true">
                          <a:solidFill>
                            <a:srgbClr val="1C1917"/>
                          </a:solidFill>
                          <a:latin typeface="Calibri"/>
                          <a:ea typeface="Calibri"/>
                          <a:cs typeface="Calibri"/>
                          <a:sym typeface="Calibri"/>
                        </a:rPr>
                        <a:t>Logs and traces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no (add Loki, Tempo)</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DEDE8"/>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no</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limited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yes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c>
                  <a:txBody>
                    <a:bodyPr anchor="t" rtlCol="false"/>
                    <a:lstStyle/>
                    <a:p>
                      <a:pPr algn="l">
                        <a:lnSpc>
                          <a:spcPts val="2520"/>
                        </a:lnSpc>
                        <a:defRPr/>
                      </a:pPr>
                      <a:r>
                        <a:rPr lang="en-US" sz="2100">
                          <a:solidFill>
                            <a:srgbClr val="1C1917"/>
                          </a:solidFill>
                          <a:latin typeface="Calibri"/>
                          <a:ea typeface="Calibri"/>
                          <a:cs typeface="Calibri"/>
                          <a:sym typeface="Calibri"/>
                        </a:rPr>
                        <a:t>yes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5F5F4"/>
                    </a:solidFill>
                  </a:tcPr>
                </a:tc>
              </a:tr>
            </a:tbl>
          </a:graphicData>
        </a:graphic>
      </p:graphicFrame>
      <p:grpSp>
        <p:nvGrpSpPr>
          <p:cNvPr name="Group 8" id="8"/>
          <p:cNvGrpSpPr/>
          <p:nvPr/>
        </p:nvGrpSpPr>
        <p:grpSpPr>
          <a:xfrm rot="0">
            <a:off x="822960" y="8208313"/>
            <a:ext cx="16596360" cy="480060"/>
            <a:chOff x="0" y="0"/>
            <a:chExt cx="22128480" cy="640080"/>
          </a:xfrm>
        </p:grpSpPr>
        <p:sp>
          <p:nvSpPr>
            <p:cNvPr name="Freeform 9" id="9"/>
            <p:cNvSpPr/>
            <p:nvPr/>
          </p:nvSpPr>
          <p:spPr>
            <a:xfrm flipH="false" flipV="false" rot="0">
              <a:off x="0" y="0"/>
              <a:ext cx="22128480" cy="640080"/>
            </a:xfrm>
            <a:custGeom>
              <a:avLst/>
              <a:gdLst/>
              <a:ahLst/>
              <a:cxnLst/>
              <a:rect r="r" b="b" t="t" l="l"/>
              <a:pathLst>
                <a:path h="640080" w="22128480">
                  <a:moveTo>
                    <a:pt x="0" y="0"/>
                  </a:moveTo>
                  <a:lnTo>
                    <a:pt x="22128480" y="0"/>
                  </a:lnTo>
                  <a:lnTo>
                    <a:pt x="22128480" y="640080"/>
                  </a:lnTo>
                  <a:lnTo>
                    <a:pt x="0" y="640080"/>
                  </a:lnTo>
                  <a:close/>
                </a:path>
              </a:pathLst>
            </a:custGeom>
            <a:blipFill>
              <a:blip r:embed="rId3">
                <a:alphaModFix amt="0"/>
              </a:blip>
              <a:stretch>
                <a:fillRect l="0" t="-623625" r="0" b="-623625"/>
              </a:stretch>
            </a:blipFill>
          </p:spPr>
        </p:sp>
        <p:sp>
          <p:nvSpPr>
            <p:cNvPr name="TextBox 10" id="10"/>
            <p:cNvSpPr txBox="true"/>
            <p:nvPr/>
          </p:nvSpPr>
          <p:spPr>
            <a:xfrm>
              <a:off x="0" y="-38100"/>
              <a:ext cx="22128480" cy="678180"/>
            </a:xfrm>
            <a:prstGeom prst="rect">
              <a:avLst/>
            </a:prstGeom>
          </p:spPr>
          <p:txBody>
            <a:bodyPr anchor="ctr" rtlCol="false" tIns="0" lIns="0" bIns="0" rIns="0"/>
            <a:lstStyle/>
            <a:p>
              <a:pPr algn="l">
                <a:lnSpc>
                  <a:spcPts val="2160"/>
                </a:lnSpc>
              </a:pPr>
              <a:r>
                <a:rPr lang="en-US" sz="1800" i="true">
                  <a:solidFill>
                    <a:srgbClr val="57534E"/>
                  </a:solidFill>
                  <a:latin typeface="Calibri"/>
                  <a:ea typeface="Calibri"/>
                  <a:cs typeface="Calibri"/>
                  <a:sym typeface="Calibri"/>
                </a:rPr>
                <a:t>Summarised from each product's public documentation, October 2026. Grafana Alerting builds on data sources such as Prometheus.</a:t>
              </a:r>
            </a:p>
          </p:txBody>
        </p:sp>
      </p:grpSp>
      <p:sp>
        <p:nvSpPr>
          <p:cNvPr name="TextBox 11" id="11"/>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12</a:t>
            </a:r>
          </a:p>
        </p:txBody>
      </p:sp>
      <p:grpSp>
        <p:nvGrpSpPr>
          <p:cNvPr name="Group 12" id="12"/>
          <p:cNvGrpSpPr/>
          <p:nvPr/>
        </p:nvGrpSpPr>
        <p:grpSpPr>
          <a:xfrm rot="0">
            <a:off x="125707" y="43858"/>
            <a:ext cx="3471606" cy="1028700"/>
            <a:chOff x="0" y="0"/>
            <a:chExt cx="2742997" cy="812800"/>
          </a:xfrm>
        </p:grpSpPr>
        <p:sp>
          <p:nvSpPr>
            <p:cNvPr name="Freeform 13" id="13"/>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4"/>
              <a:stretch>
                <a:fillRect l="-833" t="0" r="-833" b="0"/>
              </a:stretch>
            </a:blipFill>
          </p:spPr>
        </p:sp>
      </p:grpSp>
      <p:grpSp>
        <p:nvGrpSpPr>
          <p:cNvPr name="Group 14" id="14"/>
          <p:cNvGrpSpPr>
            <a:grpSpLocks noChangeAspect="true"/>
          </p:cNvGrpSpPr>
          <p:nvPr/>
        </p:nvGrpSpPr>
        <p:grpSpPr>
          <a:xfrm rot="5400000">
            <a:off x="11132594" y="2264880"/>
            <a:ext cx="311239" cy="13999572"/>
            <a:chOff x="0" y="0"/>
            <a:chExt cx="414986" cy="18666096"/>
          </a:xfrm>
        </p:grpSpPr>
        <p:sp>
          <p:nvSpPr>
            <p:cNvPr name="Freeform 15" id="15"/>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5"/>
              <a:stretch>
                <a:fillRect l="0" t="0" r="-274183" b="0"/>
              </a:stretch>
            </a:blipFill>
          </p:spPr>
        </p:sp>
      </p:grpSp>
      <p:grpSp>
        <p:nvGrpSpPr>
          <p:cNvPr name="Group 16" id="16"/>
          <p:cNvGrpSpPr>
            <a:grpSpLocks noChangeAspect="true"/>
          </p:cNvGrpSpPr>
          <p:nvPr/>
        </p:nvGrpSpPr>
        <p:grpSpPr>
          <a:xfrm rot="0">
            <a:off x="16490259" y="140413"/>
            <a:ext cx="1616205" cy="888287"/>
            <a:chOff x="0" y="0"/>
            <a:chExt cx="2627014" cy="1443840"/>
          </a:xfrm>
        </p:grpSpPr>
        <p:sp>
          <p:nvSpPr>
            <p:cNvPr name="Freeform 17" id="17"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6"/>
              <a:stretch>
                <a:fillRect l="0" t="0" r="0" b="-35871"/>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txBody>
            <a:bodyPr/>
            <a:p/>
          </p:txBody>
        </p:sp>
      </p:grpSp>
      <p:grpSp>
        <p:nvGrpSpPr>
          <p:cNvPr name="Group 4" id="4"/>
          <p:cNvGrpSpPr/>
          <p:nvPr/>
        </p:nvGrpSpPr>
        <p:grpSpPr>
          <a:xfrm rot="0">
            <a:off x="4096712" y="-1047535"/>
            <a:ext cx="11903402" cy="4240185"/>
            <a:chOff x="0" y="0"/>
            <a:chExt cx="15871202" cy="5653580"/>
          </a:xfrm>
        </p:grpSpPr>
        <p:sp>
          <p:nvSpPr>
            <p:cNvPr name="Freeform 5" id="5"/>
            <p:cNvSpPr/>
            <p:nvPr/>
          </p:nvSpPr>
          <p:spPr>
            <a:xfrm flipH="false" flipV="false" rot="0">
              <a:off x="0" y="0"/>
              <a:ext cx="15871203" cy="5653580"/>
            </a:xfrm>
            <a:custGeom>
              <a:avLst/>
              <a:gdLst/>
              <a:ahLst/>
              <a:cxnLst/>
              <a:rect r="r" b="b" t="t" l="l"/>
              <a:pathLst>
                <a:path h="5653580" w="15871203">
                  <a:moveTo>
                    <a:pt x="0" y="0"/>
                  </a:moveTo>
                  <a:lnTo>
                    <a:pt x="15871203" y="0"/>
                  </a:lnTo>
                  <a:lnTo>
                    <a:pt x="15871203" y="5653580"/>
                  </a:lnTo>
                  <a:lnTo>
                    <a:pt x="0" y="5653580"/>
                  </a:lnTo>
                  <a:close/>
                </a:path>
              </a:pathLst>
            </a:custGeom>
            <a:blipFill>
              <a:blip r:embed="rId3">
                <a:alphaModFix amt="0"/>
              </a:blip>
              <a:stretch>
                <a:fillRect l="0" t="-62517" r="-39425" b="9986"/>
              </a:stretch>
            </a:blipFill>
          </p:spPr>
          <p:txBody>
            <a:bodyPr/>
            <a:p/>
          </p:txBody>
        </p:sp>
        <p:sp>
          <p:nvSpPr>
            <p:cNvPr name="TextBox 6" id="6"/>
            <p:cNvSpPr txBox="true"/>
            <p:nvPr/>
          </p:nvSpPr>
          <p:spPr>
            <a:xfrm>
              <a:off x="0" y="-9525"/>
              <a:ext cx="15871202" cy="5663105"/>
            </a:xfrm>
            <a:prstGeom prst="rect">
              <a:avLst/>
            </a:prstGeom>
          </p:spPr>
          <p:txBody>
            <a:bodyPr anchor="ctr" rtlCol="false" tIns="0" lIns="0" bIns="0" rIns="0"/>
            <a:lstStyle/>
            <a:p>
              <a:pPr algn="ctr">
                <a:lnSpc>
                  <a:spcPts val="5759"/>
                </a:lnSpc>
              </a:pPr>
              <a:r>
                <a:rPr lang="en-US" sz="4800" b="true">
                  <a:solidFill>
                    <a:srgbClr val="1C1917"/>
                  </a:solidFill>
                  <a:latin typeface="Cambria"/>
                  <a:ea typeface="Cambria"/>
                  <a:cs typeface="Cambria"/>
                  <a:sym typeface="Cambria"/>
                </a:rPr>
                <a:t>Strengths, limits and lessons</a:t>
              </a:r>
            </a:p>
          </p:txBody>
        </p:sp>
      </p:grpSp>
      <p:grpSp>
        <p:nvGrpSpPr>
          <p:cNvPr name="Group 7" id="7"/>
          <p:cNvGrpSpPr/>
          <p:nvPr/>
        </p:nvGrpSpPr>
        <p:grpSpPr>
          <a:xfrm rot="0">
            <a:off x="770582" y="2251046"/>
            <a:ext cx="5280660" cy="6021910"/>
            <a:chOff x="0" y="0"/>
            <a:chExt cx="7040880" cy="8029213"/>
          </a:xfrm>
        </p:grpSpPr>
        <p:sp>
          <p:nvSpPr>
            <p:cNvPr name="Freeform 8" id="8"/>
            <p:cNvSpPr/>
            <p:nvPr/>
          </p:nvSpPr>
          <p:spPr>
            <a:xfrm flipH="false" flipV="false" rot="0">
              <a:off x="0" y="0"/>
              <a:ext cx="7040880" cy="8029214"/>
            </a:xfrm>
            <a:custGeom>
              <a:avLst/>
              <a:gdLst/>
              <a:ahLst/>
              <a:cxnLst/>
              <a:rect r="r" b="b" t="t" l="l"/>
              <a:pathLst>
                <a:path h="8029214" w="7040880">
                  <a:moveTo>
                    <a:pt x="0" y="185290"/>
                  </a:moveTo>
                  <a:cubicBezTo>
                    <a:pt x="0" y="82994"/>
                    <a:pt x="98298" y="0"/>
                    <a:pt x="219456" y="0"/>
                  </a:cubicBezTo>
                  <a:lnTo>
                    <a:pt x="6821424" y="0"/>
                  </a:lnTo>
                  <a:cubicBezTo>
                    <a:pt x="6942582" y="0"/>
                    <a:pt x="7040880" y="82994"/>
                    <a:pt x="7040880" y="185290"/>
                  </a:cubicBezTo>
                  <a:lnTo>
                    <a:pt x="7040880" y="7843924"/>
                  </a:lnTo>
                  <a:cubicBezTo>
                    <a:pt x="7040880" y="7946219"/>
                    <a:pt x="6942582" y="8029214"/>
                    <a:pt x="6821424" y="8029214"/>
                  </a:cubicBezTo>
                  <a:lnTo>
                    <a:pt x="219456" y="8029214"/>
                  </a:lnTo>
                  <a:cubicBezTo>
                    <a:pt x="98298" y="8029213"/>
                    <a:pt x="0" y="7946219"/>
                    <a:pt x="0" y="7843924"/>
                  </a:cubicBezTo>
                  <a:close/>
                </a:path>
              </a:pathLst>
            </a:custGeom>
            <a:solidFill>
              <a:srgbClr val="F5F5F4"/>
            </a:solidFill>
          </p:spPr>
          <p:txBody>
            <a:bodyPr/>
            <a:p/>
          </p:txBody>
        </p:sp>
      </p:grpSp>
      <p:grpSp>
        <p:nvGrpSpPr>
          <p:cNvPr name="Group 9" id="9"/>
          <p:cNvGrpSpPr/>
          <p:nvPr/>
        </p:nvGrpSpPr>
        <p:grpSpPr>
          <a:xfrm rot="0">
            <a:off x="1182062" y="2593946"/>
            <a:ext cx="960120" cy="960120"/>
            <a:chOff x="0" y="0"/>
            <a:chExt cx="1280160" cy="1280160"/>
          </a:xfrm>
        </p:grpSpPr>
        <p:sp>
          <p:nvSpPr>
            <p:cNvPr name="Freeform 10" id="10"/>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15803D"/>
            </a:solidFill>
          </p:spPr>
          <p:txBody>
            <a:bodyPr/>
            <a:p/>
          </p:txBody>
        </p:sp>
      </p:grpSp>
      <p:grpSp>
        <p:nvGrpSpPr>
          <p:cNvPr name="Group 11" id="11"/>
          <p:cNvGrpSpPr/>
          <p:nvPr/>
        </p:nvGrpSpPr>
        <p:grpSpPr>
          <a:xfrm rot="0">
            <a:off x="1415234" y="2827118"/>
            <a:ext cx="493776" cy="493776"/>
            <a:chOff x="0" y="0"/>
            <a:chExt cx="658368" cy="658368"/>
          </a:xfrm>
        </p:grpSpPr>
        <p:sp>
          <p:nvSpPr>
            <p:cNvPr name="Freeform 12" id="12"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4"/>
              <a:stretch>
                <a:fillRect l="0" t="0" r="0" b="0"/>
              </a:stretch>
            </a:blipFill>
          </p:spPr>
          <p:txBody>
            <a:bodyPr/>
            <a:p/>
          </p:txBody>
        </p:sp>
      </p:grpSp>
      <p:grpSp>
        <p:nvGrpSpPr>
          <p:cNvPr name="Group 13" id="13"/>
          <p:cNvGrpSpPr/>
          <p:nvPr/>
        </p:nvGrpSpPr>
        <p:grpSpPr>
          <a:xfrm rot="0">
            <a:off x="2347922" y="2593946"/>
            <a:ext cx="3497580" cy="960120"/>
            <a:chOff x="0" y="0"/>
            <a:chExt cx="4663440" cy="1280160"/>
          </a:xfrm>
        </p:grpSpPr>
        <p:sp>
          <p:nvSpPr>
            <p:cNvPr name="Freeform 14" id="14"/>
            <p:cNvSpPr/>
            <p:nvPr/>
          </p:nvSpPr>
          <p:spPr>
            <a:xfrm flipH="false" flipV="false" rot="0">
              <a:off x="0" y="0"/>
              <a:ext cx="4663440" cy="1280160"/>
            </a:xfrm>
            <a:custGeom>
              <a:avLst/>
              <a:gdLst/>
              <a:ahLst/>
              <a:cxnLst/>
              <a:rect r="r" b="b" t="t" l="l"/>
              <a:pathLst>
                <a:path h="1280160" w="4663440">
                  <a:moveTo>
                    <a:pt x="0" y="0"/>
                  </a:moveTo>
                  <a:lnTo>
                    <a:pt x="4663440" y="0"/>
                  </a:lnTo>
                  <a:lnTo>
                    <a:pt x="4663440" y="1280160"/>
                  </a:lnTo>
                  <a:lnTo>
                    <a:pt x="0" y="1280160"/>
                  </a:lnTo>
                  <a:close/>
                </a:path>
              </a:pathLst>
            </a:custGeom>
            <a:blipFill>
              <a:blip r:embed="rId3">
                <a:alphaModFix amt="0"/>
              </a:blip>
              <a:stretch>
                <a:fillRect l="0" t="-20981" r="0" b="-20981"/>
              </a:stretch>
            </a:blipFill>
          </p:spPr>
          <p:txBody>
            <a:bodyPr/>
            <a:p/>
          </p:txBody>
        </p:sp>
        <p:sp>
          <p:nvSpPr>
            <p:cNvPr name="TextBox 15" id="15"/>
            <p:cNvSpPr txBox="true"/>
            <p:nvPr/>
          </p:nvSpPr>
          <p:spPr>
            <a:xfrm>
              <a:off x="0" y="-66675"/>
              <a:ext cx="4663440" cy="1346835"/>
            </a:xfrm>
            <a:prstGeom prst="rect">
              <a:avLst/>
            </a:prstGeom>
          </p:spPr>
          <p:txBody>
            <a:bodyPr anchor="ctr" rtlCol="false" tIns="0" lIns="0" bIns="0" rIns="0"/>
            <a:lstStyle/>
            <a:p>
              <a:pPr algn="l">
                <a:lnSpc>
                  <a:spcPts val="3600"/>
                </a:lnSpc>
              </a:pPr>
              <a:r>
                <a:rPr lang="en-US" sz="3000" b="true">
                  <a:solidFill>
                    <a:srgbClr val="15803D"/>
                  </a:solidFill>
                  <a:latin typeface="Calibri"/>
                  <a:ea typeface="Calibri"/>
                  <a:cs typeface="Calibri"/>
                  <a:sym typeface="Calibri"/>
                </a:rPr>
                <a:t>Strengths</a:t>
              </a:r>
            </a:p>
          </p:txBody>
        </p:sp>
      </p:grpSp>
      <p:sp>
        <p:nvSpPr>
          <p:cNvPr name="TextBox 16" id="16"/>
          <p:cNvSpPr txBox="true"/>
          <p:nvPr/>
        </p:nvSpPr>
        <p:spPr>
          <a:xfrm rot="0">
            <a:off x="1182062" y="3849341"/>
            <a:ext cx="4297680" cy="3095625"/>
          </a:xfrm>
          <a:prstGeom prst="rect">
            <a:avLst/>
          </a:prstGeom>
        </p:spPr>
        <p:txBody>
          <a:bodyPr anchor="t" rtlCol="false" tIns="0" lIns="0" bIns="0" rIns="0">
            <a:spAutoFit/>
          </a:bodyPr>
          <a:lstStyle/>
          <a:p>
            <a:pPr algn="l" marL="461486" indent="-230743" lvl="1">
              <a:lnSpc>
                <a:spcPts val="3060"/>
              </a:lnSpc>
              <a:buFont typeface="Arial"/>
              <a:buChar char="•"/>
            </a:pPr>
            <a:r>
              <a:rPr lang="en-US" sz="2550">
                <a:solidFill>
                  <a:srgbClr val="1C1917"/>
                </a:solidFill>
                <a:latin typeface="Calibri"/>
                <a:ea typeface="Calibri"/>
                <a:cs typeface="Calibri"/>
                <a:sym typeface="Calibri"/>
              </a:rPr>
              <a:t>One query language for graphs and alerts</a:t>
            </a:r>
          </a:p>
          <a:p>
            <a:pPr algn="l" marL="461486" indent="-230743" lvl="1">
              <a:lnSpc>
                <a:spcPts val="3060"/>
              </a:lnSpc>
              <a:buFont typeface="Arial"/>
              <a:buChar char="•"/>
            </a:pPr>
            <a:r>
              <a:rPr lang="en-US" sz="2550">
                <a:solidFill>
                  <a:srgbClr val="1C1917"/>
                </a:solidFill>
                <a:latin typeface="Calibri"/>
                <a:ea typeface="Calibri"/>
                <a:cs typeface="Calibri"/>
                <a:sym typeface="Calibri"/>
              </a:rPr>
              <a:t>Alerts are code: reviewed, tested in CI</a:t>
            </a:r>
          </a:p>
          <a:p>
            <a:pPr algn="l" marL="461486" indent="-230743" lvl="1">
              <a:lnSpc>
                <a:spcPts val="3060"/>
              </a:lnSpc>
              <a:buFont typeface="Arial"/>
              <a:buChar char="•"/>
            </a:pPr>
            <a:r>
              <a:rPr lang="en-US" sz="2550">
                <a:solidFill>
                  <a:srgbClr val="1C1917"/>
                </a:solidFill>
                <a:latin typeface="Calibri"/>
                <a:ea typeface="Calibri"/>
                <a:cs typeface="Calibri"/>
                <a:sym typeface="Calibri"/>
              </a:rPr>
              <a:t>Grouping and inhibition cut the noise</a:t>
            </a:r>
          </a:p>
          <a:p>
            <a:pPr algn="l" marL="461486" indent="-230743" lvl="1">
              <a:lnSpc>
                <a:spcPts val="3060"/>
              </a:lnSpc>
              <a:buFont typeface="Arial"/>
              <a:buChar char="•"/>
            </a:pPr>
            <a:r>
              <a:rPr lang="en-US" sz="2550">
                <a:solidFill>
                  <a:srgbClr val="1C1917"/>
                </a:solidFill>
                <a:latin typeface="Calibri"/>
                <a:ea typeface="Calibri"/>
                <a:cs typeface="Calibri"/>
                <a:sym typeface="Calibri"/>
              </a:rPr>
              <a:t>Small footprint (about 180 MiB)</a:t>
            </a:r>
          </a:p>
        </p:txBody>
      </p:sp>
      <p:grpSp>
        <p:nvGrpSpPr>
          <p:cNvPr name="Group 17" id="17"/>
          <p:cNvGrpSpPr/>
          <p:nvPr/>
        </p:nvGrpSpPr>
        <p:grpSpPr>
          <a:xfrm rot="0">
            <a:off x="6394142" y="2251046"/>
            <a:ext cx="5280660" cy="6021910"/>
            <a:chOff x="0" y="0"/>
            <a:chExt cx="7040880" cy="8029213"/>
          </a:xfrm>
        </p:grpSpPr>
        <p:sp>
          <p:nvSpPr>
            <p:cNvPr name="Freeform 18" id="18"/>
            <p:cNvSpPr/>
            <p:nvPr/>
          </p:nvSpPr>
          <p:spPr>
            <a:xfrm flipH="false" flipV="false" rot="0">
              <a:off x="0" y="0"/>
              <a:ext cx="7040880" cy="8029214"/>
            </a:xfrm>
            <a:custGeom>
              <a:avLst/>
              <a:gdLst/>
              <a:ahLst/>
              <a:cxnLst/>
              <a:rect r="r" b="b" t="t" l="l"/>
              <a:pathLst>
                <a:path h="8029214" w="7040880">
                  <a:moveTo>
                    <a:pt x="0" y="185290"/>
                  </a:moveTo>
                  <a:cubicBezTo>
                    <a:pt x="0" y="82994"/>
                    <a:pt x="98298" y="0"/>
                    <a:pt x="219456" y="0"/>
                  </a:cubicBezTo>
                  <a:lnTo>
                    <a:pt x="6821424" y="0"/>
                  </a:lnTo>
                  <a:cubicBezTo>
                    <a:pt x="6942582" y="0"/>
                    <a:pt x="7040880" y="82994"/>
                    <a:pt x="7040880" y="185290"/>
                  </a:cubicBezTo>
                  <a:lnTo>
                    <a:pt x="7040880" y="7843924"/>
                  </a:lnTo>
                  <a:cubicBezTo>
                    <a:pt x="7040880" y="7946219"/>
                    <a:pt x="6942582" y="8029214"/>
                    <a:pt x="6821424" y="8029214"/>
                  </a:cubicBezTo>
                  <a:lnTo>
                    <a:pt x="219456" y="8029214"/>
                  </a:lnTo>
                  <a:cubicBezTo>
                    <a:pt x="98298" y="8029213"/>
                    <a:pt x="0" y="7946219"/>
                    <a:pt x="0" y="7843924"/>
                  </a:cubicBezTo>
                  <a:close/>
                </a:path>
              </a:pathLst>
            </a:custGeom>
            <a:solidFill>
              <a:srgbClr val="F5F5F4"/>
            </a:solidFill>
          </p:spPr>
          <p:txBody>
            <a:bodyPr/>
            <a:p/>
          </p:txBody>
        </p:sp>
      </p:grpSp>
      <p:grpSp>
        <p:nvGrpSpPr>
          <p:cNvPr name="Group 19" id="19"/>
          <p:cNvGrpSpPr/>
          <p:nvPr/>
        </p:nvGrpSpPr>
        <p:grpSpPr>
          <a:xfrm rot="0">
            <a:off x="6805622" y="2593946"/>
            <a:ext cx="960120" cy="960120"/>
            <a:chOff x="0" y="0"/>
            <a:chExt cx="1280160" cy="1280160"/>
          </a:xfrm>
        </p:grpSpPr>
        <p:sp>
          <p:nvSpPr>
            <p:cNvPr name="Freeform 20" id="20"/>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B91C1C"/>
            </a:solidFill>
          </p:spPr>
          <p:txBody>
            <a:bodyPr/>
            <a:p/>
          </p:txBody>
        </p:sp>
      </p:grpSp>
      <p:grpSp>
        <p:nvGrpSpPr>
          <p:cNvPr name="Group 21" id="21"/>
          <p:cNvGrpSpPr/>
          <p:nvPr/>
        </p:nvGrpSpPr>
        <p:grpSpPr>
          <a:xfrm rot="0">
            <a:off x="7038794" y="2827118"/>
            <a:ext cx="493776" cy="493776"/>
            <a:chOff x="0" y="0"/>
            <a:chExt cx="658368" cy="658368"/>
          </a:xfrm>
        </p:grpSpPr>
        <p:sp>
          <p:nvSpPr>
            <p:cNvPr name="Freeform 22" id="22"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5"/>
              <a:stretch>
                <a:fillRect l="0" t="0" r="0" b="0"/>
              </a:stretch>
            </a:blipFill>
          </p:spPr>
          <p:txBody>
            <a:bodyPr/>
            <a:p/>
          </p:txBody>
        </p:sp>
      </p:grpSp>
      <p:grpSp>
        <p:nvGrpSpPr>
          <p:cNvPr name="Group 23" id="23"/>
          <p:cNvGrpSpPr/>
          <p:nvPr/>
        </p:nvGrpSpPr>
        <p:grpSpPr>
          <a:xfrm rot="0">
            <a:off x="7971482" y="2593946"/>
            <a:ext cx="3497580" cy="960120"/>
            <a:chOff x="0" y="0"/>
            <a:chExt cx="4663440" cy="1280160"/>
          </a:xfrm>
        </p:grpSpPr>
        <p:sp>
          <p:nvSpPr>
            <p:cNvPr name="Freeform 24" id="24"/>
            <p:cNvSpPr/>
            <p:nvPr/>
          </p:nvSpPr>
          <p:spPr>
            <a:xfrm flipH="false" flipV="false" rot="0">
              <a:off x="0" y="0"/>
              <a:ext cx="4663440" cy="1280160"/>
            </a:xfrm>
            <a:custGeom>
              <a:avLst/>
              <a:gdLst/>
              <a:ahLst/>
              <a:cxnLst/>
              <a:rect r="r" b="b" t="t" l="l"/>
              <a:pathLst>
                <a:path h="1280160" w="4663440">
                  <a:moveTo>
                    <a:pt x="0" y="0"/>
                  </a:moveTo>
                  <a:lnTo>
                    <a:pt x="4663440" y="0"/>
                  </a:lnTo>
                  <a:lnTo>
                    <a:pt x="4663440" y="1280160"/>
                  </a:lnTo>
                  <a:lnTo>
                    <a:pt x="0" y="1280160"/>
                  </a:lnTo>
                  <a:close/>
                </a:path>
              </a:pathLst>
            </a:custGeom>
            <a:blipFill>
              <a:blip r:embed="rId3">
                <a:alphaModFix amt="0"/>
              </a:blip>
              <a:stretch>
                <a:fillRect l="0" t="-20981" r="0" b="-20981"/>
              </a:stretch>
            </a:blipFill>
          </p:spPr>
          <p:txBody>
            <a:bodyPr/>
            <a:p/>
          </p:txBody>
        </p:sp>
        <p:sp>
          <p:nvSpPr>
            <p:cNvPr name="TextBox 25" id="25"/>
            <p:cNvSpPr txBox="true"/>
            <p:nvPr/>
          </p:nvSpPr>
          <p:spPr>
            <a:xfrm>
              <a:off x="0" y="-66675"/>
              <a:ext cx="4663440" cy="1346835"/>
            </a:xfrm>
            <a:prstGeom prst="rect">
              <a:avLst/>
            </a:prstGeom>
          </p:spPr>
          <p:txBody>
            <a:bodyPr anchor="ctr" rtlCol="false" tIns="0" lIns="0" bIns="0" rIns="0"/>
            <a:lstStyle/>
            <a:p>
              <a:pPr algn="l">
                <a:lnSpc>
                  <a:spcPts val="3600"/>
                </a:lnSpc>
              </a:pPr>
              <a:r>
                <a:rPr lang="en-US" sz="3000" b="true">
                  <a:solidFill>
                    <a:srgbClr val="B91C1C"/>
                  </a:solidFill>
                  <a:latin typeface="Calibri"/>
                  <a:ea typeface="Calibri"/>
                  <a:cs typeface="Calibri"/>
                  <a:sym typeface="Calibri"/>
                </a:rPr>
                <a:t>Limitations</a:t>
              </a:r>
            </a:p>
          </p:txBody>
        </p:sp>
      </p:grpSp>
      <p:sp>
        <p:nvSpPr>
          <p:cNvPr name="TextBox 26" id="26"/>
          <p:cNvSpPr txBox="true"/>
          <p:nvPr/>
        </p:nvSpPr>
        <p:spPr>
          <a:xfrm rot="0">
            <a:off x="6805622" y="3849341"/>
            <a:ext cx="4301544" cy="2333625"/>
          </a:xfrm>
          <a:prstGeom prst="rect">
            <a:avLst/>
          </a:prstGeom>
        </p:spPr>
        <p:txBody>
          <a:bodyPr anchor="t" rtlCol="false" tIns="0" lIns="0" bIns="0" rIns="0">
            <a:spAutoFit/>
          </a:bodyPr>
          <a:lstStyle/>
          <a:p>
            <a:pPr algn="l" marL="461486" indent="-230743" lvl="1">
              <a:lnSpc>
                <a:spcPts val="3060"/>
              </a:lnSpc>
              <a:buFont typeface="Arial"/>
              <a:buChar char="•"/>
            </a:pPr>
            <a:r>
              <a:rPr lang="en-US" sz="2550">
                <a:solidFill>
                  <a:srgbClr val="1C1917"/>
                </a:solidFill>
                <a:latin typeface="Calibri"/>
                <a:ea typeface="Calibri"/>
                <a:cs typeface="Calibri"/>
                <a:sym typeface="Calibri"/>
              </a:rPr>
              <a:t>Metrics only: no logs or traces</a:t>
            </a:r>
          </a:p>
          <a:p>
            <a:pPr algn="l" marL="461486" indent="-230743" lvl="1">
              <a:lnSpc>
                <a:spcPts val="3060"/>
              </a:lnSpc>
              <a:buFont typeface="Arial"/>
              <a:buChar char="•"/>
            </a:pPr>
            <a:r>
              <a:rPr lang="en-US" sz="2550">
                <a:solidFill>
                  <a:srgbClr val="1C1917"/>
                </a:solidFill>
                <a:latin typeface="Calibri"/>
                <a:ea typeface="Calibri"/>
                <a:cs typeface="Calibri"/>
                <a:sym typeface="Calibri"/>
              </a:rPr>
              <a:t>One server is a single point of failure</a:t>
            </a:r>
          </a:p>
          <a:p>
            <a:pPr algn="l" marL="461486" indent="-230743" lvl="1">
              <a:lnSpc>
                <a:spcPts val="3060"/>
              </a:lnSpc>
              <a:buFont typeface="Arial"/>
              <a:buChar char="•"/>
            </a:pPr>
            <a:r>
              <a:rPr lang="en-US" sz="2550">
                <a:solidFill>
                  <a:srgbClr val="1C1917"/>
                </a:solidFill>
                <a:latin typeface="Calibri"/>
                <a:ea typeface="Calibri"/>
                <a:cs typeface="Calibri"/>
                <a:sym typeface="Calibri"/>
              </a:rPr>
              <a:t>Local storage, not long-term</a:t>
            </a:r>
          </a:p>
          <a:p>
            <a:pPr algn="l" marL="461486" indent="-230743" lvl="1">
              <a:lnSpc>
                <a:spcPts val="3060"/>
              </a:lnSpc>
              <a:buFont typeface="Arial"/>
              <a:buChar char="•"/>
            </a:pPr>
            <a:r>
              <a:rPr lang="en-US" sz="2550">
                <a:solidFill>
                  <a:srgbClr val="1C1917"/>
                </a:solidFill>
                <a:latin typeface="Calibri"/>
                <a:ea typeface="Calibri"/>
                <a:cs typeface="Calibri"/>
                <a:sym typeface="Calibri"/>
              </a:rPr>
              <a:t>PromQL takes time to learn</a:t>
            </a:r>
          </a:p>
        </p:txBody>
      </p:sp>
      <p:grpSp>
        <p:nvGrpSpPr>
          <p:cNvPr name="Group 27" id="27"/>
          <p:cNvGrpSpPr/>
          <p:nvPr/>
        </p:nvGrpSpPr>
        <p:grpSpPr>
          <a:xfrm rot="0">
            <a:off x="12017702" y="2251046"/>
            <a:ext cx="5280660" cy="6021910"/>
            <a:chOff x="0" y="0"/>
            <a:chExt cx="7040880" cy="8029213"/>
          </a:xfrm>
        </p:grpSpPr>
        <p:sp>
          <p:nvSpPr>
            <p:cNvPr name="Freeform 28" id="28"/>
            <p:cNvSpPr/>
            <p:nvPr/>
          </p:nvSpPr>
          <p:spPr>
            <a:xfrm flipH="false" flipV="false" rot="0">
              <a:off x="0" y="0"/>
              <a:ext cx="7040880" cy="8029214"/>
            </a:xfrm>
            <a:custGeom>
              <a:avLst/>
              <a:gdLst/>
              <a:ahLst/>
              <a:cxnLst/>
              <a:rect r="r" b="b" t="t" l="l"/>
              <a:pathLst>
                <a:path h="8029214" w="7040880">
                  <a:moveTo>
                    <a:pt x="0" y="185290"/>
                  </a:moveTo>
                  <a:cubicBezTo>
                    <a:pt x="0" y="82994"/>
                    <a:pt x="98298" y="0"/>
                    <a:pt x="219456" y="0"/>
                  </a:cubicBezTo>
                  <a:lnTo>
                    <a:pt x="6821424" y="0"/>
                  </a:lnTo>
                  <a:cubicBezTo>
                    <a:pt x="6942582" y="0"/>
                    <a:pt x="7040880" y="82994"/>
                    <a:pt x="7040880" y="185290"/>
                  </a:cubicBezTo>
                  <a:lnTo>
                    <a:pt x="7040880" y="7843924"/>
                  </a:lnTo>
                  <a:cubicBezTo>
                    <a:pt x="7040880" y="7946219"/>
                    <a:pt x="6942582" y="8029214"/>
                    <a:pt x="6821424" y="8029214"/>
                  </a:cubicBezTo>
                  <a:lnTo>
                    <a:pt x="219456" y="8029214"/>
                  </a:lnTo>
                  <a:cubicBezTo>
                    <a:pt x="98298" y="8029213"/>
                    <a:pt x="0" y="7946219"/>
                    <a:pt x="0" y="7843924"/>
                  </a:cubicBezTo>
                  <a:close/>
                </a:path>
              </a:pathLst>
            </a:custGeom>
            <a:solidFill>
              <a:srgbClr val="F5F5F4"/>
            </a:solidFill>
          </p:spPr>
          <p:txBody>
            <a:bodyPr/>
            <a:p/>
          </p:txBody>
        </p:sp>
      </p:grpSp>
      <p:grpSp>
        <p:nvGrpSpPr>
          <p:cNvPr name="Group 29" id="29"/>
          <p:cNvGrpSpPr/>
          <p:nvPr/>
        </p:nvGrpSpPr>
        <p:grpSpPr>
          <a:xfrm rot="0">
            <a:off x="12429182" y="2593946"/>
            <a:ext cx="960120" cy="960120"/>
            <a:chOff x="0" y="0"/>
            <a:chExt cx="1280160" cy="1280160"/>
          </a:xfrm>
        </p:grpSpPr>
        <p:sp>
          <p:nvSpPr>
            <p:cNvPr name="Freeform 30" id="30"/>
            <p:cNvSpPr/>
            <p:nvPr/>
          </p:nvSpPr>
          <p:spPr>
            <a:xfrm flipH="false" flipV="false" rot="0">
              <a:off x="0" y="0"/>
              <a:ext cx="1280160" cy="1280160"/>
            </a:xfrm>
            <a:custGeom>
              <a:avLst/>
              <a:gdLst/>
              <a:ahLst/>
              <a:cxnLst/>
              <a:rect r="r" b="b" t="t" l="l"/>
              <a:pathLst>
                <a:path h="1280160" w="1280160">
                  <a:moveTo>
                    <a:pt x="0" y="640080"/>
                  </a:moveTo>
                  <a:cubicBezTo>
                    <a:pt x="0" y="286512"/>
                    <a:pt x="286512" y="0"/>
                    <a:pt x="640080" y="0"/>
                  </a:cubicBezTo>
                  <a:cubicBezTo>
                    <a:pt x="993648" y="0"/>
                    <a:pt x="1280160" y="286512"/>
                    <a:pt x="1280160" y="640080"/>
                  </a:cubicBezTo>
                  <a:cubicBezTo>
                    <a:pt x="1280160" y="993648"/>
                    <a:pt x="993648" y="1280160"/>
                    <a:pt x="640080" y="1280160"/>
                  </a:cubicBezTo>
                  <a:cubicBezTo>
                    <a:pt x="286512" y="1280160"/>
                    <a:pt x="0" y="993648"/>
                    <a:pt x="0" y="640080"/>
                  </a:cubicBezTo>
                  <a:close/>
                </a:path>
              </a:pathLst>
            </a:custGeom>
            <a:solidFill>
              <a:srgbClr val="E6522C"/>
            </a:solidFill>
          </p:spPr>
          <p:txBody>
            <a:bodyPr/>
            <a:p/>
          </p:txBody>
        </p:sp>
      </p:grpSp>
      <p:grpSp>
        <p:nvGrpSpPr>
          <p:cNvPr name="Group 31" id="31"/>
          <p:cNvGrpSpPr/>
          <p:nvPr/>
        </p:nvGrpSpPr>
        <p:grpSpPr>
          <a:xfrm rot="0">
            <a:off x="12662354" y="2827118"/>
            <a:ext cx="493776" cy="493776"/>
            <a:chOff x="0" y="0"/>
            <a:chExt cx="658368" cy="658368"/>
          </a:xfrm>
        </p:grpSpPr>
        <p:sp>
          <p:nvSpPr>
            <p:cNvPr name="Freeform 32" id="32" descr="preencoded.png"/>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lnTo>
                    <a:pt x="0" y="0"/>
                  </a:lnTo>
                  <a:close/>
                </a:path>
              </a:pathLst>
            </a:custGeom>
            <a:blipFill>
              <a:blip r:embed="rId6"/>
              <a:stretch>
                <a:fillRect l="0" t="0" r="0" b="0"/>
              </a:stretch>
            </a:blipFill>
          </p:spPr>
          <p:txBody>
            <a:bodyPr/>
            <a:p/>
          </p:txBody>
        </p:sp>
      </p:grpSp>
      <p:grpSp>
        <p:nvGrpSpPr>
          <p:cNvPr name="Group 33" id="33"/>
          <p:cNvGrpSpPr/>
          <p:nvPr/>
        </p:nvGrpSpPr>
        <p:grpSpPr>
          <a:xfrm rot="0">
            <a:off x="13595042" y="2593946"/>
            <a:ext cx="3497580" cy="960120"/>
            <a:chOff x="0" y="0"/>
            <a:chExt cx="4663440" cy="1280160"/>
          </a:xfrm>
        </p:grpSpPr>
        <p:sp>
          <p:nvSpPr>
            <p:cNvPr name="Freeform 34" id="34"/>
            <p:cNvSpPr/>
            <p:nvPr/>
          </p:nvSpPr>
          <p:spPr>
            <a:xfrm flipH="false" flipV="false" rot="0">
              <a:off x="0" y="0"/>
              <a:ext cx="4663440" cy="1280160"/>
            </a:xfrm>
            <a:custGeom>
              <a:avLst/>
              <a:gdLst/>
              <a:ahLst/>
              <a:cxnLst/>
              <a:rect r="r" b="b" t="t" l="l"/>
              <a:pathLst>
                <a:path h="1280160" w="4663440">
                  <a:moveTo>
                    <a:pt x="0" y="0"/>
                  </a:moveTo>
                  <a:lnTo>
                    <a:pt x="4663440" y="0"/>
                  </a:lnTo>
                  <a:lnTo>
                    <a:pt x="4663440" y="1280160"/>
                  </a:lnTo>
                  <a:lnTo>
                    <a:pt x="0" y="1280160"/>
                  </a:lnTo>
                  <a:close/>
                </a:path>
              </a:pathLst>
            </a:custGeom>
            <a:blipFill>
              <a:blip r:embed="rId3">
                <a:alphaModFix amt="0"/>
              </a:blip>
              <a:stretch>
                <a:fillRect l="0" t="-20981" r="0" b="-20981"/>
              </a:stretch>
            </a:blipFill>
          </p:spPr>
          <p:txBody>
            <a:bodyPr/>
            <a:p/>
          </p:txBody>
        </p:sp>
        <p:sp>
          <p:nvSpPr>
            <p:cNvPr name="TextBox 35" id="35"/>
            <p:cNvSpPr txBox="true"/>
            <p:nvPr/>
          </p:nvSpPr>
          <p:spPr>
            <a:xfrm>
              <a:off x="0" y="-66675"/>
              <a:ext cx="4663440" cy="1346835"/>
            </a:xfrm>
            <a:prstGeom prst="rect">
              <a:avLst/>
            </a:prstGeom>
          </p:spPr>
          <p:txBody>
            <a:bodyPr anchor="ctr" rtlCol="false" tIns="0" lIns="0" bIns="0" rIns="0"/>
            <a:lstStyle/>
            <a:p>
              <a:pPr algn="l">
                <a:lnSpc>
                  <a:spcPts val="3600"/>
                </a:lnSpc>
              </a:pPr>
              <a:r>
                <a:rPr lang="en-US" sz="3000" b="true">
                  <a:solidFill>
                    <a:srgbClr val="E6522C"/>
                  </a:solidFill>
                  <a:latin typeface="Calibri"/>
                  <a:ea typeface="Calibri"/>
                  <a:cs typeface="Calibri"/>
                  <a:sym typeface="Calibri"/>
                </a:rPr>
                <a:t>Bugs our tests found</a:t>
              </a:r>
            </a:p>
          </p:txBody>
        </p:sp>
      </p:grpSp>
      <p:sp>
        <p:nvSpPr>
          <p:cNvPr name="TextBox 36" id="36"/>
          <p:cNvSpPr txBox="true"/>
          <p:nvPr/>
        </p:nvSpPr>
        <p:spPr>
          <a:xfrm rot="0">
            <a:off x="12429182" y="3849341"/>
            <a:ext cx="4343446" cy="3095625"/>
          </a:xfrm>
          <a:prstGeom prst="rect">
            <a:avLst/>
          </a:prstGeom>
        </p:spPr>
        <p:txBody>
          <a:bodyPr anchor="t" rtlCol="false" tIns="0" lIns="0" bIns="0" rIns="0">
            <a:spAutoFit/>
          </a:bodyPr>
          <a:lstStyle/>
          <a:p>
            <a:pPr algn="l" marL="461486" indent="-230743" lvl="1">
              <a:lnSpc>
                <a:spcPts val="3060"/>
              </a:lnSpc>
              <a:buFont typeface="Arial"/>
              <a:buChar char="•"/>
            </a:pPr>
            <a:r>
              <a:rPr lang="en-US" sz="2550">
                <a:solidFill>
                  <a:srgbClr val="1C1917"/>
                </a:solidFill>
                <a:latin typeface="Calibri"/>
                <a:ea typeface="Calibri"/>
                <a:cs typeface="Calibri"/>
                <a:sym typeface="Calibri"/>
              </a:rPr>
              <a:t>CPU alert never fired: the usage ratio was too jumpy, so we alert on throttling instead</a:t>
            </a:r>
          </a:p>
          <a:p>
            <a:pPr algn="l" marL="461486" indent="-230743" lvl="1">
              <a:lnSpc>
                <a:spcPts val="3060"/>
              </a:lnSpc>
              <a:buFont typeface="Arial"/>
              <a:buChar char="•"/>
            </a:pPr>
            <a:r>
              <a:rPr lang="en-US" sz="2550">
                <a:solidFill>
                  <a:srgbClr val="1C1917"/>
                </a:solidFill>
                <a:latin typeface="Calibri"/>
                <a:ea typeface="Calibri"/>
                <a:cs typeface="Calibri"/>
                <a:sym typeface="Calibri"/>
              </a:rPr>
              <a:t>Database alert flapped: the exporter timed out, so we added a 1 s timeout and alert on up == 0 too</a:t>
            </a:r>
          </a:p>
        </p:txBody>
      </p:sp>
      <p:sp>
        <p:nvSpPr>
          <p:cNvPr name="TextBox 37" id="37"/>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13</a:t>
            </a:r>
          </a:p>
        </p:txBody>
      </p:sp>
      <p:grpSp>
        <p:nvGrpSpPr>
          <p:cNvPr name="Group 38" id="38"/>
          <p:cNvGrpSpPr/>
          <p:nvPr/>
        </p:nvGrpSpPr>
        <p:grpSpPr>
          <a:xfrm rot="0">
            <a:off x="125707" y="43858"/>
            <a:ext cx="3471606" cy="1028700"/>
            <a:chOff x="0" y="0"/>
            <a:chExt cx="2742997" cy="812800"/>
          </a:xfrm>
        </p:grpSpPr>
        <p:sp>
          <p:nvSpPr>
            <p:cNvPr name="Freeform 39" id="39"/>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7"/>
              <a:stretch>
                <a:fillRect l="-833" t="0" r="-833" b="0"/>
              </a:stretch>
            </a:blipFill>
          </p:spPr>
          <p:txBody>
            <a:bodyPr/>
            <a:p/>
          </p:txBody>
        </p:sp>
      </p:grpSp>
      <p:grpSp>
        <p:nvGrpSpPr>
          <p:cNvPr name="Group 40" id="40"/>
          <p:cNvGrpSpPr>
            <a:grpSpLocks noChangeAspect="true"/>
          </p:cNvGrpSpPr>
          <p:nvPr/>
        </p:nvGrpSpPr>
        <p:grpSpPr>
          <a:xfrm rot="5400000">
            <a:off x="11132594" y="2264880"/>
            <a:ext cx="311239" cy="13999572"/>
            <a:chOff x="0" y="0"/>
            <a:chExt cx="414986" cy="18666096"/>
          </a:xfrm>
        </p:grpSpPr>
        <p:sp>
          <p:nvSpPr>
            <p:cNvPr name="Freeform 41" id="41"/>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8"/>
              <a:stretch>
                <a:fillRect l="0" t="0" r="-274183" b="0"/>
              </a:stretch>
            </a:blipFill>
          </p:spPr>
          <p:txBody>
            <a:bodyPr/>
            <a:p/>
          </p:txBody>
        </p:sp>
      </p:grpSp>
      <p:grpSp>
        <p:nvGrpSpPr>
          <p:cNvPr name="Group 42" id="42"/>
          <p:cNvGrpSpPr>
            <a:grpSpLocks noChangeAspect="true"/>
          </p:cNvGrpSpPr>
          <p:nvPr/>
        </p:nvGrpSpPr>
        <p:grpSpPr>
          <a:xfrm rot="0">
            <a:off x="16490259" y="140413"/>
            <a:ext cx="1616205" cy="888287"/>
            <a:chOff x="0" y="0"/>
            <a:chExt cx="2627014" cy="1443840"/>
          </a:xfrm>
        </p:grpSpPr>
        <p:sp>
          <p:nvSpPr>
            <p:cNvPr name="Freeform 43" id="43"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9"/>
              <a:stretch>
                <a:fillRect l="0" t="0" r="0" b="-35871"/>
              </a:stretch>
            </a:blipFill>
          </p:spPr>
          <p:txBody>
            <a:body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8583686" y="769601"/>
            <a:ext cx="1053624" cy="18354998"/>
            <a:chOff x="0" y="0"/>
            <a:chExt cx="1404832" cy="24473330"/>
          </a:xfrm>
        </p:grpSpPr>
        <p:sp>
          <p:nvSpPr>
            <p:cNvPr name="Freeform 3" id="3"/>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2"/>
              <a:stretch>
                <a:fillRect l="0" t="0" r="-226630" b="0"/>
              </a:stretch>
            </a:blipFill>
          </p:spPr>
        </p:sp>
      </p:grpSp>
      <p:grpSp>
        <p:nvGrpSpPr>
          <p:cNvPr name="Group 4" id="4"/>
          <p:cNvGrpSpPr/>
          <p:nvPr/>
        </p:nvGrpSpPr>
        <p:grpSpPr>
          <a:xfrm rot="0">
            <a:off x="1673352" y="381000"/>
            <a:ext cx="16596360" cy="1165860"/>
            <a:chOff x="0" y="0"/>
            <a:chExt cx="22128480" cy="1554480"/>
          </a:xfrm>
        </p:grpSpPr>
        <p:sp>
          <p:nvSpPr>
            <p:cNvPr name="Freeform 5" id="5"/>
            <p:cNvSpPr/>
            <p:nvPr/>
          </p:nvSpPr>
          <p:spPr>
            <a:xfrm flipH="false" flipV="false" rot="0">
              <a:off x="0" y="0"/>
              <a:ext cx="22128480" cy="1554480"/>
            </a:xfrm>
            <a:custGeom>
              <a:avLst/>
              <a:gdLst/>
              <a:ahLst/>
              <a:cxnLst/>
              <a:rect r="r" b="b" t="t" l="l"/>
              <a:pathLst>
                <a:path h="1554480" w="22128480">
                  <a:moveTo>
                    <a:pt x="0" y="0"/>
                  </a:moveTo>
                  <a:lnTo>
                    <a:pt x="22128480" y="0"/>
                  </a:lnTo>
                  <a:lnTo>
                    <a:pt x="22128480" y="1554480"/>
                  </a:lnTo>
                  <a:lnTo>
                    <a:pt x="0" y="1554480"/>
                  </a:lnTo>
                  <a:close/>
                </a:path>
              </a:pathLst>
            </a:custGeom>
            <a:blipFill>
              <a:blip r:embed="rId3">
                <a:alphaModFix amt="0"/>
              </a:blip>
              <a:stretch>
                <a:fillRect l="0" t="-227375" r="0" b="-227375"/>
              </a:stretch>
            </a:blipFill>
          </p:spPr>
        </p:sp>
        <p:sp>
          <p:nvSpPr>
            <p:cNvPr name="TextBox 6" id="6"/>
            <p:cNvSpPr txBox="true"/>
            <p:nvPr/>
          </p:nvSpPr>
          <p:spPr>
            <a:xfrm>
              <a:off x="0" y="-9525"/>
              <a:ext cx="22128480" cy="1564005"/>
            </a:xfrm>
            <a:prstGeom prst="rect">
              <a:avLst/>
            </a:prstGeom>
          </p:spPr>
          <p:txBody>
            <a:bodyPr anchor="ctr" rtlCol="false" tIns="0" lIns="0" bIns="0" rIns="0"/>
            <a:lstStyle/>
            <a:p>
              <a:pPr algn="ctr">
                <a:lnSpc>
                  <a:spcPts val="5759"/>
                </a:lnSpc>
              </a:pPr>
              <a:r>
                <a:rPr lang="en-US" sz="4800" b="true">
                  <a:solidFill>
                    <a:srgbClr val="1C1917"/>
                  </a:solidFill>
                  <a:latin typeface="Cambria"/>
                  <a:ea typeface="Cambria"/>
                  <a:cs typeface="Cambria"/>
                  <a:sym typeface="Cambria"/>
                </a:rPr>
                <a:t>Tested like code: the CI pipeline</a:t>
              </a:r>
            </a:p>
          </p:txBody>
        </p:sp>
      </p:grpSp>
      <p:grpSp>
        <p:nvGrpSpPr>
          <p:cNvPr name="Group 7" id="7"/>
          <p:cNvGrpSpPr/>
          <p:nvPr/>
        </p:nvGrpSpPr>
        <p:grpSpPr>
          <a:xfrm rot="0">
            <a:off x="1673352" y="2194560"/>
            <a:ext cx="1303020" cy="1303020"/>
            <a:chOff x="0" y="0"/>
            <a:chExt cx="1737360" cy="1737360"/>
          </a:xfrm>
        </p:grpSpPr>
        <p:sp>
          <p:nvSpPr>
            <p:cNvPr name="Freeform 8" id="8"/>
            <p:cNvSpPr/>
            <p:nvPr/>
          </p:nvSpPr>
          <p:spPr>
            <a:xfrm flipH="false" flipV="false" rot="0">
              <a:off x="0" y="0"/>
              <a:ext cx="1737360" cy="1737360"/>
            </a:xfrm>
            <a:custGeom>
              <a:avLst/>
              <a:gdLst/>
              <a:ahLst/>
              <a:cxnLst/>
              <a:rect r="r" b="b" t="t" l="l"/>
              <a:pathLst>
                <a:path h="1737360" w="1737360">
                  <a:moveTo>
                    <a:pt x="0" y="868680"/>
                  </a:moveTo>
                  <a:cubicBezTo>
                    <a:pt x="0" y="388874"/>
                    <a:pt x="388874" y="0"/>
                    <a:pt x="868680" y="0"/>
                  </a:cubicBezTo>
                  <a:cubicBezTo>
                    <a:pt x="1348486" y="0"/>
                    <a:pt x="1737360" y="388874"/>
                    <a:pt x="1737360" y="868680"/>
                  </a:cubicBezTo>
                  <a:cubicBezTo>
                    <a:pt x="1737360" y="1348486"/>
                    <a:pt x="1348486" y="1737360"/>
                    <a:pt x="868680" y="1737360"/>
                  </a:cubicBezTo>
                  <a:cubicBezTo>
                    <a:pt x="388874" y="1737360"/>
                    <a:pt x="0" y="1348486"/>
                    <a:pt x="0" y="868680"/>
                  </a:cubicBezTo>
                  <a:close/>
                </a:path>
              </a:pathLst>
            </a:custGeom>
            <a:solidFill>
              <a:srgbClr val="E6522C"/>
            </a:solidFill>
          </p:spPr>
        </p:sp>
      </p:grpSp>
      <p:grpSp>
        <p:nvGrpSpPr>
          <p:cNvPr name="Group 9" id="9"/>
          <p:cNvGrpSpPr/>
          <p:nvPr/>
        </p:nvGrpSpPr>
        <p:grpSpPr>
          <a:xfrm rot="0">
            <a:off x="1986077" y="2507285"/>
            <a:ext cx="677570" cy="677570"/>
            <a:chOff x="0" y="0"/>
            <a:chExt cx="903427" cy="903427"/>
          </a:xfrm>
        </p:grpSpPr>
        <p:sp>
          <p:nvSpPr>
            <p:cNvPr name="Freeform 10" id="10" descr="preencoded.png"/>
            <p:cNvSpPr/>
            <p:nvPr/>
          </p:nvSpPr>
          <p:spPr>
            <a:xfrm flipH="false" flipV="false" rot="0">
              <a:off x="0" y="0"/>
              <a:ext cx="903478" cy="903478"/>
            </a:xfrm>
            <a:custGeom>
              <a:avLst/>
              <a:gdLst/>
              <a:ahLst/>
              <a:cxnLst/>
              <a:rect r="r" b="b" t="t" l="l"/>
              <a:pathLst>
                <a:path h="903478" w="903478">
                  <a:moveTo>
                    <a:pt x="0" y="0"/>
                  </a:moveTo>
                  <a:lnTo>
                    <a:pt x="903478" y="0"/>
                  </a:lnTo>
                  <a:lnTo>
                    <a:pt x="903478" y="903478"/>
                  </a:lnTo>
                  <a:lnTo>
                    <a:pt x="0" y="903478"/>
                  </a:lnTo>
                  <a:lnTo>
                    <a:pt x="0" y="0"/>
                  </a:lnTo>
                  <a:close/>
                </a:path>
              </a:pathLst>
            </a:custGeom>
            <a:blipFill>
              <a:blip r:embed="rId4"/>
              <a:stretch>
                <a:fillRect l="0" t="0" r="5" b="5"/>
              </a:stretch>
            </a:blipFill>
          </p:spPr>
        </p:sp>
      </p:grpSp>
      <p:grpSp>
        <p:nvGrpSpPr>
          <p:cNvPr name="Group 11" id="11"/>
          <p:cNvGrpSpPr/>
          <p:nvPr/>
        </p:nvGrpSpPr>
        <p:grpSpPr>
          <a:xfrm rot="0">
            <a:off x="3223260" y="2578608"/>
            <a:ext cx="685800" cy="548640"/>
            <a:chOff x="0" y="0"/>
            <a:chExt cx="914400" cy="731520"/>
          </a:xfrm>
        </p:grpSpPr>
        <p:sp>
          <p:nvSpPr>
            <p:cNvPr name="Freeform 12" id="12"/>
            <p:cNvSpPr/>
            <p:nvPr/>
          </p:nvSpPr>
          <p:spPr>
            <a:xfrm flipH="false" flipV="false" rot="0">
              <a:off x="0" y="0"/>
              <a:ext cx="914400" cy="731520"/>
            </a:xfrm>
            <a:custGeom>
              <a:avLst/>
              <a:gdLst/>
              <a:ahLst/>
              <a:cxnLst/>
              <a:rect r="r" b="b" t="t" l="l"/>
              <a:pathLst>
                <a:path h="731520" w="914400">
                  <a:moveTo>
                    <a:pt x="0" y="182880"/>
                  </a:moveTo>
                  <a:lnTo>
                    <a:pt x="548640" y="182880"/>
                  </a:lnTo>
                  <a:lnTo>
                    <a:pt x="548640" y="0"/>
                  </a:lnTo>
                  <a:lnTo>
                    <a:pt x="914400" y="365760"/>
                  </a:lnTo>
                  <a:lnTo>
                    <a:pt x="548640" y="731520"/>
                  </a:lnTo>
                  <a:lnTo>
                    <a:pt x="548640" y="548640"/>
                  </a:lnTo>
                  <a:lnTo>
                    <a:pt x="0" y="548640"/>
                  </a:lnTo>
                  <a:close/>
                </a:path>
              </a:pathLst>
            </a:custGeom>
            <a:solidFill>
              <a:srgbClr val="57534E"/>
            </a:solidFill>
          </p:spPr>
        </p:sp>
      </p:grpSp>
      <p:grpSp>
        <p:nvGrpSpPr>
          <p:cNvPr name="Group 13" id="13"/>
          <p:cNvGrpSpPr/>
          <p:nvPr/>
        </p:nvGrpSpPr>
        <p:grpSpPr>
          <a:xfrm rot="0">
            <a:off x="822960" y="3771900"/>
            <a:ext cx="3017520" cy="617220"/>
            <a:chOff x="0" y="0"/>
            <a:chExt cx="4023360" cy="822960"/>
          </a:xfrm>
        </p:grpSpPr>
        <p:sp>
          <p:nvSpPr>
            <p:cNvPr name="Freeform 14" id="14"/>
            <p:cNvSpPr/>
            <p:nvPr/>
          </p:nvSpPr>
          <p:spPr>
            <a:xfrm flipH="false" flipV="false" rot="0">
              <a:off x="0" y="0"/>
              <a:ext cx="4023360" cy="822960"/>
            </a:xfrm>
            <a:custGeom>
              <a:avLst/>
              <a:gdLst/>
              <a:ahLst/>
              <a:cxnLst/>
              <a:rect r="r" b="b" t="t" l="l"/>
              <a:pathLst>
                <a:path h="822960" w="4023360">
                  <a:moveTo>
                    <a:pt x="0" y="0"/>
                  </a:moveTo>
                  <a:lnTo>
                    <a:pt x="4023360" y="0"/>
                  </a:lnTo>
                  <a:lnTo>
                    <a:pt x="4023360" y="822960"/>
                  </a:lnTo>
                  <a:lnTo>
                    <a:pt x="0" y="822960"/>
                  </a:lnTo>
                  <a:close/>
                </a:path>
              </a:pathLst>
            </a:custGeom>
            <a:blipFill>
              <a:blip r:embed="rId3">
                <a:alphaModFix amt="0"/>
              </a:blip>
              <a:stretch>
                <a:fillRect l="0" t="-45260" r="0" b="-45260"/>
              </a:stretch>
            </a:blipFill>
          </p:spPr>
        </p:sp>
        <p:sp>
          <p:nvSpPr>
            <p:cNvPr name="TextBox 15" id="15"/>
            <p:cNvSpPr txBox="true"/>
            <p:nvPr/>
          </p:nvSpPr>
          <p:spPr>
            <a:xfrm>
              <a:off x="0" y="-57150"/>
              <a:ext cx="4023360" cy="880110"/>
            </a:xfrm>
            <a:prstGeom prst="rect">
              <a:avLst/>
            </a:prstGeom>
          </p:spPr>
          <p:txBody>
            <a:bodyPr anchor="ctr" rtlCol="false" tIns="0" lIns="0" bIns="0" rIns="0"/>
            <a:lstStyle/>
            <a:p>
              <a:pPr algn="ctr">
                <a:lnSpc>
                  <a:spcPts val="3240"/>
                </a:lnSpc>
              </a:pPr>
              <a:r>
                <a:rPr lang="en-US" sz="2700" b="true">
                  <a:solidFill>
                    <a:srgbClr val="1C1917"/>
                  </a:solidFill>
                  <a:latin typeface="Calibri"/>
                  <a:ea typeface="Calibri"/>
                  <a:cs typeface="Calibri"/>
                  <a:sym typeface="Calibri"/>
                </a:rPr>
                <a:t>git push</a:t>
              </a:r>
            </a:p>
          </p:txBody>
        </p:sp>
      </p:grpSp>
      <p:sp>
        <p:nvSpPr>
          <p:cNvPr name="TextBox 16" id="16"/>
          <p:cNvSpPr txBox="true"/>
          <p:nvPr/>
        </p:nvSpPr>
        <p:spPr>
          <a:xfrm rot="0">
            <a:off x="822960" y="4331970"/>
            <a:ext cx="3017520" cy="1840230"/>
          </a:xfrm>
          <a:prstGeom prst="rect">
            <a:avLst/>
          </a:prstGeom>
        </p:spPr>
        <p:txBody>
          <a:bodyPr anchor="t" rtlCol="false" tIns="0" lIns="0" bIns="0" rIns="0">
            <a:spAutoFit/>
          </a:bodyPr>
          <a:lstStyle/>
          <a:p>
            <a:pPr algn="ctr">
              <a:lnSpc>
                <a:spcPts val="2700"/>
              </a:lnSpc>
            </a:pPr>
            <a:r>
              <a:rPr lang="en-US" sz="2250">
                <a:solidFill>
                  <a:srgbClr val="57534E"/>
                </a:solidFill>
                <a:latin typeface="Calibri"/>
                <a:ea typeface="Calibri"/>
                <a:cs typeface="Calibri"/>
                <a:sym typeface="Calibri"/>
              </a:rPr>
              <a:t>GitHub Actions starts on every push to main</a:t>
            </a:r>
          </a:p>
        </p:txBody>
      </p:sp>
      <p:grpSp>
        <p:nvGrpSpPr>
          <p:cNvPr name="Group 17" id="17"/>
          <p:cNvGrpSpPr/>
          <p:nvPr/>
        </p:nvGrpSpPr>
        <p:grpSpPr>
          <a:xfrm rot="0">
            <a:off x="5074920" y="2194560"/>
            <a:ext cx="1303020" cy="1303020"/>
            <a:chOff x="0" y="0"/>
            <a:chExt cx="1737360" cy="1737360"/>
          </a:xfrm>
        </p:grpSpPr>
        <p:sp>
          <p:nvSpPr>
            <p:cNvPr name="Freeform 18" id="18"/>
            <p:cNvSpPr/>
            <p:nvPr/>
          </p:nvSpPr>
          <p:spPr>
            <a:xfrm flipH="false" flipV="false" rot="0">
              <a:off x="0" y="0"/>
              <a:ext cx="1737360" cy="1737360"/>
            </a:xfrm>
            <a:custGeom>
              <a:avLst/>
              <a:gdLst/>
              <a:ahLst/>
              <a:cxnLst/>
              <a:rect r="r" b="b" t="t" l="l"/>
              <a:pathLst>
                <a:path h="1737360" w="1737360">
                  <a:moveTo>
                    <a:pt x="0" y="868680"/>
                  </a:moveTo>
                  <a:cubicBezTo>
                    <a:pt x="0" y="388874"/>
                    <a:pt x="388874" y="0"/>
                    <a:pt x="868680" y="0"/>
                  </a:cubicBezTo>
                  <a:cubicBezTo>
                    <a:pt x="1348486" y="0"/>
                    <a:pt x="1737360" y="388874"/>
                    <a:pt x="1737360" y="868680"/>
                  </a:cubicBezTo>
                  <a:cubicBezTo>
                    <a:pt x="1737360" y="1348486"/>
                    <a:pt x="1348486" y="1737360"/>
                    <a:pt x="868680" y="1737360"/>
                  </a:cubicBezTo>
                  <a:cubicBezTo>
                    <a:pt x="388874" y="1737360"/>
                    <a:pt x="0" y="1348486"/>
                    <a:pt x="0" y="868680"/>
                  </a:cubicBezTo>
                  <a:close/>
                </a:path>
              </a:pathLst>
            </a:custGeom>
            <a:solidFill>
              <a:srgbClr val="E6522C"/>
            </a:solidFill>
          </p:spPr>
        </p:sp>
      </p:grpSp>
      <p:grpSp>
        <p:nvGrpSpPr>
          <p:cNvPr name="Group 19" id="19"/>
          <p:cNvGrpSpPr/>
          <p:nvPr/>
        </p:nvGrpSpPr>
        <p:grpSpPr>
          <a:xfrm rot="0">
            <a:off x="5387645" y="2507285"/>
            <a:ext cx="677570" cy="677570"/>
            <a:chOff x="0" y="0"/>
            <a:chExt cx="903427" cy="903427"/>
          </a:xfrm>
        </p:grpSpPr>
        <p:sp>
          <p:nvSpPr>
            <p:cNvPr name="Freeform 20" id="20" descr="preencoded.png"/>
            <p:cNvSpPr/>
            <p:nvPr/>
          </p:nvSpPr>
          <p:spPr>
            <a:xfrm flipH="false" flipV="false" rot="0">
              <a:off x="0" y="0"/>
              <a:ext cx="903478" cy="903478"/>
            </a:xfrm>
            <a:custGeom>
              <a:avLst/>
              <a:gdLst/>
              <a:ahLst/>
              <a:cxnLst/>
              <a:rect r="r" b="b" t="t" l="l"/>
              <a:pathLst>
                <a:path h="903478" w="903478">
                  <a:moveTo>
                    <a:pt x="0" y="0"/>
                  </a:moveTo>
                  <a:lnTo>
                    <a:pt x="903478" y="0"/>
                  </a:lnTo>
                  <a:lnTo>
                    <a:pt x="903478" y="903478"/>
                  </a:lnTo>
                  <a:lnTo>
                    <a:pt x="0" y="903478"/>
                  </a:lnTo>
                  <a:lnTo>
                    <a:pt x="0" y="0"/>
                  </a:lnTo>
                  <a:close/>
                </a:path>
              </a:pathLst>
            </a:custGeom>
            <a:blipFill>
              <a:blip r:embed="rId5"/>
              <a:stretch>
                <a:fillRect l="0" t="0" r="5" b="5"/>
              </a:stretch>
            </a:blipFill>
          </p:spPr>
        </p:sp>
      </p:grpSp>
      <p:grpSp>
        <p:nvGrpSpPr>
          <p:cNvPr name="Group 21" id="21"/>
          <p:cNvGrpSpPr/>
          <p:nvPr/>
        </p:nvGrpSpPr>
        <p:grpSpPr>
          <a:xfrm rot="0">
            <a:off x="6624828" y="2578608"/>
            <a:ext cx="685800" cy="548640"/>
            <a:chOff x="0" y="0"/>
            <a:chExt cx="914400" cy="731520"/>
          </a:xfrm>
        </p:grpSpPr>
        <p:sp>
          <p:nvSpPr>
            <p:cNvPr name="Freeform 22" id="22"/>
            <p:cNvSpPr/>
            <p:nvPr/>
          </p:nvSpPr>
          <p:spPr>
            <a:xfrm flipH="false" flipV="false" rot="0">
              <a:off x="0" y="0"/>
              <a:ext cx="914400" cy="731520"/>
            </a:xfrm>
            <a:custGeom>
              <a:avLst/>
              <a:gdLst/>
              <a:ahLst/>
              <a:cxnLst/>
              <a:rect r="r" b="b" t="t" l="l"/>
              <a:pathLst>
                <a:path h="731520" w="914400">
                  <a:moveTo>
                    <a:pt x="0" y="182880"/>
                  </a:moveTo>
                  <a:lnTo>
                    <a:pt x="548640" y="182880"/>
                  </a:lnTo>
                  <a:lnTo>
                    <a:pt x="548640" y="0"/>
                  </a:lnTo>
                  <a:lnTo>
                    <a:pt x="914400" y="365760"/>
                  </a:lnTo>
                  <a:lnTo>
                    <a:pt x="548640" y="731520"/>
                  </a:lnTo>
                  <a:lnTo>
                    <a:pt x="548640" y="548640"/>
                  </a:lnTo>
                  <a:lnTo>
                    <a:pt x="0" y="548640"/>
                  </a:lnTo>
                  <a:close/>
                </a:path>
              </a:pathLst>
            </a:custGeom>
            <a:solidFill>
              <a:srgbClr val="57534E"/>
            </a:solidFill>
          </p:spPr>
        </p:sp>
      </p:grpSp>
      <p:grpSp>
        <p:nvGrpSpPr>
          <p:cNvPr name="Group 23" id="23"/>
          <p:cNvGrpSpPr/>
          <p:nvPr/>
        </p:nvGrpSpPr>
        <p:grpSpPr>
          <a:xfrm rot="0">
            <a:off x="4224528" y="3771900"/>
            <a:ext cx="3017520" cy="617220"/>
            <a:chOff x="0" y="0"/>
            <a:chExt cx="4023360" cy="822960"/>
          </a:xfrm>
        </p:grpSpPr>
        <p:sp>
          <p:nvSpPr>
            <p:cNvPr name="Freeform 24" id="24"/>
            <p:cNvSpPr/>
            <p:nvPr/>
          </p:nvSpPr>
          <p:spPr>
            <a:xfrm flipH="false" flipV="false" rot="0">
              <a:off x="0" y="0"/>
              <a:ext cx="4023360" cy="822960"/>
            </a:xfrm>
            <a:custGeom>
              <a:avLst/>
              <a:gdLst/>
              <a:ahLst/>
              <a:cxnLst/>
              <a:rect r="r" b="b" t="t" l="l"/>
              <a:pathLst>
                <a:path h="822960" w="4023360">
                  <a:moveTo>
                    <a:pt x="0" y="0"/>
                  </a:moveTo>
                  <a:lnTo>
                    <a:pt x="4023360" y="0"/>
                  </a:lnTo>
                  <a:lnTo>
                    <a:pt x="4023360" y="822960"/>
                  </a:lnTo>
                  <a:lnTo>
                    <a:pt x="0" y="822960"/>
                  </a:lnTo>
                  <a:close/>
                </a:path>
              </a:pathLst>
            </a:custGeom>
            <a:blipFill>
              <a:blip r:embed="rId3">
                <a:alphaModFix amt="0"/>
              </a:blip>
              <a:stretch>
                <a:fillRect l="0" t="-45260" r="0" b="-45260"/>
              </a:stretch>
            </a:blipFill>
          </p:spPr>
        </p:sp>
        <p:sp>
          <p:nvSpPr>
            <p:cNvPr name="TextBox 25" id="25"/>
            <p:cNvSpPr txBox="true"/>
            <p:nvPr/>
          </p:nvSpPr>
          <p:spPr>
            <a:xfrm>
              <a:off x="0" y="-57150"/>
              <a:ext cx="4023360" cy="880110"/>
            </a:xfrm>
            <a:prstGeom prst="rect">
              <a:avLst/>
            </a:prstGeom>
          </p:spPr>
          <p:txBody>
            <a:bodyPr anchor="ctr" rtlCol="false" tIns="0" lIns="0" bIns="0" rIns="0"/>
            <a:lstStyle/>
            <a:p>
              <a:pPr algn="ctr">
                <a:lnSpc>
                  <a:spcPts val="3240"/>
                </a:lnSpc>
              </a:pPr>
              <a:r>
                <a:rPr lang="en-US" sz="2700" b="true">
                  <a:solidFill>
                    <a:srgbClr val="1C1917"/>
                  </a:solidFill>
                  <a:latin typeface="Calibri"/>
                  <a:ea typeface="Calibri"/>
                  <a:cs typeface="Calibri"/>
                  <a:sym typeface="Calibri"/>
                </a:rPr>
                <a:t>Unit tests</a:t>
              </a:r>
            </a:p>
          </p:txBody>
        </p:sp>
      </p:grpSp>
      <p:sp>
        <p:nvSpPr>
          <p:cNvPr name="TextBox 26" id="26"/>
          <p:cNvSpPr txBox="true"/>
          <p:nvPr/>
        </p:nvSpPr>
        <p:spPr>
          <a:xfrm rot="0">
            <a:off x="4224528" y="4331970"/>
            <a:ext cx="3017520" cy="1840230"/>
          </a:xfrm>
          <a:prstGeom prst="rect">
            <a:avLst/>
          </a:prstGeom>
        </p:spPr>
        <p:txBody>
          <a:bodyPr anchor="t" rtlCol="false" tIns="0" lIns="0" bIns="0" rIns="0">
            <a:spAutoFit/>
          </a:bodyPr>
          <a:lstStyle/>
          <a:p>
            <a:pPr algn="ctr">
              <a:lnSpc>
                <a:spcPts val="2700"/>
              </a:lnSpc>
            </a:pPr>
            <a:r>
              <a:rPr lang="en-US" sz="2250">
                <a:solidFill>
                  <a:srgbClr val="57534E"/>
                </a:solidFill>
                <a:latin typeface="Calibri"/>
                <a:ea typeface="Calibri"/>
                <a:cs typeface="Calibri"/>
                <a:sym typeface="Calibri"/>
              </a:rPr>
              <a:t>20 app tests, 6 receiver tests, flake8</a:t>
            </a:r>
          </a:p>
        </p:txBody>
      </p:sp>
      <p:grpSp>
        <p:nvGrpSpPr>
          <p:cNvPr name="Group 27" id="27"/>
          <p:cNvGrpSpPr/>
          <p:nvPr/>
        </p:nvGrpSpPr>
        <p:grpSpPr>
          <a:xfrm rot="0">
            <a:off x="8476488" y="2194560"/>
            <a:ext cx="1303020" cy="1303020"/>
            <a:chOff x="0" y="0"/>
            <a:chExt cx="1737360" cy="1737360"/>
          </a:xfrm>
        </p:grpSpPr>
        <p:sp>
          <p:nvSpPr>
            <p:cNvPr name="Freeform 28" id="28"/>
            <p:cNvSpPr/>
            <p:nvPr/>
          </p:nvSpPr>
          <p:spPr>
            <a:xfrm flipH="false" flipV="false" rot="0">
              <a:off x="0" y="0"/>
              <a:ext cx="1737360" cy="1737360"/>
            </a:xfrm>
            <a:custGeom>
              <a:avLst/>
              <a:gdLst/>
              <a:ahLst/>
              <a:cxnLst/>
              <a:rect r="r" b="b" t="t" l="l"/>
              <a:pathLst>
                <a:path h="1737360" w="1737360">
                  <a:moveTo>
                    <a:pt x="0" y="868680"/>
                  </a:moveTo>
                  <a:cubicBezTo>
                    <a:pt x="0" y="388874"/>
                    <a:pt x="388874" y="0"/>
                    <a:pt x="868680" y="0"/>
                  </a:cubicBezTo>
                  <a:cubicBezTo>
                    <a:pt x="1348486" y="0"/>
                    <a:pt x="1737360" y="388874"/>
                    <a:pt x="1737360" y="868680"/>
                  </a:cubicBezTo>
                  <a:cubicBezTo>
                    <a:pt x="1737360" y="1348486"/>
                    <a:pt x="1348486" y="1737360"/>
                    <a:pt x="868680" y="1737360"/>
                  </a:cubicBezTo>
                  <a:cubicBezTo>
                    <a:pt x="388874" y="1737360"/>
                    <a:pt x="0" y="1348486"/>
                    <a:pt x="0" y="868680"/>
                  </a:cubicBezTo>
                  <a:close/>
                </a:path>
              </a:pathLst>
            </a:custGeom>
            <a:solidFill>
              <a:srgbClr val="E6522C"/>
            </a:solidFill>
          </p:spPr>
        </p:sp>
      </p:grpSp>
      <p:grpSp>
        <p:nvGrpSpPr>
          <p:cNvPr name="Group 29" id="29"/>
          <p:cNvGrpSpPr/>
          <p:nvPr/>
        </p:nvGrpSpPr>
        <p:grpSpPr>
          <a:xfrm rot="0">
            <a:off x="8789213" y="2507285"/>
            <a:ext cx="677570" cy="677570"/>
            <a:chOff x="0" y="0"/>
            <a:chExt cx="903427" cy="903427"/>
          </a:xfrm>
        </p:grpSpPr>
        <p:sp>
          <p:nvSpPr>
            <p:cNvPr name="Freeform 30" id="30" descr="preencoded.png"/>
            <p:cNvSpPr/>
            <p:nvPr/>
          </p:nvSpPr>
          <p:spPr>
            <a:xfrm flipH="false" flipV="false" rot="0">
              <a:off x="0" y="0"/>
              <a:ext cx="903478" cy="903478"/>
            </a:xfrm>
            <a:custGeom>
              <a:avLst/>
              <a:gdLst/>
              <a:ahLst/>
              <a:cxnLst/>
              <a:rect r="r" b="b" t="t" l="l"/>
              <a:pathLst>
                <a:path h="903478" w="903478">
                  <a:moveTo>
                    <a:pt x="0" y="0"/>
                  </a:moveTo>
                  <a:lnTo>
                    <a:pt x="903478" y="0"/>
                  </a:lnTo>
                  <a:lnTo>
                    <a:pt x="903478" y="903478"/>
                  </a:lnTo>
                  <a:lnTo>
                    <a:pt x="0" y="903478"/>
                  </a:lnTo>
                  <a:lnTo>
                    <a:pt x="0" y="0"/>
                  </a:lnTo>
                  <a:close/>
                </a:path>
              </a:pathLst>
            </a:custGeom>
            <a:blipFill>
              <a:blip r:embed="rId6"/>
              <a:stretch>
                <a:fillRect l="0" t="0" r="5" b="5"/>
              </a:stretch>
            </a:blipFill>
          </p:spPr>
        </p:sp>
      </p:grpSp>
      <p:grpSp>
        <p:nvGrpSpPr>
          <p:cNvPr name="Group 31" id="31"/>
          <p:cNvGrpSpPr/>
          <p:nvPr/>
        </p:nvGrpSpPr>
        <p:grpSpPr>
          <a:xfrm rot="0">
            <a:off x="10026396" y="2578608"/>
            <a:ext cx="685800" cy="548640"/>
            <a:chOff x="0" y="0"/>
            <a:chExt cx="914400" cy="731520"/>
          </a:xfrm>
        </p:grpSpPr>
        <p:sp>
          <p:nvSpPr>
            <p:cNvPr name="Freeform 32" id="32"/>
            <p:cNvSpPr/>
            <p:nvPr/>
          </p:nvSpPr>
          <p:spPr>
            <a:xfrm flipH="false" flipV="false" rot="0">
              <a:off x="0" y="0"/>
              <a:ext cx="914400" cy="731520"/>
            </a:xfrm>
            <a:custGeom>
              <a:avLst/>
              <a:gdLst/>
              <a:ahLst/>
              <a:cxnLst/>
              <a:rect r="r" b="b" t="t" l="l"/>
              <a:pathLst>
                <a:path h="731520" w="914400">
                  <a:moveTo>
                    <a:pt x="0" y="182880"/>
                  </a:moveTo>
                  <a:lnTo>
                    <a:pt x="548640" y="182880"/>
                  </a:lnTo>
                  <a:lnTo>
                    <a:pt x="548640" y="0"/>
                  </a:lnTo>
                  <a:lnTo>
                    <a:pt x="914400" y="365760"/>
                  </a:lnTo>
                  <a:lnTo>
                    <a:pt x="548640" y="731520"/>
                  </a:lnTo>
                  <a:lnTo>
                    <a:pt x="548640" y="548640"/>
                  </a:lnTo>
                  <a:lnTo>
                    <a:pt x="0" y="548640"/>
                  </a:lnTo>
                  <a:close/>
                </a:path>
              </a:pathLst>
            </a:custGeom>
            <a:solidFill>
              <a:srgbClr val="57534E"/>
            </a:solidFill>
          </p:spPr>
        </p:sp>
      </p:grpSp>
      <p:grpSp>
        <p:nvGrpSpPr>
          <p:cNvPr name="Group 33" id="33"/>
          <p:cNvGrpSpPr/>
          <p:nvPr/>
        </p:nvGrpSpPr>
        <p:grpSpPr>
          <a:xfrm rot="0">
            <a:off x="7626096" y="3771900"/>
            <a:ext cx="3017520" cy="617220"/>
            <a:chOff x="0" y="0"/>
            <a:chExt cx="4023360" cy="822960"/>
          </a:xfrm>
        </p:grpSpPr>
        <p:sp>
          <p:nvSpPr>
            <p:cNvPr name="Freeform 34" id="34"/>
            <p:cNvSpPr/>
            <p:nvPr/>
          </p:nvSpPr>
          <p:spPr>
            <a:xfrm flipH="false" flipV="false" rot="0">
              <a:off x="0" y="0"/>
              <a:ext cx="4023360" cy="822960"/>
            </a:xfrm>
            <a:custGeom>
              <a:avLst/>
              <a:gdLst/>
              <a:ahLst/>
              <a:cxnLst/>
              <a:rect r="r" b="b" t="t" l="l"/>
              <a:pathLst>
                <a:path h="822960" w="4023360">
                  <a:moveTo>
                    <a:pt x="0" y="0"/>
                  </a:moveTo>
                  <a:lnTo>
                    <a:pt x="4023360" y="0"/>
                  </a:lnTo>
                  <a:lnTo>
                    <a:pt x="4023360" y="822960"/>
                  </a:lnTo>
                  <a:lnTo>
                    <a:pt x="0" y="822960"/>
                  </a:lnTo>
                  <a:close/>
                </a:path>
              </a:pathLst>
            </a:custGeom>
            <a:blipFill>
              <a:blip r:embed="rId3">
                <a:alphaModFix amt="0"/>
              </a:blip>
              <a:stretch>
                <a:fillRect l="0" t="-45260" r="0" b="-45260"/>
              </a:stretch>
            </a:blipFill>
          </p:spPr>
        </p:sp>
        <p:sp>
          <p:nvSpPr>
            <p:cNvPr name="TextBox 35" id="35"/>
            <p:cNvSpPr txBox="true"/>
            <p:nvPr/>
          </p:nvSpPr>
          <p:spPr>
            <a:xfrm>
              <a:off x="0" y="-57150"/>
              <a:ext cx="4023360" cy="880110"/>
            </a:xfrm>
            <a:prstGeom prst="rect">
              <a:avLst/>
            </a:prstGeom>
          </p:spPr>
          <p:txBody>
            <a:bodyPr anchor="ctr" rtlCol="false" tIns="0" lIns="0" bIns="0" rIns="0"/>
            <a:lstStyle/>
            <a:p>
              <a:pPr algn="ctr">
                <a:lnSpc>
                  <a:spcPts val="3240"/>
                </a:lnSpc>
              </a:pPr>
              <a:r>
                <a:rPr lang="en-US" sz="2700" b="true">
                  <a:solidFill>
                    <a:srgbClr val="1C1917"/>
                  </a:solidFill>
                  <a:latin typeface="Calibri"/>
                  <a:ea typeface="Calibri"/>
                  <a:cs typeface="Calibri"/>
                  <a:sym typeface="Calibri"/>
                </a:rPr>
                <a:t>Rule tests</a:t>
              </a:r>
            </a:p>
          </p:txBody>
        </p:sp>
      </p:grpSp>
      <p:sp>
        <p:nvSpPr>
          <p:cNvPr name="TextBox 36" id="36"/>
          <p:cNvSpPr txBox="true"/>
          <p:nvPr/>
        </p:nvSpPr>
        <p:spPr>
          <a:xfrm rot="0">
            <a:off x="7626096" y="4331970"/>
            <a:ext cx="3017520" cy="1840230"/>
          </a:xfrm>
          <a:prstGeom prst="rect">
            <a:avLst/>
          </a:prstGeom>
        </p:spPr>
        <p:txBody>
          <a:bodyPr anchor="t" rtlCol="false" tIns="0" lIns="0" bIns="0" rIns="0">
            <a:spAutoFit/>
          </a:bodyPr>
          <a:lstStyle/>
          <a:p>
            <a:pPr algn="ctr">
              <a:lnSpc>
                <a:spcPts val="2700"/>
              </a:lnSpc>
            </a:pPr>
            <a:r>
              <a:rPr lang="en-US" sz="2250">
                <a:solidFill>
                  <a:srgbClr val="57534E"/>
                </a:solidFill>
                <a:latin typeface="Calibri"/>
                <a:ea typeface="Calibri"/>
                <a:cs typeface="Calibri"/>
                <a:sym typeface="Calibri"/>
              </a:rPr>
              <a:t>8 promtool cases, amtool routing checks</a:t>
            </a:r>
          </a:p>
        </p:txBody>
      </p:sp>
      <p:grpSp>
        <p:nvGrpSpPr>
          <p:cNvPr name="Group 37" id="37"/>
          <p:cNvGrpSpPr/>
          <p:nvPr/>
        </p:nvGrpSpPr>
        <p:grpSpPr>
          <a:xfrm rot="0">
            <a:off x="11878056" y="2194560"/>
            <a:ext cx="1303020" cy="1303020"/>
            <a:chOff x="0" y="0"/>
            <a:chExt cx="1737360" cy="1737360"/>
          </a:xfrm>
        </p:grpSpPr>
        <p:sp>
          <p:nvSpPr>
            <p:cNvPr name="Freeform 38" id="38"/>
            <p:cNvSpPr/>
            <p:nvPr/>
          </p:nvSpPr>
          <p:spPr>
            <a:xfrm flipH="false" flipV="false" rot="0">
              <a:off x="0" y="0"/>
              <a:ext cx="1737360" cy="1737360"/>
            </a:xfrm>
            <a:custGeom>
              <a:avLst/>
              <a:gdLst/>
              <a:ahLst/>
              <a:cxnLst/>
              <a:rect r="r" b="b" t="t" l="l"/>
              <a:pathLst>
                <a:path h="1737360" w="1737360">
                  <a:moveTo>
                    <a:pt x="0" y="868680"/>
                  </a:moveTo>
                  <a:cubicBezTo>
                    <a:pt x="0" y="388874"/>
                    <a:pt x="388874" y="0"/>
                    <a:pt x="868680" y="0"/>
                  </a:cubicBezTo>
                  <a:cubicBezTo>
                    <a:pt x="1348486" y="0"/>
                    <a:pt x="1737360" y="388874"/>
                    <a:pt x="1737360" y="868680"/>
                  </a:cubicBezTo>
                  <a:cubicBezTo>
                    <a:pt x="1737360" y="1348486"/>
                    <a:pt x="1348486" y="1737360"/>
                    <a:pt x="868680" y="1737360"/>
                  </a:cubicBezTo>
                  <a:cubicBezTo>
                    <a:pt x="388874" y="1737360"/>
                    <a:pt x="0" y="1348486"/>
                    <a:pt x="0" y="868680"/>
                  </a:cubicBezTo>
                  <a:close/>
                </a:path>
              </a:pathLst>
            </a:custGeom>
            <a:solidFill>
              <a:srgbClr val="E6522C"/>
            </a:solidFill>
          </p:spPr>
        </p:sp>
      </p:grpSp>
      <p:grpSp>
        <p:nvGrpSpPr>
          <p:cNvPr name="Group 39" id="39"/>
          <p:cNvGrpSpPr/>
          <p:nvPr/>
        </p:nvGrpSpPr>
        <p:grpSpPr>
          <a:xfrm rot="0">
            <a:off x="12190781" y="2507285"/>
            <a:ext cx="677570" cy="677570"/>
            <a:chOff x="0" y="0"/>
            <a:chExt cx="903427" cy="903427"/>
          </a:xfrm>
        </p:grpSpPr>
        <p:sp>
          <p:nvSpPr>
            <p:cNvPr name="Freeform 40" id="40" descr="preencoded.png"/>
            <p:cNvSpPr/>
            <p:nvPr/>
          </p:nvSpPr>
          <p:spPr>
            <a:xfrm flipH="false" flipV="false" rot="0">
              <a:off x="0" y="0"/>
              <a:ext cx="903478" cy="903478"/>
            </a:xfrm>
            <a:custGeom>
              <a:avLst/>
              <a:gdLst/>
              <a:ahLst/>
              <a:cxnLst/>
              <a:rect r="r" b="b" t="t" l="l"/>
              <a:pathLst>
                <a:path h="903478" w="903478">
                  <a:moveTo>
                    <a:pt x="0" y="0"/>
                  </a:moveTo>
                  <a:lnTo>
                    <a:pt x="903478" y="0"/>
                  </a:lnTo>
                  <a:lnTo>
                    <a:pt x="903478" y="903478"/>
                  </a:lnTo>
                  <a:lnTo>
                    <a:pt x="0" y="903478"/>
                  </a:lnTo>
                  <a:lnTo>
                    <a:pt x="0" y="0"/>
                  </a:lnTo>
                  <a:close/>
                </a:path>
              </a:pathLst>
            </a:custGeom>
            <a:blipFill>
              <a:blip r:embed="rId7"/>
              <a:stretch>
                <a:fillRect l="0" t="0" r="5" b="5"/>
              </a:stretch>
            </a:blipFill>
          </p:spPr>
        </p:sp>
      </p:grpSp>
      <p:grpSp>
        <p:nvGrpSpPr>
          <p:cNvPr name="Group 41" id="41"/>
          <p:cNvGrpSpPr/>
          <p:nvPr/>
        </p:nvGrpSpPr>
        <p:grpSpPr>
          <a:xfrm rot="0">
            <a:off x="13427964" y="2578608"/>
            <a:ext cx="685800" cy="548640"/>
            <a:chOff x="0" y="0"/>
            <a:chExt cx="914400" cy="731520"/>
          </a:xfrm>
        </p:grpSpPr>
        <p:sp>
          <p:nvSpPr>
            <p:cNvPr name="Freeform 42" id="42"/>
            <p:cNvSpPr/>
            <p:nvPr/>
          </p:nvSpPr>
          <p:spPr>
            <a:xfrm flipH="false" flipV="false" rot="0">
              <a:off x="0" y="0"/>
              <a:ext cx="914400" cy="731520"/>
            </a:xfrm>
            <a:custGeom>
              <a:avLst/>
              <a:gdLst/>
              <a:ahLst/>
              <a:cxnLst/>
              <a:rect r="r" b="b" t="t" l="l"/>
              <a:pathLst>
                <a:path h="731520" w="914400">
                  <a:moveTo>
                    <a:pt x="0" y="182880"/>
                  </a:moveTo>
                  <a:lnTo>
                    <a:pt x="548640" y="182880"/>
                  </a:lnTo>
                  <a:lnTo>
                    <a:pt x="548640" y="0"/>
                  </a:lnTo>
                  <a:lnTo>
                    <a:pt x="914400" y="365760"/>
                  </a:lnTo>
                  <a:lnTo>
                    <a:pt x="548640" y="731520"/>
                  </a:lnTo>
                  <a:lnTo>
                    <a:pt x="548640" y="548640"/>
                  </a:lnTo>
                  <a:lnTo>
                    <a:pt x="0" y="548640"/>
                  </a:lnTo>
                  <a:close/>
                </a:path>
              </a:pathLst>
            </a:custGeom>
            <a:solidFill>
              <a:srgbClr val="57534E"/>
            </a:solidFill>
          </p:spPr>
        </p:sp>
      </p:grpSp>
      <p:grpSp>
        <p:nvGrpSpPr>
          <p:cNvPr name="Group 43" id="43"/>
          <p:cNvGrpSpPr/>
          <p:nvPr/>
        </p:nvGrpSpPr>
        <p:grpSpPr>
          <a:xfrm rot="0">
            <a:off x="11027664" y="3771900"/>
            <a:ext cx="3017520" cy="617220"/>
            <a:chOff x="0" y="0"/>
            <a:chExt cx="4023360" cy="822960"/>
          </a:xfrm>
        </p:grpSpPr>
        <p:sp>
          <p:nvSpPr>
            <p:cNvPr name="Freeform 44" id="44"/>
            <p:cNvSpPr/>
            <p:nvPr/>
          </p:nvSpPr>
          <p:spPr>
            <a:xfrm flipH="false" flipV="false" rot="0">
              <a:off x="0" y="0"/>
              <a:ext cx="4023360" cy="822960"/>
            </a:xfrm>
            <a:custGeom>
              <a:avLst/>
              <a:gdLst/>
              <a:ahLst/>
              <a:cxnLst/>
              <a:rect r="r" b="b" t="t" l="l"/>
              <a:pathLst>
                <a:path h="822960" w="4023360">
                  <a:moveTo>
                    <a:pt x="0" y="0"/>
                  </a:moveTo>
                  <a:lnTo>
                    <a:pt x="4023360" y="0"/>
                  </a:lnTo>
                  <a:lnTo>
                    <a:pt x="4023360" y="822960"/>
                  </a:lnTo>
                  <a:lnTo>
                    <a:pt x="0" y="822960"/>
                  </a:lnTo>
                  <a:close/>
                </a:path>
              </a:pathLst>
            </a:custGeom>
            <a:blipFill>
              <a:blip r:embed="rId3">
                <a:alphaModFix amt="0"/>
              </a:blip>
              <a:stretch>
                <a:fillRect l="0" t="-45260" r="0" b="-45260"/>
              </a:stretch>
            </a:blipFill>
          </p:spPr>
        </p:sp>
        <p:sp>
          <p:nvSpPr>
            <p:cNvPr name="TextBox 45" id="45"/>
            <p:cNvSpPr txBox="true"/>
            <p:nvPr/>
          </p:nvSpPr>
          <p:spPr>
            <a:xfrm>
              <a:off x="0" y="-57150"/>
              <a:ext cx="4023360" cy="880110"/>
            </a:xfrm>
            <a:prstGeom prst="rect">
              <a:avLst/>
            </a:prstGeom>
          </p:spPr>
          <p:txBody>
            <a:bodyPr anchor="ctr" rtlCol="false" tIns="0" lIns="0" bIns="0" rIns="0"/>
            <a:lstStyle/>
            <a:p>
              <a:pPr algn="ctr">
                <a:lnSpc>
                  <a:spcPts val="3240"/>
                </a:lnSpc>
              </a:pPr>
              <a:r>
                <a:rPr lang="en-US" sz="2700" b="true">
                  <a:solidFill>
                    <a:srgbClr val="1C1917"/>
                  </a:solidFill>
                  <a:latin typeface="Calibri"/>
                  <a:ea typeface="Calibri"/>
                  <a:cs typeface="Calibri"/>
                  <a:sym typeface="Calibri"/>
                </a:rPr>
                <a:t>Start the stack</a:t>
              </a:r>
            </a:p>
          </p:txBody>
        </p:sp>
      </p:grpSp>
      <p:sp>
        <p:nvSpPr>
          <p:cNvPr name="TextBox 46" id="46"/>
          <p:cNvSpPr txBox="true"/>
          <p:nvPr/>
        </p:nvSpPr>
        <p:spPr>
          <a:xfrm rot="0">
            <a:off x="11027664" y="4331970"/>
            <a:ext cx="3017520" cy="1840230"/>
          </a:xfrm>
          <a:prstGeom prst="rect">
            <a:avLst/>
          </a:prstGeom>
        </p:spPr>
        <p:txBody>
          <a:bodyPr anchor="t" rtlCol="false" tIns="0" lIns="0" bIns="0" rIns="0">
            <a:spAutoFit/>
          </a:bodyPr>
          <a:lstStyle/>
          <a:p>
            <a:pPr algn="ctr">
              <a:lnSpc>
                <a:spcPts val="2700"/>
              </a:lnSpc>
            </a:pPr>
            <a:r>
              <a:rPr lang="en-US" sz="2250">
                <a:solidFill>
                  <a:srgbClr val="57534E"/>
                </a:solidFill>
                <a:latin typeface="Calibri"/>
                <a:ea typeface="Calibri"/>
                <a:cs typeface="Calibri"/>
                <a:sym typeface="Calibri"/>
              </a:rPr>
              <a:t>all 10 containers, wait for targets and heartbeat</a:t>
            </a:r>
          </a:p>
        </p:txBody>
      </p:sp>
      <p:grpSp>
        <p:nvGrpSpPr>
          <p:cNvPr name="Group 47" id="47"/>
          <p:cNvGrpSpPr/>
          <p:nvPr/>
        </p:nvGrpSpPr>
        <p:grpSpPr>
          <a:xfrm rot="0">
            <a:off x="15279624" y="2194560"/>
            <a:ext cx="1303020" cy="1303020"/>
            <a:chOff x="0" y="0"/>
            <a:chExt cx="1737360" cy="1737360"/>
          </a:xfrm>
        </p:grpSpPr>
        <p:sp>
          <p:nvSpPr>
            <p:cNvPr name="Freeform 48" id="48"/>
            <p:cNvSpPr/>
            <p:nvPr/>
          </p:nvSpPr>
          <p:spPr>
            <a:xfrm flipH="false" flipV="false" rot="0">
              <a:off x="0" y="0"/>
              <a:ext cx="1737360" cy="1737360"/>
            </a:xfrm>
            <a:custGeom>
              <a:avLst/>
              <a:gdLst/>
              <a:ahLst/>
              <a:cxnLst/>
              <a:rect r="r" b="b" t="t" l="l"/>
              <a:pathLst>
                <a:path h="1737360" w="1737360">
                  <a:moveTo>
                    <a:pt x="0" y="868680"/>
                  </a:moveTo>
                  <a:cubicBezTo>
                    <a:pt x="0" y="388874"/>
                    <a:pt x="388874" y="0"/>
                    <a:pt x="868680" y="0"/>
                  </a:cubicBezTo>
                  <a:cubicBezTo>
                    <a:pt x="1348486" y="0"/>
                    <a:pt x="1737360" y="388874"/>
                    <a:pt x="1737360" y="868680"/>
                  </a:cubicBezTo>
                  <a:cubicBezTo>
                    <a:pt x="1737360" y="1348486"/>
                    <a:pt x="1348486" y="1737360"/>
                    <a:pt x="868680" y="1737360"/>
                  </a:cubicBezTo>
                  <a:cubicBezTo>
                    <a:pt x="388874" y="1737360"/>
                    <a:pt x="0" y="1348486"/>
                    <a:pt x="0" y="868680"/>
                  </a:cubicBezTo>
                  <a:close/>
                </a:path>
              </a:pathLst>
            </a:custGeom>
            <a:solidFill>
              <a:srgbClr val="E6522C"/>
            </a:solidFill>
          </p:spPr>
        </p:sp>
      </p:grpSp>
      <p:grpSp>
        <p:nvGrpSpPr>
          <p:cNvPr name="Group 49" id="49"/>
          <p:cNvGrpSpPr/>
          <p:nvPr/>
        </p:nvGrpSpPr>
        <p:grpSpPr>
          <a:xfrm rot="0">
            <a:off x="15592349" y="2507285"/>
            <a:ext cx="677570" cy="677570"/>
            <a:chOff x="0" y="0"/>
            <a:chExt cx="903427" cy="903427"/>
          </a:xfrm>
        </p:grpSpPr>
        <p:sp>
          <p:nvSpPr>
            <p:cNvPr name="Freeform 50" id="50" descr="preencoded.png"/>
            <p:cNvSpPr/>
            <p:nvPr/>
          </p:nvSpPr>
          <p:spPr>
            <a:xfrm flipH="false" flipV="false" rot="0">
              <a:off x="0" y="0"/>
              <a:ext cx="903478" cy="903478"/>
            </a:xfrm>
            <a:custGeom>
              <a:avLst/>
              <a:gdLst/>
              <a:ahLst/>
              <a:cxnLst/>
              <a:rect r="r" b="b" t="t" l="l"/>
              <a:pathLst>
                <a:path h="903478" w="903478">
                  <a:moveTo>
                    <a:pt x="0" y="0"/>
                  </a:moveTo>
                  <a:lnTo>
                    <a:pt x="903478" y="0"/>
                  </a:lnTo>
                  <a:lnTo>
                    <a:pt x="903478" y="903478"/>
                  </a:lnTo>
                  <a:lnTo>
                    <a:pt x="0" y="903478"/>
                  </a:lnTo>
                  <a:lnTo>
                    <a:pt x="0" y="0"/>
                  </a:lnTo>
                  <a:close/>
                </a:path>
              </a:pathLst>
            </a:custGeom>
            <a:blipFill>
              <a:blip r:embed="rId8"/>
              <a:stretch>
                <a:fillRect l="0" t="0" r="5" b="5"/>
              </a:stretch>
            </a:blipFill>
          </p:spPr>
        </p:sp>
      </p:grpSp>
      <p:grpSp>
        <p:nvGrpSpPr>
          <p:cNvPr name="Group 51" id="51"/>
          <p:cNvGrpSpPr/>
          <p:nvPr/>
        </p:nvGrpSpPr>
        <p:grpSpPr>
          <a:xfrm rot="0">
            <a:off x="14429232" y="3771900"/>
            <a:ext cx="3017520" cy="617220"/>
            <a:chOff x="0" y="0"/>
            <a:chExt cx="4023360" cy="822960"/>
          </a:xfrm>
        </p:grpSpPr>
        <p:sp>
          <p:nvSpPr>
            <p:cNvPr name="Freeform 52" id="52"/>
            <p:cNvSpPr/>
            <p:nvPr/>
          </p:nvSpPr>
          <p:spPr>
            <a:xfrm flipH="false" flipV="false" rot="0">
              <a:off x="0" y="0"/>
              <a:ext cx="4023360" cy="822960"/>
            </a:xfrm>
            <a:custGeom>
              <a:avLst/>
              <a:gdLst/>
              <a:ahLst/>
              <a:cxnLst/>
              <a:rect r="r" b="b" t="t" l="l"/>
              <a:pathLst>
                <a:path h="822960" w="4023360">
                  <a:moveTo>
                    <a:pt x="0" y="0"/>
                  </a:moveTo>
                  <a:lnTo>
                    <a:pt x="4023360" y="0"/>
                  </a:lnTo>
                  <a:lnTo>
                    <a:pt x="4023360" y="822960"/>
                  </a:lnTo>
                  <a:lnTo>
                    <a:pt x="0" y="822960"/>
                  </a:lnTo>
                  <a:close/>
                </a:path>
              </a:pathLst>
            </a:custGeom>
            <a:blipFill>
              <a:blip r:embed="rId3">
                <a:alphaModFix amt="0"/>
              </a:blip>
              <a:stretch>
                <a:fillRect l="0" t="-45260" r="0" b="-45260"/>
              </a:stretch>
            </a:blipFill>
          </p:spPr>
        </p:sp>
        <p:sp>
          <p:nvSpPr>
            <p:cNvPr name="TextBox 53" id="53"/>
            <p:cNvSpPr txBox="true"/>
            <p:nvPr/>
          </p:nvSpPr>
          <p:spPr>
            <a:xfrm>
              <a:off x="0" y="-57150"/>
              <a:ext cx="4023360" cy="880110"/>
            </a:xfrm>
            <a:prstGeom prst="rect">
              <a:avLst/>
            </a:prstGeom>
          </p:spPr>
          <p:txBody>
            <a:bodyPr anchor="ctr" rtlCol="false" tIns="0" lIns="0" bIns="0" rIns="0"/>
            <a:lstStyle/>
            <a:p>
              <a:pPr algn="ctr">
                <a:lnSpc>
                  <a:spcPts val="3240"/>
                </a:lnSpc>
              </a:pPr>
              <a:r>
                <a:rPr lang="en-US" sz="2700" b="true">
                  <a:solidFill>
                    <a:srgbClr val="1C1917"/>
                  </a:solidFill>
                  <a:latin typeface="Calibri"/>
                  <a:ea typeface="Calibri"/>
                  <a:cs typeface="Calibri"/>
                  <a:sym typeface="Calibri"/>
                </a:rPr>
                <a:t>Break it</a:t>
              </a:r>
            </a:p>
          </p:txBody>
        </p:sp>
      </p:grpSp>
      <p:sp>
        <p:nvSpPr>
          <p:cNvPr name="TextBox 54" id="54"/>
          <p:cNvSpPr txBox="true"/>
          <p:nvPr/>
        </p:nvSpPr>
        <p:spPr>
          <a:xfrm rot="0">
            <a:off x="14429232" y="4331970"/>
            <a:ext cx="3017520" cy="1840230"/>
          </a:xfrm>
          <a:prstGeom prst="rect">
            <a:avLst/>
          </a:prstGeom>
        </p:spPr>
        <p:txBody>
          <a:bodyPr anchor="t" rtlCol="false" tIns="0" lIns="0" bIns="0" rIns="0">
            <a:spAutoFit/>
          </a:bodyPr>
          <a:lstStyle/>
          <a:p>
            <a:pPr algn="ctr">
              <a:lnSpc>
                <a:spcPts val="2700"/>
              </a:lnSpc>
            </a:pPr>
            <a:r>
              <a:rPr lang="en-US" sz="2250">
                <a:solidFill>
                  <a:srgbClr val="57534E"/>
                </a:solidFill>
                <a:latin typeface="Calibri"/>
                <a:ea typeface="Calibri"/>
                <a:cs typeface="Calibri"/>
                <a:sym typeface="Calibri"/>
              </a:rPr>
              <a:t>inject 50% errors; pass only if chat AND email get the alert</a:t>
            </a:r>
          </a:p>
        </p:txBody>
      </p:sp>
      <p:grpSp>
        <p:nvGrpSpPr>
          <p:cNvPr name="Group 55" id="55"/>
          <p:cNvGrpSpPr/>
          <p:nvPr/>
        </p:nvGrpSpPr>
        <p:grpSpPr>
          <a:xfrm rot="0">
            <a:off x="850392" y="5894070"/>
            <a:ext cx="16596360" cy="2194560"/>
            <a:chOff x="0" y="0"/>
            <a:chExt cx="22128480" cy="2926080"/>
          </a:xfrm>
        </p:grpSpPr>
        <p:sp>
          <p:nvSpPr>
            <p:cNvPr name="Freeform 56" id="56"/>
            <p:cNvSpPr/>
            <p:nvPr/>
          </p:nvSpPr>
          <p:spPr>
            <a:xfrm flipH="false" flipV="false" rot="0">
              <a:off x="0" y="0"/>
              <a:ext cx="22128480" cy="2926080"/>
            </a:xfrm>
            <a:custGeom>
              <a:avLst/>
              <a:gdLst/>
              <a:ahLst/>
              <a:cxnLst/>
              <a:rect r="r" b="b" t="t" l="l"/>
              <a:pathLst>
                <a:path h="2926080" w="22128480">
                  <a:moveTo>
                    <a:pt x="0" y="219456"/>
                  </a:moveTo>
                  <a:cubicBezTo>
                    <a:pt x="0" y="98298"/>
                    <a:pt x="98298" y="0"/>
                    <a:pt x="219456" y="0"/>
                  </a:cubicBezTo>
                  <a:lnTo>
                    <a:pt x="21909024" y="0"/>
                  </a:lnTo>
                  <a:cubicBezTo>
                    <a:pt x="22030182" y="0"/>
                    <a:pt x="22128480" y="98298"/>
                    <a:pt x="22128480" y="219456"/>
                  </a:cubicBezTo>
                  <a:lnTo>
                    <a:pt x="22128480" y="2706624"/>
                  </a:lnTo>
                  <a:cubicBezTo>
                    <a:pt x="22128480" y="2827782"/>
                    <a:pt x="22030182" y="2926080"/>
                    <a:pt x="21909024" y="2926080"/>
                  </a:cubicBezTo>
                  <a:lnTo>
                    <a:pt x="219456" y="2926080"/>
                  </a:lnTo>
                  <a:cubicBezTo>
                    <a:pt x="98298" y="2926080"/>
                    <a:pt x="0" y="2827782"/>
                    <a:pt x="0" y="2706624"/>
                  </a:cubicBezTo>
                  <a:close/>
                </a:path>
              </a:pathLst>
            </a:custGeom>
            <a:solidFill>
              <a:srgbClr val="F5F5F4"/>
            </a:solidFill>
          </p:spPr>
        </p:sp>
      </p:grpSp>
      <p:grpSp>
        <p:nvGrpSpPr>
          <p:cNvPr name="Group 57" id="57"/>
          <p:cNvGrpSpPr/>
          <p:nvPr/>
        </p:nvGrpSpPr>
        <p:grpSpPr>
          <a:xfrm rot="0">
            <a:off x="1261872" y="6031230"/>
            <a:ext cx="15773400" cy="1920240"/>
            <a:chOff x="0" y="0"/>
            <a:chExt cx="21031200" cy="2560320"/>
          </a:xfrm>
        </p:grpSpPr>
        <p:sp>
          <p:nvSpPr>
            <p:cNvPr name="Freeform 58" id="58"/>
            <p:cNvSpPr/>
            <p:nvPr/>
          </p:nvSpPr>
          <p:spPr>
            <a:xfrm flipH="false" flipV="false" rot="0">
              <a:off x="0" y="0"/>
              <a:ext cx="21031200" cy="2560320"/>
            </a:xfrm>
            <a:custGeom>
              <a:avLst/>
              <a:gdLst/>
              <a:ahLst/>
              <a:cxnLst/>
              <a:rect r="r" b="b" t="t" l="l"/>
              <a:pathLst>
                <a:path h="2560320" w="21031200">
                  <a:moveTo>
                    <a:pt x="0" y="0"/>
                  </a:moveTo>
                  <a:lnTo>
                    <a:pt x="21031200" y="0"/>
                  </a:lnTo>
                  <a:lnTo>
                    <a:pt x="21031200" y="2560320"/>
                  </a:lnTo>
                  <a:lnTo>
                    <a:pt x="0" y="2560320"/>
                  </a:lnTo>
                  <a:close/>
                </a:path>
              </a:pathLst>
            </a:custGeom>
            <a:blipFill>
              <a:blip r:embed="rId3">
                <a:alphaModFix amt="0"/>
              </a:blip>
              <a:stretch>
                <a:fillRect l="0" t="-110055" r="0" b="-110055"/>
              </a:stretch>
            </a:blipFill>
          </p:spPr>
        </p:sp>
        <p:sp>
          <p:nvSpPr>
            <p:cNvPr name="TextBox 59" id="59"/>
            <p:cNvSpPr txBox="true"/>
            <p:nvPr/>
          </p:nvSpPr>
          <p:spPr>
            <a:xfrm>
              <a:off x="0" y="-47625"/>
              <a:ext cx="21031200" cy="2607945"/>
            </a:xfrm>
            <a:prstGeom prst="rect">
              <a:avLst/>
            </a:prstGeom>
          </p:spPr>
          <p:txBody>
            <a:bodyPr anchor="ctr" rtlCol="false" tIns="0" lIns="0" bIns="0" rIns="0"/>
            <a:lstStyle/>
            <a:p>
              <a:pPr algn="just">
                <a:lnSpc>
                  <a:spcPts val="2999"/>
                </a:lnSpc>
              </a:pPr>
              <a:r>
                <a:rPr lang="en-US" sz="2499" b="true">
                  <a:solidFill>
                    <a:srgbClr val="E6522C"/>
                  </a:solidFill>
                  <a:latin typeface="Calibri"/>
                  <a:ea typeface="Calibri"/>
                  <a:cs typeface="Calibri"/>
                  <a:sym typeface="Calibri"/>
                </a:rPr>
                <a:t>Why this matters: </a:t>
              </a:r>
              <a:r>
                <a:rPr lang="en-US" sz="2499">
                  <a:solidFill>
                    <a:srgbClr val="1C1917"/>
                  </a:solidFill>
                  <a:latin typeface="Calibri"/>
                  <a:ea typeface="Calibri"/>
                  <a:cs typeface="Calibri"/>
                  <a:sym typeface="Calibri"/>
                </a:rPr>
                <a:t>a broken alert rule is as bad as broken code, because nobody hears about the next outage. Every change to a rule, a route or a template is tested before it can reach main, including one test proving a 10-second blip does not page anyone.</a:t>
              </a:r>
            </a:p>
          </p:txBody>
        </p:sp>
      </p:grpSp>
      <p:sp>
        <p:nvSpPr>
          <p:cNvPr name="TextBox 60" id="60"/>
          <p:cNvSpPr txBox="true"/>
          <p:nvPr/>
        </p:nvSpPr>
        <p:spPr>
          <a:xfrm rot="0">
            <a:off x="16824960" y="9608820"/>
            <a:ext cx="502920" cy="358140"/>
          </a:xfrm>
          <a:prstGeom prst="rect">
            <a:avLst/>
          </a:prstGeom>
        </p:spPr>
        <p:txBody>
          <a:bodyPr anchor="t" rtlCol="false" tIns="0" lIns="0" bIns="0" rIns="0">
            <a:spAutoFit/>
          </a:bodyPr>
          <a:lstStyle/>
          <a:p>
            <a:pPr algn="r">
              <a:lnSpc>
                <a:spcPts val="1800"/>
              </a:lnSpc>
            </a:pPr>
            <a:r>
              <a:rPr lang="en-US" sz="1500">
                <a:solidFill>
                  <a:srgbClr val="F5F5F4"/>
                </a:solidFill>
                <a:latin typeface="Calibri"/>
                <a:ea typeface="Calibri"/>
                <a:cs typeface="Calibri"/>
                <a:sym typeface="Calibri"/>
              </a:rPr>
              <a:t>14</a:t>
            </a:r>
          </a:p>
        </p:txBody>
      </p:sp>
      <p:grpSp>
        <p:nvGrpSpPr>
          <p:cNvPr name="Group 61" id="61"/>
          <p:cNvGrpSpPr/>
          <p:nvPr/>
        </p:nvGrpSpPr>
        <p:grpSpPr>
          <a:xfrm rot="0">
            <a:off x="125707" y="43858"/>
            <a:ext cx="3471606" cy="1028700"/>
            <a:chOff x="0" y="0"/>
            <a:chExt cx="2742997" cy="812800"/>
          </a:xfrm>
        </p:grpSpPr>
        <p:sp>
          <p:nvSpPr>
            <p:cNvPr name="Freeform 62" id="62"/>
            <p:cNvSpPr/>
            <p:nvPr/>
          </p:nvSpPr>
          <p:spPr>
            <a:xfrm flipH="false" flipV="false" rot="0">
              <a:off x="0" y="0"/>
              <a:ext cx="2742997" cy="812800"/>
            </a:xfrm>
            <a:custGeom>
              <a:avLst/>
              <a:gdLst/>
              <a:ahLst/>
              <a:cxnLst/>
              <a:rect r="r" b="b" t="t" l="l"/>
              <a:pathLst>
                <a:path h="812800" w="2742997">
                  <a:moveTo>
                    <a:pt x="0" y="0"/>
                  </a:moveTo>
                  <a:lnTo>
                    <a:pt x="2742997" y="0"/>
                  </a:lnTo>
                  <a:lnTo>
                    <a:pt x="2742997" y="812800"/>
                  </a:lnTo>
                  <a:lnTo>
                    <a:pt x="0" y="812800"/>
                  </a:lnTo>
                  <a:close/>
                </a:path>
              </a:pathLst>
            </a:custGeom>
            <a:blipFill>
              <a:blip r:embed="rId9"/>
              <a:stretch>
                <a:fillRect l="-833" t="0" r="-833" b="0"/>
              </a:stretch>
            </a:blipFill>
          </p:spPr>
        </p:sp>
      </p:grpSp>
      <p:grpSp>
        <p:nvGrpSpPr>
          <p:cNvPr name="Group 63" id="63"/>
          <p:cNvGrpSpPr>
            <a:grpSpLocks noChangeAspect="true"/>
          </p:cNvGrpSpPr>
          <p:nvPr/>
        </p:nvGrpSpPr>
        <p:grpSpPr>
          <a:xfrm rot="5400000">
            <a:off x="11132594" y="2264880"/>
            <a:ext cx="311239" cy="13999572"/>
            <a:chOff x="0" y="0"/>
            <a:chExt cx="414986" cy="18666096"/>
          </a:xfrm>
        </p:grpSpPr>
        <p:sp>
          <p:nvSpPr>
            <p:cNvPr name="Freeform 64" id="64"/>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10"/>
              <a:stretch>
                <a:fillRect l="0" t="0" r="-274183" b="0"/>
              </a:stretch>
            </a:blipFill>
          </p:spPr>
        </p:sp>
      </p:grpSp>
      <p:grpSp>
        <p:nvGrpSpPr>
          <p:cNvPr name="Group 65" id="65"/>
          <p:cNvGrpSpPr>
            <a:grpSpLocks noChangeAspect="true"/>
          </p:cNvGrpSpPr>
          <p:nvPr/>
        </p:nvGrpSpPr>
        <p:grpSpPr>
          <a:xfrm rot="0">
            <a:off x="16490259" y="140413"/>
            <a:ext cx="1616205" cy="888287"/>
            <a:chOff x="0" y="0"/>
            <a:chExt cx="2627014" cy="1443840"/>
          </a:xfrm>
        </p:grpSpPr>
        <p:sp>
          <p:nvSpPr>
            <p:cNvPr name="Freeform 66" id="66"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11"/>
              <a:stretch>
                <a:fillRect l="0" t="0" r="0" b="-35871"/>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92524"/>
        </a:solidFill>
      </p:bgPr>
    </p:bg>
    <p:spTree>
      <p:nvGrpSpPr>
        <p:cNvPr id="1" name=""/>
        <p:cNvGrpSpPr/>
        <p:nvPr/>
      </p:nvGrpSpPr>
      <p:grpSpPr>
        <a:xfrm>
          <a:off x="0" y="0"/>
          <a:ext cx="0" cy="0"/>
          <a:chOff x="0" y="0"/>
          <a:chExt cx="0" cy="0"/>
        </a:xfrm>
      </p:grpSpPr>
      <p:grpSp>
        <p:nvGrpSpPr>
          <p:cNvPr name="Group 2" id="2"/>
          <p:cNvGrpSpPr/>
          <p:nvPr/>
        </p:nvGrpSpPr>
        <p:grpSpPr>
          <a:xfrm rot="0">
            <a:off x="5213201" y="-1074692"/>
            <a:ext cx="9156751" cy="3960538"/>
            <a:chOff x="0" y="0"/>
            <a:chExt cx="12209001" cy="5280718"/>
          </a:xfrm>
        </p:grpSpPr>
        <p:sp>
          <p:nvSpPr>
            <p:cNvPr name="Freeform 3" id="3"/>
            <p:cNvSpPr/>
            <p:nvPr/>
          </p:nvSpPr>
          <p:spPr>
            <a:xfrm flipH="false" flipV="false" rot="0">
              <a:off x="0" y="0"/>
              <a:ext cx="12209001" cy="5280718"/>
            </a:xfrm>
            <a:custGeom>
              <a:avLst/>
              <a:gdLst/>
              <a:ahLst/>
              <a:cxnLst/>
              <a:rect r="r" b="b" t="t" l="l"/>
              <a:pathLst>
                <a:path h="5280718" w="12209001">
                  <a:moveTo>
                    <a:pt x="0" y="0"/>
                  </a:moveTo>
                  <a:lnTo>
                    <a:pt x="12209001" y="0"/>
                  </a:lnTo>
                  <a:lnTo>
                    <a:pt x="12209001" y="5280718"/>
                  </a:lnTo>
                  <a:lnTo>
                    <a:pt x="0" y="5280718"/>
                  </a:lnTo>
                  <a:close/>
                </a:path>
              </a:pathLst>
            </a:custGeom>
            <a:blipFill>
              <a:blip r:embed="rId2">
                <a:alphaModFix amt="0"/>
              </a:blip>
              <a:stretch>
                <a:fillRect l="0" t="-62985" r="-78251" b="2383"/>
              </a:stretch>
            </a:blipFill>
          </p:spPr>
        </p:sp>
        <p:sp>
          <p:nvSpPr>
            <p:cNvPr name="TextBox 4" id="4"/>
            <p:cNvSpPr txBox="true"/>
            <p:nvPr/>
          </p:nvSpPr>
          <p:spPr>
            <a:xfrm>
              <a:off x="0" y="-9525"/>
              <a:ext cx="12209001" cy="5290243"/>
            </a:xfrm>
            <a:prstGeom prst="rect">
              <a:avLst/>
            </a:prstGeom>
          </p:spPr>
          <p:txBody>
            <a:bodyPr anchor="ctr" rtlCol="false" tIns="0" lIns="0" bIns="0" rIns="0"/>
            <a:lstStyle/>
            <a:p>
              <a:pPr algn="ctr">
                <a:lnSpc>
                  <a:spcPts val="6480"/>
                </a:lnSpc>
              </a:pPr>
              <a:r>
                <a:rPr lang="en-US" sz="5400" b="true">
                  <a:solidFill>
                    <a:srgbClr val="FFFFFF"/>
                  </a:solidFill>
                  <a:latin typeface="Cambria"/>
                  <a:ea typeface="Cambria"/>
                  <a:cs typeface="Cambria"/>
                  <a:sym typeface="Cambria"/>
                </a:rPr>
                <a:t>Conclusion</a:t>
              </a:r>
            </a:p>
          </p:txBody>
        </p:sp>
      </p:grpSp>
      <p:grpSp>
        <p:nvGrpSpPr>
          <p:cNvPr name="Group 5" id="5"/>
          <p:cNvGrpSpPr/>
          <p:nvPr/>
        </p:nvGrpSpPr>
        <p:grpSpPr>
          <a:xfrm rot="0">
            <a:off x="1151277" y="2360333"/>
            <a:ext cx="1379203" cy="1370572"/>
            <a:chOff x="0" y="0"/>
            <a:chExt cx="1564269" cy="1554480"/>
          </a:xfrm>
        </p:grpSpPr>
        <p:sp>
          <p:nvSpPr>
            <p:cNvPr name="Freeform 6" id="6"/>
            <p:cNvSpPr/>
            <p:nvPr/>
          </p:nvSpPr>
          <p:spPr>
            <a:xfrm flipH="false" flipV="false" rot="0">
              <a:off x="0" y="0"/>
              <a:ext cx="1564269" cy="1554480"/>
            </a:xfrm>
            <a:custGeom>
              <a:avLst/>
              <a:gdLst/>
              <a:ahLst/>
              <a:cxnLst/>
              <a:rect r="r" b="b" t="t" l="l"/>
              <a:pathLst>
                <a:path h="1554480" w="1564269">
                  <a:moveTo>
                    <a:pt x="0" y="777240"/>
                  </a:moveTo>
                  <a:cubicBezTo>
                    <a:pt x="0" y="347980"/>
                    <a:pt x="350171" y="0"/>
                    <a:pt x="782134" y="0"/>
                  </a:cubicBezTo>
                  <a:cubicBezTo>
                    <a:pt x="1214098" y="0"/>
                    <a:pt x="1564269" y="347980"/>
                    <a:pt x="1564269" y="777240"/>
                  </a:cubicBezTo>
                  <a:cubicBezTo>
                    <a:pt x="1564269" y="1206500"/>
                    <a:pt x="1214098" y="1554480"/>
                    <a:pt x="782134" y="1554480"/>
                  </a:cubicBezTo>
                  <a:cubicBezTo>
                    <a:pt x="350171" y="1554480"/>
                    <a:pt x="0" y="1206500"/>
                    <a:pt x="0" y="777240"/>
                  </a:cubicBezTo>
                  <a:close/>
                </a:path>
              </a:pathLst>
            </a:custGeom>
            <a:solidFill>
              <a:srgbClr val="E6522C"/>
            </a:solidFill>
          </p:spPr>
        </p:sp>
      </p:grpSp>
      <p:grpSp>
        <p:nvGrpSpPr>
          <p:cNvPr name="Group 7" id="7"/>
          <p:cNvGrpSpPr/>
          <p:nvPr/>
        </p:nvGrpSpPr>
        <p:grpSpPr>
          <a:xfrm rot="0">
            <a:off x="1482286" y="2689271"/>
            <a:ext cx="717185" cy="712697"/>
            <a:chOff x="0" y="0"/>
            <a:chExt cx="813420" cy="808330"/>
          </a:xfrm>
        </p:grpSpPr>
        <p:sp>
          <p:nvSpPr>
            <p:cNvPr name="Freeform 8" id="8" descr="preencoded.png"/>
            <p:cNvSpPr/>
            <p:nvPr/>
          </p:nvSpPr>
          <p:spPr>
            <a:xfrm flipH="false" flipV="false" rot="0">
              <a:off x="0" y="0"/>
              <a:ext cx="813445" cy="808355"/>
            </a:xfrm>
            <a:custGeom>
              <a:avLst/>
              <a:gdLst/>
              <a:ahLst/>
              <a:cxnLst/>
              <a:rect r="r" b="b" t="t" l="l"/>
              <a:pathLst>
                <a:path h="808355" w="813445">
                  <a:moveTo>
                    <a:pt x="0" y="0"/>
                  </a:moveTo>
                  <a:lnTo>
                    <a:pt x="813445" y="0"/>
                  </a:lnTo>
                  <a:lnTo>
                    <a:pt x="813445" y="808355"/>
                  </a:lnTo>
                  <a:lnTo>
                    <a:pt x="0" y="808355"/>
                  </a:lnTo>
                  <a:lnTo>
                    <a:pt x="0" y="0"/>
                  </a:lnTo>
                  <a:close/>
                </a:path>
              </a:pathLst>
            </a:custGeom>
            <a:blipFill>
              <a:blip r:embed="rId3"/>
              <a:stretch>
                <a:fillRect l="-3" t="-318" r="0" b="-314"/>
              </a:stretch>
            </a:blipFill>
          </p:spPr>
        </p:sp>
      </p:grpSp>
      <p:grpSp>
        <p:nvGrpSpPr>
          <p:cNvPr name="Group 9" id="9"/>
          <p:cNvGrpSpPr/>
          <p:nvPr/>
        </p:nvGrpSpPr>
        <p:grpSpPr>
          <a:xfrm rot="0">
            <a:off x="3017257" y="2328085"/>
            <a:ext cx="10009225" cy="725597"/>
            <a:chOff x="0" y="0"/>
            <a:chExt cx="11352297" cy="822960"/>
          </a:xfrm>
        </p:grpSpPr>
        <p:sp>
          <p:nvSpPr>
            <p:cNvPr name="Freeform 10" id="10"/>
            <p:cNvSpPr/>
            <p:nvPr/>
          </p:nvSpPr>
          <p:spPr>
            <a:xfrm flipH="false" flipV="false" rot="0">
              <a:off x="0" y="0"/>
              <a:ext cx="11352297" cy="822960"/>
            </a:xfrm>
            <a:custGeom>
              <a:avLst/>
              <a:gdLst/>
              <a:ahLst/>
              <a:cxnLst/>
              <a:rect r="r" b="b" t="t" l="l"/>
              <a:pathLst>
                <a:path h="822960" w="11352297">
                  <a:moveTo>
                    <a:pt x="0" y="0"/>
                  </a:moveTo>
                  <a:lnTo>
                    <a:pt x="11352297" y="0"/>
                  </a:lnTo>
                  <a:lnTo>
                    <a:pt x="11352297" y="822960"/>
                  </a:lnTo>
                  <a:lnTo>
                    <a:pt x="0" y="822960"/>
                  </a:lnTo>
                  <a:close/>
                </a:path>
              </a:pathLst>
            </a:custGeom>
            <a:blipFill>
              <a:blip r:embed="rId2">
                <a:alphaModFix amt="0"/>
              </a:blip>
              <a:stretch>
                <a:fillRect l="0" t="-361350" r="-53040" b="-361350"/>
              </a:stretch>
            </a:blipFill>
          </p:spPr>
        </p:sp>
        <p:sp>
          <p:nvSpPr>
            <p:cNvPr name="TextBox 11" id="11"/>
            <p:cNvSpPr txBox="true"/>
            <p:nvPr/>
          </p:nvSpPr>
          <p:spPr>
            <a:xfrm>
              <a:off x="0" y="-76200"/>
              <a:ext cx="11352297" cy="899160"/>
            </a:xfrm>
            <a:prstGeom prst="rect">
              <a:avLst/>
            </a:prstGeom>
          </p:spPr>
          <p:txBody>
            <a:bodyPr anchor="ctr" rtlCol="false" tIns="0" lIns="0" bIns="0" rIns="0"/>
            <a:lstStyle/>
            <a:p>
              <a:pPr algn="l">
                <a:lnSpc>
                  <a:spcPts val="4259"/>
                </a:lnSpc>
              </a:pPr>
              <a:r>
                <a:rPr lang="en-US" sz="3549" b="true">
                  <a:solidFill>
                    <a:srgbClr val="E6522C"/>
                  </a:solidFill>
                  <a:latin typeface="Calibri"/>
                  <a:ea typeface="Calibri"/>
                  <a:cs typeface="Calibri"/>
                  <a:sym typeface="Calibri"/>
                </a:rPr>
                <a:t>Detects</a:t>
              </a:r>
            </a:p>
          </p:txBody>
        </p:sp>
      </p:grpSp>
      <p:grpSp>
        <p:nvGrpSpPr>
          <p:cNvPr name="Group 12" id="12"/>
          <p:cNvGrpSpPr/>
          <p:nvPr/>
        </p:nvGrpSpPr>
        <p:grpSpPr>
          <a:xfrm rot="0">
            <a:off x="3017257" y="3053682"/>
            <a:ext cx="10009225" cy="506713"/>
            <a:chOff x="0" y="0"/>
            <a:chExt cx="11352297" cy="574706"/>
          </a:xfrm>
        </p:grpSpPr>
        <p:sp>
          <p:nvSpPr>
            <p:cNvPr name="Freeform 13" id="13"/>
            <p:cNvSpPr/>
            <p:nvPr/>
          </p:nvSpPr>
          <p:spPr>
            <a:xfrm flipH="false" flipV="false" rot="0">
              <a:off x="0" y="0"/>
              <a:ext cx="11352297" cy="574706"/>
            </a:xfrm>
            <a:custGeom>
              <a:avLst/>
              <a:gdLst/>
              <a:ahLst/>
              <a:cxnLst/>
              <a:rect r="r" b="b" t="t" l="l"/>
              <a:pathLst>
                <a:path h="574706" w="11352297">
                  <a:moveTo>
                    <a:pt x="0" y="0"/>
                  </a:moveTo>
                  <a:lnTo>
                    <a:pt x="11352297" y="0"/>
                  </a:lnTo>
                  <a:lnTo>
                    <a:pt x="11352297" y="574706"/>
                  </a:lnTo>
                  <a:lnTo>
                    <a:pt x="0" y="574706"/>
                  </a:lnTo>
                  <a:close/>
                </a:path>
              </a:pathLst>
            </a:custGeom>
            <a:blipFill>
              <a:blip r:embed="rId2">
                <a:alphaModFix amt="0"/>
              </a:blip>
              <a:stretch>
                <a:fillRect l="0" t="-517442" r="-53040" b="-560639"/>
              </a:stretch>
            </a:blipFill>
          </p:spPr>
        </p:sp>
        <p:sp>
          <p:nvSpPr>
            <p:cNvPr name="TextBox 14" id="14"/>
            <p:cNvSpPr txBox="true"/>
            <p:nvPr/>
          </p:nvSpPr>
          <p:spPr>
            <a:xfrm>
              <a:off x="0" y="-47625"/>
              <a:ext cx="11352297" cy="622331"/>
            </a:xfrm>
            <a:prstGeom prst="rect">
              <a:avLst/>
            </a:prstGeom>
          </p:spPr>
          <p:txBody>
            <a:bodyPr anchor="ctr" rtlCol="false" tIns="0" lIns="0" bIns="0" rIns="0"/>
            <a:lstStyle/>
            <a:p>
              <a:pPr algn="l">
                <a:lnSpc>
                  <a:spcPts val="3060"/>
                </a:lnSpc>
              </a:pPr>
              <a:r>
                <a:rPr lang="en-US" sz="2550">
                  <a:solidFill>
                    <a:srgbClr val="FFFFFF"/>
                  </a:solidFill>
                  <a:latin typeface="Calibri"/>
                  <a:ea typeface="Calibri"/>
                  <a:cs typeface="Calibri"/>
                  <a:sym typeface="Calibri"/>
                </a:rPr>
                <a:t>all 9 failure types, from a crash to a slow memory leak, in 16 to 90 seconds</a:t>
              </a:r>
            </a:p>
          </p:txBody>
        </p:sp>
      </p:grpSp>
      <p:grpSp>
        <p:nvGrpSpPr>
          <p:cNvPr name="Group 15" id="15"/>
          <p:cNvGrpSpPr/>
          <p:nvPr/>
        </p:nvGrpSpPr>
        <p:grpSpPr>
          <a:xfrm rot="0">
            <a:off x="1151277" y="4537124"/>
            <a:ext cx="1379203" cy="1370572"/>
            <a:chOff x="0" y="0"/>
            <a:chExt cx="1564269" cy="1554480"/>
          </a:xfrm>
        </p:grpSpPr>
        <p:sp>
          <p:nvSpPr>
            <p:cNvPr name="Freeform 16" id="16"/>
            <p:cNvSpPr/>
            <p:nvPr/>
          </p:nvSpPr>
          <p:spPr>
            <a:xfrm flipH="false" flipV="false" rot="0">
              <a:off x="0" y="0"/>
              <a:ext cx="1564269" cy="1554480"/>
            </a:xfrm>
            <a:custGeom>
              <a:avLst/>
              <a:gdLst/>
              <a:ahLst/>
              <a:cxnLst/>
              <a:rect r="r" b="b" t="t" l="l"/>
              <a:pathLst>
                <a:path h="1554480" w="1564269">
                  <a:moveTo>
                    <a:pt x="0" y="777240"/>
                  </a:moveTo>
                  <a:cubicBezTo>
                    <a:pt x="0" y="347980"/>
                    <a:pt x="350171" y="0"/>
                    <a:pt x="782134" y="0"/>
                  </a:cubicBezTo>
                  <a:cubicBezTo>
                    <a:pt x="1214098" y="0"/>
                    <a:pt x="1564269" y="347980"/>
                    <a:pt x="1564269" y="777240"/>
                  </a:cubicBezTo>
                  <a:cubicBezTo>
                    <a:pt x="1564269" y="1206500"/>
                    <a:pt x="1214098" y="1554480"/>
                    <a:pt x="782134" y="1554480"/>
                  </a:cubicBezTo>
                  <a:cubicBezTo>
                    <a:pt x="350171" y="1554480"/>
                    <a:pt x="0" y="1206500"/>
                    <a:pt x="0" y="777240"/>
                  </a:cubicBezTo>
                  <a:close/>
                </a:path>
              </a:pathLst>
            </a:custGeom>
            <a:solidFill>
              <a:srgbClr val="E6522C"/>
            </a:solidFill>
          </p:spPr>
        </p:sp>
      </p:grpSp>
      <p:grpSp>
        <p:nvGrpSpPr>
          <p:cNvPr name="Group 17" id="17"/>
          <p:cNvGrpSpPr/>
          <p:nvPr/>
        </p:nvGrpSpPr>
        <p:grpSpPr>
          <a:xfrm rot="0">
            <a:off x="1482286" y="4866062"/>
            <a:ext cx="717185" cy="712697"/>
            <a:chOff x="0" y="0"/>
            <a:chExt cx="813420" cy="808330"/>
          </a:xfrm>
        </p:grpSpPr>
        <p:sp>
          <p:nvSpPr>
            <p:cNvPr name="Freeform 18" id="18" descr="preencoded.png"/>
            <p:cNvSpPr/>
            <p:nvPr/>
          </p:nvSpPr>
          <p:spPr>
            <a:xfrm flipH="false" flipV="false" rot="0">
              <a:off x="0" y="0"/>
              <a:ext cx="813445" cy="808355"/>
            </a:xfrm>
            <a:custGeom>
              <a:avLst/>
              <a:gdLst/>
              <a:ahLst/>
              <a:cxnLst/>
              <a:rect r="r" b="b" t="t" l="l"/>
              <a:pathLst>
                <a:path h="808355" w="813445">
                  <a:moveTo>
                    <a:pt x="0" y="0"/>
                  </a:moveTo>
                  <a:lnTo>
                    <a:pt x="813445" y="0"/>
                  </a:lnTo>
                  <a:lnTo>
                    <a:pt x="813445" y="808355"/>
                  </a:lnTo>
                  <a:lnTo>
                    <a:pt x="0" y="808355"/>
                  </a:lnTo>
                  <a:lnTo>
                    <a:pt x="0" y="0"/>
                  </a:lnTo>
                  <a:close/>
                </a:path>
              </a:pathLst>
            </a:custGeom>
            <a:blipFill>
              <a:blip r:embed="rId4"/>
              <a:stretch>
                <a:fillRect l="-3" t="-318" r="0" b="-314"/>
              </a:stretch>
            </a:blipFill>
          </p:spPr>
        </p:sp>
      </p:grpSp>
      <p:grpSp>
        <p:nvGrpSpPr>
          <p:cNvPr name="Group 19" id="19"/>
          <p:cNvGrpSpPr/>
          <p:nvPr/>
        </p:nvGrpSpPr>
        <p:grpSpPr>
          <a:xfrm rot="0">
            <a:off x="3017257" y="4504876"/>
            <a:ext cx="9883519" cy="725597"/>
            <a:chOff x="0" y="0"/>
            <a:chExt cx="11209723" cy="822960"/>
          </a:xfrm>
        </p:grpSpPr>
        <p:sp>
          <p:nvSpPr>
            <p:cNvPr name="Freeform 20" id="20"/>
            <p:cNvSpPr/>
            <p:nvPr/>
          </p:nvSpPr>
          <p:spPr>
            <a:xfrm flipH="false" flipV="false" rot="0">
              <a:off x="0" y="0"/>
              <a:ext cx="11209723" cy="822960"/>
            </a:xfrm>
            <a:custGeom>
              <a:avLst/>
              <a:gdLst/>
              <a:ahLst/>
              <a:cxnLst/>
              <a:rect r="r" b="b" t="t" l="l"/>
              <a:pathLst>
                <a:path h="822960" w="11209723">
                  <a:moveTo>
                    <a:pt x="0" y="0"/>
                  </a:moveTo>
                  <a:lnTo>
                    <a:pt x="11209723" y="0"/>
                  </a:lnTo>
                  <a:lnTo>
                    <a:pt x="11209723" y="822960"/>
                  </a:lnTo>
                  <a:lnTo>
                    <a:pt x="0" y="822960"/>
                  </a:lnTo>
                  <a:close/>
                </a:path>
              </a:pathLst>
            </a:custGeom>
            <a:blipFill>
              <a:blip r:embed="rId2">
                <a:alphaModFix amt="0"/>
              </a:blip>
              <a:stretch>
                <a:fillRect l="0" t="-361350" r="-54986" b="-361350"/>
              </a:stretch>
            </a:blipFill>
          </p:spPr>
        </p:sp>
        <p:sp>
          <p:nvSpPr>
            <p:cNvPr name="TextBox 21" id="21"/>
            <p:cNvSpPr txBox="true"/>
            <p:nvPr/>
          </p:nvSpPr>
          <p:spPr>
            <a:xfrm>
              <a:off x="0" y="-76200"/>
              <a:ext cx="11209723" cy="899160"/>
            </a:xfrm>
            <a:prstGeom prst="rect">
              <a:avLst/>
            </a:prstGeom>
          </p:spPr>
          <p:txBody>
            <a:bodyPr anchor="ctr" rtlCol="false" tIns="0" lIns="0" bIns="0" rIns="0"/>
            <a:lstStyle/>
            <a:p>
              <a:pPr algn="l">
                <a:lnSpc>
                  <a:spcPts val="4259"/>
                </a:lnSpc>
              </a:pPr>
              <a:r>
                <a:rPr lang="en-US" sz="3549" b="true">
                  <a:solidFill>
                    <a:srgbClr val="E6522C"/>
                  </a:solidFill>
                  <a:latin typeface="Calibri"/>
                  <a:ea typeface="Calibri"/>
                  <a:cs typeface="Calibri"/>
                  <a:sym typeface="Calibri"/>
                </a:rPr>
                <a:t>Filters</a:t>
              </a:r>
            </a:p>
          </p:txBody>
        </p:sp>
      </p:grpSp>
      <p:grpSp>
        <p:nvGrpSpPr>
          <p:cNvPr name="Group 22" id="22"/>
          <p:cNvGrpSpPr/>
          <p:nvPr/>
        </p:nvGrpSpPr>
        <p:grpSpPr>
          <a:xfrm rot="0">
            <a:off x="3017257" y="5230472"/>
            <a:ext cx="10009225" cy="506713"/>
            <a:chOff x="0" y="0"/>
            <a:chExt cx="11352297" cy="574706"/>
          </a:xfrm>
        </p:grpSpPr>
        <p:sp>
          <p:nvSpPr>
            <p:cNvPr name="Freeform 23" id="23"/>
            <p:cNvSpPr/>
            <p:nvPr/>
          </p:nvSpPr>
          <p:spPr>
            <a:xfrm flipH="false" flipV="false" rot="0">
              <a:off x="0" y="0"/>
              <a:ext cx="11352297" cy="574706"/>
            </a:xfrm>
            <a:custGeom>
              <a:avLst/>
              <a:gdLst/>
              <a:ahLst/>
              <a:cxnLst/>
              <a:rect r="r" b="b" t="t" l="l"/>
              <a:pathLst>
                <a:path h="574706" w="11352297">
                  <a:moveTo>
                    <a:pt x="0" y="0"/>
                  </a:moveTo>
                  <a:lnTo>
                    <a:pt x="11352297" y="0"/>
                  </a:lnTo>
                  <a:lnTo>
                    <a:pt x="11352297" y="574706"/>
                  </a:lnTo>
                  <a:lnTo>
                    <a:pt x="0" y="574706"/>
                  </a:lnTo>
                  <a:close/>
                </a:path>
              </a:pathLst>
            </a:custGeom>
            <a:blipFill>
              <a:blip r:embed="rId2">
                <a:alphaModFix amt="0"/>
              </a:blip>
              <a:stretch>
                <a:fillRect l="0" t="-517442" r="-53040" b="-560639"/>
              </a:stretch>
            </a:blipFill>
          </p:spPr>
        </p:sp>
        <p:sp>
          <p:nvSpPr>
            <p:cNvPr name="TextBox 24" id="24"/>
            <p:cNvSpPr txBox="true"/>
            <p:nvPr/>
          </p:nvSpPr>
          <p:spPr>
            <a:xfrm>
              <a:off x="0" y="-47625"/>
              <a:ext cx="11352297" cy="622331"/>
            </a:xfrm>
            <a:prstGeom prst="rect">
              <a:avLst/>
            </a:prstGeom>
          </p:spPr>
          <p:txBody>
            <a:bodyPr anchor="ctr" rtlCol="false" tIns="0" lIns="0" bIns="0" rIns="0"/>
            <a:lstStyle/>
            <a:p>
              <a:pPr algn="l">
                <a:lnSpc>
                  <a:spcPts val="3060"/>
                </a:lnSpc>
              </a:pPr>
              <a:r>
                <a:rPr lang="en-US" sz="2550">
                  <a:solidFill>
                    <a:srgbClr val="FFFFFF"/>
                  </a:solidFill>
                  <a:latin typeface="Calibri"/>
                  <a:ea typeface="Calibri"/>
                  <a:cs typeface="Calibri"/>
                  <a:sym typeface="Calibri"/>
                </a:rPr>
                <a:t>one message per incident; a 10-second blip pages nobody</a:t>
              </a:r>
            </a:p>
          </p:txBody>
        </p:sp>
      </p:grpSp>
      <p:grpSp>
        <p:nvGrpSpPr>
          <p:cNvPr name="Group 25" id="25"/>
          <p:cNvGrpSpPr/>
          <p:nvPr/>
        </p:nvGrpSpPr>
        <p:grpSpPr>
          <a:xfrm rot="0">
            <a:off x="1151277" y="6713915"/>
            <a:ext cx="1379203" cy="1370572"/>
            <a:chOff x="0" y="0"/>
            <a:chExt cx="1564269" cy="1554480"/>
          </a:xfrm>
        </p:grpSpPr>
        <p:sp>
          <p:nvSpPr>
            <p:cNvPr name="Freeform 26" id="26"/>
            <p:cNvSpPr/>
            <p:nvPr/>
          </p:nvSpPr>
          <p:spPr>
            <a:xfrm flipH="false" flipV="false" rot="0">
              <a:off x="0" y="0"/>
              <a:ext cx="1564269" cy="1554480"/>
            </a:xfrm>
            <a:custGeom>
              <a:avLst/>
              <a:gdLst/>
              <a:ahLst/>
              <a:cxnLst/>
              <a:rect r="r" b="b" t="t" l="l"/>
              <a:pathLst>
                <a:path h="1554480" w="1564269">
                  <a:moveTo>
                    <a:pt x="0" y="777240"/>
                  </a:moveTo>
                  <a:cubicBezTo>
                    <a:pt x="0" y="347980"/>
                    <a:pt x="350171" y="0"/>
                    <a:pt x="782134" y="0"/>
                  </a:cubicBezTo>
                  <a:cubicBezTo>
                    <a:pt x="1214098" y="0"/>
                    <a:pt x="1564269" y="347980"/>
                    <a:pt x="1564269" y="777240"/>
                  </a:cubicBezTo>
                  <a:cubicBezTo>
                    <a:pt x="1564269" y="1206500"/>
                    <a:pt x="1214098" y="1554480"/>
                    <a:pt x="782134" y="1554480"/>
                  </a:cubicBezTo>
                  <a:cubicBezTo>
                    <a:pt x="350171" y="1554480"/>
                    <a:pt x="0" y="1206500"/>
                    <a:pt x="0" y="777240"/>
                  </a:cubicBezTo>
                  <a:close/>
                </a:path>
              </a:pathLst>
            </a:custGeom>
            <a:solidFill>
              <a:srgbClr val="E6522C"/>
            </a:solidFill>
          </p:spPr>
        </p:sp>
      </p:grpSp>
      <p:grpSp>
        <p:nvGrpSpPr>
          <p:cNvPr name="Group 27" id="27"/>
          <p:cNvGrpSpPr/>
          <p:nvPr/>
        </p:nvGrpSpPr>
        <p:grpSpPr>
          <a:xfrm rot="0">
            <a:off x="1482286" y="7042852"/>
            <a:ext cx="717185" cy="712697"/>
            <a:chOff x="0" y="0"/>
            <a:chExt cx="813420" cy="808330"/>
          </a:xfrm>
        </p:grpSpPr>
        <p:sp>
          <p:nvSpPr>
            <p:cNvPr name="Freeform 28" id="28" descr="preencoded.png"/>
            <p:cNvSpPr/>
            <p:nvPr/>
          </p:nvSpPr>
          <p:spPr>
            <a:xfrm flipH="false" flipV="false" rot="0">
              <a:off x="0" y="0"/>
              <a:ext cx="813445" cy="808355"/>
            </a:xfrm>
            <a:custGeom>
              <a:avLst/>
              <a:gdLst/>
              <a:ahLst/>
              <a:cxnLst/>
              <a:rect r="r" b="b" t="t" l="l"/>
              <a:pathLst>
                <a:path h="808355" w="813445">
                  <a:moveTo>
                    <a:pt x="0" y="0"/>
                  </a:moveTo>
                  <a:lnTo>
                    <a:pt x="813445" y="0"/>
                  </a:lnTo>
                  <a:lnTo>
                    <a:pt x="813445" y="808355"/>
                  </a:lnTo>
                  <a:lnTo>
                    <a:pt x="0" y="808355"/>
                  </a:lnTo>
                  <a:lnTo>
                    <a:pt x="0" y="0"/>
                  </a:lnTo>
                  <a:close/>
                </a:path>
              </a:pathLst>
            </a:custGeom>
            <a:blipFill>
              <a:blip r:embed="rId5"/>
              <a:stretch>
                <a:fillRect l="-3" t="-318" r="0" b="-314"/>
              </a:stretch>
            </a:blipFill>
          </p:spPr>
        </p:sp>
      </p:grpSp>
      <p:grpSp>
        <p:nvGrpSpPr>
          <p:cNvPr name="Group 29" id="29"/>
          <p:cNvGrpSpPr/>
          <p:nvPr/>
        </p:nvGrpSpPr>
        <p:grpSpPr>
          <a:xfrm rot="0">
            <a:off x="3017257" y="6681666"/>
            <a:ext cx="10009225" cy="725597"/>
            <a:chOff x="0" y="0"/>
            <a:chExt cx="11352297" cy="822960"/>
          </a:xfrm>
        </p:grpSpPr>
        <p:sp>
          <p:nvSpPr>
            <p:cNvPr name="Freeform 30" id="30"/>
            <p:cNvSpPr/>
            <p:nvPr/>
          </p:nvSpPr>
          <p:spPr>
            <a:xfrm flipH="false" flipV="false" rot="0">
              <a:off x="0" y="0"/>
              <a:ext cx="11352297" cy="822960"/>
            </a:xfrm>
            <a:custGeom>
              <a:avLst/>
              <a:gdLst/>
              <a:ahLst/>
              <a:cxnLst/>
              <a:rect r="r" b="b" t="t" l="l"/>
              <a:pathLst>
                <a:path h="822960" w="11352297">
                  <a:moveTo>
                    <a:pt x="0" y="0"/>
                  </a:moveTo>
                  <a:lnTo>
                    <a:pt x="11352297" y="0"/>
                  </a:lnTo>
                  <a:lnTo>
                    <a:pt x="11352297" y="822960"/>
                  </a:lnTo>
                  <a:lnTo>
                    <a:pt x="0" y="822960"/>
                  </a:lnTo>
                  <a:close/>
                </a:path>
              </a:pathLst>
            </a:custGeom>
            <a:blipFill>
              <a:blip r:embed="rId2">
                <a:alphaModFix amt="0"/>
              </a:blip>
              <a:stretch>
                <a:fillRect l="0" t="-361350" r="-53040" b="-361350"/>
              </a:stretch>
            </a:blipFill>
          </p:spPr>
        </p:sp>
        <p:sp>
          <p:nvSpPr>
            <p:cNvPr name="TextBox 31" id="31"/>
            <p:cNvSpPr txBox="true"/>
            <p:nvPr/>
          </p:nvSpPr>
          <p:spPr>
            <a:xfrm>
              <a:off x="0" y="-76200"/>
              <a:ext cx="11352297" cy="899160"/>
            </a:xfrm>
            <a:prstGeom prst="rect">
              <a:avLst/>
            </a:prstGeom>
          </p:spPr>
          <p:txBody>
            <a:bodyPr anchor="ctr" rtlCol="false" tIns="0" lIns="0" bIns="0" rIns="0"/>
            <a:lstStyle/>
            <a:p>
              <a:pPr algn="l">
                <a:lnSpc>
                  <a:spcPts val="4259"/>
                </a:lnSpc>
              </a:pPr>
              <a:r>
                <a:rPr lang="en-US" sz="3549" b="true">
                  <a:solidFill>
                    <a:srgbClr val="E6522C"/>
                  </a:solidFill>
                  <a:latin typeface="Calibri"/>
                  <a:ea typeface="Calibri"/>
                  <a:cs typeface="Calibri"/>
                  <a:sym typeface="Calibri"/>
                </a:rPr>
                <a:t>Closes the loop</a:t>
              </a:r>
            </a:p>
          </p:txBody>
        </p:sp>
      </p:grpSp>
      <p:grpSp>
        <p:nvGrpSpPr>
          <p:cNvPr name="Group 32" id="32"/>
          <p:cNvGrpSpPr/>
          <p:nvPr/>
        </p:nvGrpSpPr>
        <p:grpSpPr>
          <a:xfrm rot="0">
            <a:off x="3017257" y="7407263"/>
            <a:ext cx="10009225" cy="506713"/>
            <a:chOff x="0" y="0"/>
            <a:chExt cx="11352297" cy="574706"/>
          </a:xfrm>
        </p:grpSpPr>
        <p:sp>
          <p:nvSpPr>
            <p:cNvPr name="Freeform 33" id="33"/>
            <p:cNvSpPr/>
            <p:nvPr/>
          </p:nvSpPr>
          <p:spPr>
            <a:xfrm flipH="false" flipV="false" rot="0">
              <a:off x="0" y="0"/>
              <a:ext cx="11352297" cy="574706"/>
            </a:xfrm>
            <a:custGeom>
              <a:avLst/>
              <a:gdLst/>
              <a:ahLst/>
              <a:cxnLst/>
              <a:rect r="r" b="b" t="t" l="l"/>
              <a:pathLst>
                <a:path h="574706" w="11352297">
                  <a:moveTo>
                    <a:pt x="0" y="0"/>
                  </a:moveTo>
                  <a:lnTo>
                    <a:pt x="11352297" y="0"/>
                  </a:lnTo>
                  <a:lnTo>
                    <a:pt x="11352297" y="574706"/>
                  </a:lnTo>
                  <a:lnTo>
                    <a:pt x="0" y="574706"/>
                  </a:lnTo>
                  <a:close/>
                </a:path>
              </a:pathLst>
            </a:custGeom>
            <a:blipFill>
              <a:blip r:embed="rId2">
                <a:alphaModFix amt="0"/>
              </a:blip>
              <a:stretch>
                <a:fillRect l="0" t="-517442" r="-53040" b="-560639"/>
              </a:stretch>
            </a:blipFill>
          </p:spPr>
        </p:sp>
        <p:sp>
          <p:nvSpPr>
            <p:cNvPr name="TextBox 34" id="34"/>
            <p:cNvSpPr txBox="true"/>
            <p:nvPr/>
          </p:nvSpPr>
          <p:spPr>
            <a:xfrm>
              <a:off x="0" y="-47625"/>
              <a:ext cx="11352297" cy="622331"/>
            </a:xfrm>
            <a:prstGeom prst="rect">
              <a:avLst/>
            </a:prstGeom>
          </p:spPr>
          <p:txBody>
            <a:bodyPr anchor="ctr" rtlCol="false" tIns="0" lIns="0" bIns="0" rIns="0"/>
            <a:lstStyle/>
            <a:p>
              <a:pPr algn="l">
                <a:lnSpc>
                  <a:spcPts val="3060"/>
                </a:lnSpc>
              </a:pPr>
              <a:r>
                <a:rPr lang="en-US" sz="2550">
                  <a:solidFill>
                    <a:srgbClr val="FFFFFF"/>
                  </a:solidFill>
                  <a:latin typeface="Calibri"/>
                  <a:ea typeface="Calibri"/>
                  <a:cs typeface="Calibri"/>
                  <a:sym typeface="Calibri"/>
                </a:rPr>
                <a:t>resolved messages, a heartbeat, and tests in CI for every rule</a:t>
              </a:r>
            </a:p>
          </p:txBody>
        </p:sp>
      </p:grpSp>
      <p:grpSp>
        <p:nvGrpSpPr>
          <p:cNvPr name="Group 35" id="35"/>
          <p:cNvGrpSpPr>
            <a:grpSpLocks noChangeAspect="true"/>
          </p:cNvGrpSpPr>
          <p:nvPr/>
        </p:nvGrpSpPr>
        <p:grpSpPr>
          <a:xfrm rot="5400000">
            <a:off x="8583686" y="769601"/>
            <a:ext cx="1053624" cy="18354998"/>
            <a:chOff x="0" y="0"/>
            <a:chExt cx="1404832" cy="24473330"/>
          </a:xfrm>
        </p:grpSpPr>
        <p:sp>
          <p:nvSpPr>
            <p:cNvPr name="Freeform 36" id="36"/>
            <p:cNvSpPr/>
            <p:nvPr/>
          </p:nvSpPr>
          <p:spPr>
            <a:xfrm flipH="false" flipV="false" rot="0">
              <a:off x="0" y="0"/>
              <a:ext cx="1404874" cy="24473281"/>
            </a:xfrm>
            <a:custGeom>
              <a:avLst/>
              <a:gdLst/>
              <a:ahLst/>
              <a:cxnLst/>
              <a:rect r="r" b="b" t="t" l="l"/>
              <a:pathLst>
                <a:path h="24473281" w="1404874">
                  <a:moveTo>
                    <a:pt x="0" y="0"/>
                  </a:moveTo>
                  <a:lnTo>
                    <a:pt x="1404874" y="0"/>
                  </a:lnTo>
                  <a:lnTo>
                    <a:pt x="1404874" y="24473281"/>
                  </a:lnTo>
                  <a:lnTo>
                    <a:pt x="0" y="24473281"/>
                  </a:lnTo>
                  <a:lnTo>
                    <a:pt x="0" y="0"/>
                  </a:lnTo>
                  <a:close/>
                </a:path>
              </a:pathLst>
            </a:custGeom>
            <a:blipFill>
              <a:blip r:embed="rId6"/>
              <a:stretch>
                <a:fillRect l="0" t="0" r="-226630" b="0"/>
              </a:stretch>
            </a:blipFill>
          </p:spPr>
        </p:sp>
      </p:grpSp>
      <p:grpSp>
        <p:nvGrpSpPr>
          <p:cNvPr name="Group 37" id="37"/>
          <p:cNvGrpSpPr>
            <a:grpSpLocks noChangeAspect="true"/>
          </p:cNvGrpSpPr>
          <p:nvPr/>
        </p:nvGrpSpPr>
        <p:grpSpPr>
          <a:xfrm rot="5400000">
            <a:off x="11132594" y="2264880"/>
            <a:ext cx="311239" cy="13999572"/>
            <a:chOff x="0" y="0"/>
            <a:chExt cx="414986" cy="18666096"/>
          </a:xfrm>
        </p:grpSpPr>
        <p:sp>
          <p:nvSpPr>
            <p:cNvPr name="Freeform 38" id="38"/>
            <p:cNvSpPr/>
            <p:nvPr/>
          </p:nvSpPr>
          <p:spPr>
            <a:xfrm flipH="false" flipV="false" rot="0">
              <a:off x="0" y="0"/>
              <a:ext cx="415036" cy="18666079"/>
            </a:xfrm>
            <a:custGeom>
              <a:avLst/>
              <a:gdLst/>
              <a:ahLst/>
              <a:cxnLst/>
              <a:rect r="r" b="b" t="t" l="l"/>
              <a:pathLst>
                <a:path h="18666079" w="415036">
                  <a:moveTo>
                    <a:pt x="0" y="0"/>
                  </a:moveTo>
                  <a:lnTo>
                    <a:pt x="415036" y="0"/>
                  </a:lnTo>
                  <a:lnTo>
                    <a:pt x="415036" y="18666079"/>
                  </a:lnTo>
                  <a:lnTo>
                    <a:pt x="0" y="18666079"/>
                  </a:lnTo>
                  <a:lnTo>
                    <a:pt x="0" y="0"/>
                  </a:lnTo>
                  <a:close/>
                </a:path>
              </a:pathLst>
            </a:custGeom>
            <a:blipFill>
              <a:blip r:embed="rId7"/>
              <a:stretch>
                <a:fillRect l="0" t="0" r="-274183" b="0"/>
              </a:stretch>
            </a:blipFill>
          </p:spPr>
        </p:sp>
      </p:grpSp>
      <p:grpSp>
        <p:nvGrpSpPr>
          <p:cNvPr name="Group 39" id="39"/>
          <p:cNvGrpSpPr>
            <a:grpSpLocks noChangeAspect="true"/>
          </p:cNvGrpSpPr>
          <p:nvPr/>
        </p:nvGrpSpPr>
        <p:grpSpPr>
          <a:xfrm rot="0">
            <a:off x="16490259" y="140413"/>
            <a:ext cx="1616205" cy="888287"/>
            <a:chOff x="0" y="0"/>
            <a:chExt cx="2627014" cy="1443840"/>
          </a:xfrm>
        </p:grpSpPr>
        <p:sp>
          <p:nvSpPr>
            <p:cNvPr name="Freeform 40" id="40" descr="A close up of a sign  Description automatically generated"/>
            <p:cNvSpPr/>
            <p:nvPr/>
          </p:nvSpPr>
          <p:spPr>
            <a:xfrm flipH="false" flipV="false" rot="0">
              <a:off x="0" y="0"/>
              <a:ext cx="2626995" cy="1443863"/>
            </a:xfrm>
            <a:custGeom>
              <a:avLst/>
              <a:gdLst/>
              <a:ahLst/>
              <a:cxnLst/>
              <a:rect r="r" b="b" t="t" l="l"/>
              <a:pathLst>
                <a:path h="1443863" w="2626995">
                  <a:moveTo>
                    <a:pt x="0" y="0"/>
                  </a:moveTo>
                  <a:lnTo>
                    <a:pt x="2626995" y="0"/>
                  </a:lnTo>
                  <a:lnTo>
                    <a:pt x="2626995" y="1443863"/>
                  </a:lnTo>
                  <a:lnTo>
                    <a:pt x="0" y="1443863"/>
                  </a:lnTo>
                  <a:lnTo>
                    <a:pt x="0" y="0"/>
                  </a:lnTo>
                  <a:close/>
                </a:path>
              </a:pathLst>
            </a:custGeom>
            <a:blipFill>
              <a:blip r:embed="rId8"/>
              <a:stretch>
                <a:fillRect l="0" t="0" r="0" b="-35871"/>
              </a:stretch>
            </a:blipFill>
          </p:spPr>
        </p:sp>
      </p:grpSp>
      <p:sp>
        <p:nvSpPr>
          <p:cNvPr name="Freeform 41" id="41"/>
          <p:cNvSpPr/>
          <p:nvPr/>
        </p:nvSpPr>
        <p:spPr>
          <a:xfrm flipH="false" flipV="false" rot="0">
            <a:off x="218062" y="140413"/>
            <a:ext cx="3284221" cy="1211485"/>
          </a:xfrm>
          <a:custGeom>
            <a:avLst/>
            <a:gdLst/>
            <a:ahLst/>
            <a:cxnLst/>
            <a:rect r="r" b="b" t="t" l="l"/>
            <a:pathLst>
              <a:path h="1211485" w="3284221">
                <a:moveTo>
                  <a:pt x="0" y="0"/>
                </a:moveTo>
                <a:lnTo>
                  <a:pt x="3284221" y="0"/>
                </a:lnTo>
                <a:lnTo>
                  <a:pt x="3284221" y="1211486"/>
                </a:lnTo>
                <a:lnTo>
                  <a:pt x="0" y="1211486"/>
                </a:lnTo>
                <a:lnTo>
                  <a:pt x="0" y="0"/>
                </a:lnTo>
                <a:close/>
              </a:path>
            </a:pathLst>
          </a:custGeom>
          <a:blipFill>
            <a:blip r:embed="rId9"/>
            <a:stretch>
              <a:fillRect l="0" t="-47466" r="0" b="-24612"/>
            </a:stretch>
          </a:blipFill>
        </p:spPr>
      </p:sp>
      <p:sp>
        <p:nvSpPr>
          <p:cNvPr id="42" name="closing line"/>
          <p:cNvSpPr txBox="1"/>
          <p:nvPr/>
        </p:nvSpPr>
        <p:spPr>
          <a:xfrm>
            <a:off x="12070080" y="3931920"/>
            <a:ext cx="5394960" cy="2194560"/>
          </a:xfrm>
          <a:prstGeom prst="rect">
            <a:avLst/>
          </a:prstGeom>
          <a:noFill/>
        </p:spPr>
        <p:txBody>
          <a:bodyPr wrap="square" lIns="0" rIns="0" tIns="0" bIns="0">
            <a:spAutoFit/>
          </a:bodyPr>
          <a:lstStyle/>
          <a:p>
            <a:r>
              <a:rPr sz="5400" b="1" i="0">
                <a:solidFill>
                  <a:srgbClr val="FFFFFF"/>
                </a:solidFill>
                <a:latin typeface="Cambria"/>
              </a:rPr>
              <a:t>Thank you</a:t>
            </a:r>
          </a:p>
          <a:p>
            <a:r>
              <a:rPr sz="2600">
                <a:solidFill>
                  <a:srgbClr val="E6522C"/>
                </a:solidFill>
                <a:latin typeface="Calibri"/>
              </a:rPr>
              <a:t>Questions?</a:t>
            </a:r>
          </a:p>
          <a:p>
            <a:r>
              <a:rPr sz="2600">
                <a:solidFill>
                  <a:srgbClr val="E6522C"/>
                </a:solidFill>
                <a:latin typeface="Calibri"/>
              </a:rPr>
              <a:t>Then the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DAHXFdRtnAs</dc:identifier>
  <dcterms:modified xsi:type="dcterms:W3CDTF">2011-08-01T06:04:30Z</dcterms:modified>
  <cp:revision>1</cp:revision>
  <dc:title>DevOps IA2</dc:title>
</cp:coreProperties>
</file>